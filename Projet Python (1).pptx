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libri (MS) Bold" charset="1" panose="020F0702030404030204"/>
      <p:regular r:id="rId15"/>
    </p:embeddedFont>
    <p:embeddedFont>
      <p:font typeface="Calibri (MS)" charset="1" panose="020F0502020204030204"/>
      <p:regular r:id="rId16"/>
    </p:embeddedFont>
    <p:embeddedFont>
      <p:font typeface="Helvetica World" charset="1" panose="020B0500040000020004"/>
      <p:regular r:id="rId17"/>
    </p:embeddedFont>
    <p:embeddedFont>
      <p:font typeface="Telegraf Bold" charset="1" panose="00000800000000000000"/>
      <p:regular r:id="rId18"/>
    </p:embeddedFont>
    <p:embeddedFont>
      <p:font typeface="Muli Semi-Bold" charset="1" panose="000007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2B4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574043" cy="10312403"/>
            <a:chOff x="0" y="0"/>
            <a:chExt cx="765391" cy="13749871"/>
          </a:xfrm>
        </p:grpSpPr>
        <p:sp>
          <p:nvSpPr>
            <p:cNvPr name="Freeform 3" id="3"/>
            <p:cNvSpPr/>
            <p:nvPr/>
          </p:nvSpPr>
          <p:spPr>
            <a:xfrm flipH="false" flipV="false" rot="0">
              <a:off x="16891" y="16891"/>
              <a:ext cx="731520" cy="13715999"/>
            </a:xfrm>
            <a:custGeom>
              <a:avLst/>
              <a:gdLst/>
              <a:ahLst/>
              <a:cxnLst/>
              <a:rect r="r" b="b" t="t" l="l"/>
              <a:pathLst>
                <a:path h="13715999" w="731520">
                  <a:moveTo>
                    <a:pt x="0" y="0"/>
                  </a:moveTo>
                  <a:lnTo>
                    <a:pt x="731520" y="0"/>
                  </a:lnTo>
                  <a:lnTo>
                    <a:pt x="731520" y="13715999"/>
                  </a:lnTo>
                  <a:lnTo>
                    <a:pt x="0" y="13715999"/>
                  </a:lnTo>
                  <a:close/>
                </a:path>
              </a:pathLst>
            </a:custGeom>
            <a:solidFill>
              <a:srgbClr val="0D9488"/>
            </a:solidFill>
          </p:spPr>
        </p:sp>
        <p:sp>
          <p:nvSpPr>
            <p:cNvPr name="Freeform 4" id="4"/>
            <p:cNvSpPr/>
            <p:nvPr/>
          </p:nvSpPr>
          <p:spPr>
            <a:xfrm flipH="false" flipV="false" rot="0">
              <a:off x="0" y="0"/>
              <a:ext cx="765302" cy="13749782"/>
            </a:xfrm>
            <a:custGeom>
              <a:avLst/>
              <a:gdLst/>
              <a:ahLst/>
              <a:cxnLst/>
              <a:rect r="r" b="b" t="t" l="l"/>
              <a:pathLst>
                <a:path h="13749782" w="765302">
                  <a:moveTo>
                    <a:pt x="16891" y="0"/>
                  </a:moveTo>
                  <a:lnTo>
                    <a:pt x="748411" y="0"/>
                  </a:lnTo>
                  <a:cubicBezTo>
                    <a:pt x="757809" y="0"/>
                    <a:pt x="765302" y="7620"/>
                    <a:pt x="765302" y="16891"/>
                  </a:cubicBezTo>
                  <a:lnTo>
                    <a:pt x="765302" y="13732890"/>
                  </a:lnTo>
                  <a:cubicBezTo>
                    <a:pt x="765302" y="13742290"/>
                    <a:pt x="757682" y="13749782"/>
                    <a:pt x="748411"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748411" y="13716000"/>
                  </a:lnTo>
                  <a:lnTo>
                    <a:pt x="748411" y="13732890"/>
                  </a:lnTo>
                  <a:lnTo>
                    <a:pt x="731520" y="13732890"/>
                  </a:lnTo>
                  <a:lnTo>
                    <a:pt x="731520" y="16891"/>
                  </a:lnTo>
                  <a:lnTo>
                    <a:pt x="748411" y="16891"/>
                  </a:lnTo>
                  <a:lnTo>
                    <a:pt x="748411" y="33909"/>
                  </a:lnTo>
                  <a:lnTo>
                    <a:pt x="16891" y="33909"/>
                  </a:lnTo>
                  <a:close/>
                </a:path>
              </a:pathLst>
            </a:custGeom>
            <a:solidFill>
              <a:srgbClr val="0D9488"/>
            </a:solidFill>
          </p:spPr>
        </p:sp>
      </p:grpSp>
      <p:grpSp>
        <p:nvGrpSpPr>
          <p:cNvPr name="Group 5" id="5"/>
          <p:cNvGrpSpPr/>
          <p:nvPr/>
        </p:nvGrpSpPr>
        <p:grpSpPr>
          <a:xfrm rot="0">
            <a:off x="535943" y="-12697"/>
            <a:ext cx="171707" cy="10312403"/>
            <a:chOff x="0" y="0"/>
            <a:chExt cx="228943" cy="13749871"/>
          </a:xfrm>
        </p:grpSpPr>
        <p:sp>
          <p:nvSpPr>
            <p:cNvPr name="Freeform 6" id="6"/>
            <p:cNvSpPr/>
            <p:nvPr/>
          </p:nvSpPr>
          <p:spPr>
            <a:xfrm flipH="false" flipV="false" rot="0">
              <a:off x="16891" y="16891"/>
              <a:ext cx="195072" cy="13715999"/>
            </a:xfrm>
            <a:custGeom>
              <a:avLst/>
              <a:gdLst/>
              <a:ahLst/>
              <a:cxnLst/>
              <a:rect r="r" b="b" t="t" l="l"/>
              <a:pathLst>
                <a:path h="13715999" w="195072">
                  <a:moveTo>
                    <a:pt x="0" y="0"/>
                  </a:moveTo>
                  <a:lnTo>
                    <a:pt x="195072" y="0"/>
                  </a:lnTo>
                  <a:lnTo>
                    <a:pt x="195072" y="13715999"/>
                  </a:lnTo>
                  <a:lnTo>
                    <a:pt x="0" y="13715999"/>
                  </a:lnTo>
                  <a:close/>
                </a:path>
              </a:pathLst>
            </a:custGeom>
            <a:solidFill>
              <a:srgbClr val="14B8A6"/>
            </a:solidFill>
          </p:spPr>
        </p:sp>
        <p:sp>
          <p:nvSpPr>
            <p:cNvPr name="Freeform 7" id="7"/>
            <p:cNvSpPr/>
            <p:nvPr/>
          </p:nvSpPr>
          <p:spPr>
            <a:xfrm flipH="false" flipV="false" rot="0">
              <a:off x="0" y="0"/>
              <a:ext cx="228854" cy="13749782"/>
            </a:xfrm>
            <a:custGeom>
              <a:avLst/>
              <a:gdLst/>
              <a:ahLst/>
              <a:cxnLst/>
              <a:rect r="r" b="b" t="t" l="l"/>
              <a:pathLst>
                <a:path h="13749782" w="228854">
                  <a:moveTo>
                    <a:pt x="16891" y="0"/>
                  </a:moveTo>
                  <a:lnTo>
                    <a:pt x="211963" y="0"/>
                  </a:lnTo>
                  <a:cubicBezTo>
                    <a:pt x="221361" y="0"/>
                    <a:pt x="228854" y="7620"/>
                    <a:pt x="228854" y="16891"/>
                  </a:cubicBezTo>
                  <a:lnTo>
                    <a:pt x="228854" y="13732890"/>
                  </a:lnTo>
                  <a:cubicBezTo>
                    <a:pt x="228854" y="13742290"/>
                    <a:pt x="221234" y="13749782"/>
                    <a:pt x="211963"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211963" y="13716000"/>
                  </a:lnTo>
                  <a:lnTo>
                    <a:pt x="211963" y="13732890"/>
                  </a:lnTo>
                  <a:lnTo>
                    <a:pt x="195072" y="13732890"/>
                  </a:lnTo>
                  <a:lnTo>
                    <a:pt x="195072" y="16891"/>
                  </a:lnTo>
                  <a:lnTo>
                    <a:pt x="211963" y="16891"/>
                  </a:lnTo>
                  <a:lnTo>
                    <a:pt x="211963" y="33909"/>
                  </a:lnTo>
                  <a:lnTo>
                    <a:pt x="16891" y="33909"/>
                  </a:lnTo>
                  <a:close/>
                </a:path>
              </a:pathLst>
            </a:custGeom>
            <a:solidFill>
              <a:srgbClr val="14B8A6"/>
            </a:solidFill>
          </p:spPr>
        </p:sp>
      </p:grpSp>
      <p:grpSp>
        <p:nvGrpSpPr>
          <p:cNvPr name="Group 8" id="8"/>
          <p:cNvGrpSpPr/>
          <p:nvPr/>
        </p:nvGrpSpPr>
        <p:grpSpPr>
          <a:xfrm rot="0">
            <a:off x="1463040" y="2194560"/>
            <a:ext cx="15544800" cy="1828800"/>
            <a:chOff x="0" y="0"/>
            <a:chExt cx="20726400" cy="2438400"/>
          </a:xfrm>
        </p:grpSpPr>
        <p:sp>
          <p:nvSpPr>
            <p:cNvPr name="Freeform 9" id="9"/>
            <p:cNvSpPr/>
            <p:nvPr/>
          </p:nvSpPr>
          <p:spPr>
            <a:xfrm flipH="false" flipV="false" rot="0">
              <a:off x="0" y="0"/>
              <a:ext cx="20726400" cy="2438400"/>
            </a:xfrm>
            <a:custGeom>
              <a:avLst/>
              <a:gdLst/>
              <a:ahLst/>
              <a:cxnLst/>
              <a:rect r="r" b="b" t="t" l="l"/>
              <a:pathLst>
                <a:path h="2438400" w="20726400">
                  <a:moveTo>
                    <a:pt x="0" y="0"/>
                  </a:moveTo>
                  <a:lnTo>
                    <a:pt x="20726400" y="0"/>
                  </a:lnTo>
                  <a:lnTo>
                    <a:pt x="20726400" y="2438400"/>
                  </a:lnTo>
                  <a:lnTo>
                    <a:pt x="0" y="2438400"/>
                  </a:lnTo>
                  <a:close/>
                </a:path>
              </a:pathLst>
            </a:custGeom>
            <a:blipFill>
              <a:blip r:embed="rId2">
                <a:alphaModFix amt="0"/>
              </a:blip>
              <a:stretch>
                <a:fillRect l="0" t="-115622" r="0" b="-115622"/>
              </a:stretch>
            </a:blipFill>
          </p:spPr>
        </p:sp>
        <p:sp>
          <p:nvSpPr>
            <p:cNvPr name="TextBox 10" id="10"/>
            <p:cNvSpPr txBox="true"/>
            <p:nvPr/>
          </p:nvSpPr>
          <p:spPr>
            <a:xfrm>
              <a:off x="0" y="-161925"/>
              <a:ext cx="20726400" cy="260032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SondApp — Créer, Diffuser, Analyser</a:t>
              </a:r>
            </a:p>
          </p:txBody>
        </p:sp>
      </p:grpSp>
      <p:grpSp>
        <p:nvGrpSpPr>
          <p:cNvPr name="Group 11" id="11"/>
          <p:cNvGrpSpPr/>
          <p:nvPr/>
        </p:nvGrpSpPr>
        <p:grpSpPr>
          <a:xfrm rot="0">
            <a:off x="1463040" y="4023360"/>
            <a:ext cx="14630400" cy="914400"/>
            <a:chOff x="0" y="0"/>
            <a:chExt cx="19507200" cy="1219200"/>
          </a:xfrm>
        </p:grpSpPr>
        <p:sp>
          <p:nvSpPr>
            <p:cNvPr name="Freeform 12" id="12"/>
            <p:cNvSpPr/>
            <p:nvPr/>
          </p:nvSpPr>
          <p:spPr>
            <a:xfrm flipH="false" flipV="false" rot="0">
              <a:off x="0" y="0"/>
              <a:ext cx="19507200" cy="1219200"/>
            </a:xfrm>
            <a:custGeom>
              <a:avLst/>
              <a:gdLst/>
              <a:ahLst/>
              <a:cxnLst/>
              <a:rect r="r" b="b" t="t" l="l"/>
              <a:pathLst>
                <a:path h="1219200" w="19507200">
                  <a:moveTo>
                    <a:pt x="0" y="0"/>
                  </a:moveTo>
                  <a:lnTo>
                    <a:pt x="19507200" y="0"/>
                  </a:lnTo>
                  <a:lnTo>
                    <a:pt x="19507200" y="1219200"/>
                  </a:lnTo>
                  <a:lnTo>
                    <a:pt x="0" y="1219200"/>
                  </a:lnTo>
                  <a:close/>
                </a:path>
              </a:pathLst>
            </a:custGeom>
            <a:blipFill>
              <a:blip r:embed="rId2">
                <a:alphaModFix amt="0"/>
              </a:blip>
              <a:stretch>
                <a:fillRect l="0" t="-261760" r="0" b="-261760"/>
              </a:stretch>
            </a:blipFill>
          </p:spPr>
        </p:sp>
        <p:sp>
          <p:nvSpPr>
            <p:cNvPr name="TextBox 13" id="13"/>
            <p:cNvSpPr txBox="true"/>
            <p:nvPr/>
          </p:nvSpPr>
          <p:spPr>
            <a:xfrm>
              <a:off x="0" y="-66675"/>
              <a:ext cx="19507200" cy="1285875"/>
            </a:xfrm>
            <a:prstGeom prst="rect">
              <a:avLst/>
            </a:prstGeom>
          </p:spPr>
          <p:txBody>
            <a:bodyPr anchor="ctr" rtlCol="false" tIns="0" lIns="0" bIns="0" rIns="0"/>
            <a:lstStyle/>
            <a:p>
              <a:pPr algn="l">
                <a:lnSpc>
                  <a:spcPts val="4320"/>
                </a:lnSpc>
              </a:pPr>
              <a:r>
                <a:rPr lang="en-US" sz="3600">
                  <a:solidFill>
                    <a:srgbClr val="14B8A6"/>
                  </a:solidFill>
                  <a:latin typeface="Calibri (MS)"/>
                  <a:ea typeface="Calibri (MS)"/>
                  <a:cs typeface="Calibri (MS)"/>
                  <a:sym typeface="Calibri (MS)"/>
                </a:rPr>
                <a:t>Sondage en ligne avec Django</a:t>
              </a:r>
            </a:p>
          </p:txBody>
        </p:sp>
      </p:grpSp>
      <p:grpSp>
        <p:nvGrpSpPr>
          <p:cNvPr name="Group 14" id="14"/>
          <p:cNvGrpSpPr/>
          <p:nvPr/>
        </p:nvGrpSpPr>
        <p:grpSpPr>
          <a:xfrm rot="0">
            <a:off x="1450343" y="5107943"/>
            <a:ext cx="7340603" cy="116843"/>
            <a:chOff x="0" y="0"/>
            <a:chExt cx="9787471" cy="155791"/>
          </a:xfrm>
        </p:grpSpPr>
        <p:sp>
          <p:nvSpPr>
            <p:cNvPr name="Freeform 15" id="15"/>
            <p:cNvSpPr/>
            <p:nvPr/>
          </p:nvSpPr>
          <p:spPr>
            <a:xfrm flipH="false" flipV="false" rot="0">
              <a:off x="16891" y="16891"/>
              <a:ext cx="9753600" cy="121920"/>
            </a:xfrm>
            <a:custGeom>
              <a:avLst/>
              <a:gdLst/>
              <a:ahLst/>
              <a:cxnLst/>
              <a:rect r="r" b="b" t="t" l="l"/>
              <a:pathLst>
                <a:path h="121920" w="9753600">
                  <a:moveTo>
                    <a:pt x="0" y="0"/>
                  </a:moveTo>
                  <a:lnTo>
                    <a:pt x="9753600" y="0"/>
                  </a:lnTo>
                  <a:lnTo>
                    <a:pt x="9753600" y="121920"/>
                  </a:lnTo>
                  <a:lnTo>
                    <a:pt x="0" y="121920"/>
                  </a:lnTo>
                  <a:close/>
                </a:path>
              </a:pathLst>
            </a:custGeom>
            <a:solidFill>
              <a:srgbClr val="F59E0B"/>
            </a:solidFill>
          </p:spPr>
        </p:sp>
        <p:sp>
          <p:nvSpPr>
            <p:cNvPr name="Freeform 16" id="16"/>
            <p:cNvSpPr/>
            <p:nvPr/>
          </p:nvSpPr>
          <p:spPr>
            <a:xfrm flipH="false" flipV="false" rot="0">
              <a:off x="0" y="0"/>
              <a:ext cx="9787382" cy="155704"/>
            </a:xfrm>
            <a:custGeom>
              <a:avLst/>
              <a:gdLst/>
              <a:ahLst/>
              <a:cxnLst/>
              <a:rect r="r" b="b" t="t" l="l"/>
              <a:pathLst>
                <a:path h="155704" w="9787382">
                  <a:moveTo>
                    <a:pt x="16891" y="0"/>
                  </a:moveTo>
                  <a:lnTo>
                    <a:pt x="9770491" y="0"/>
                  </a:lnTo>
                  <a:cubicBezTo>
                    <a:pt x="9779889" y="0"/>
                    <a:pt x="9787382" y="7620"/>
                    <a:pt x="9787382" y="16891"/>
                  </a:cubicBezTo>
                  <a:lnTo>
                    <a:pt x="9787382" y="138811"/>
                  </a:lnTo>
                  <a:cubicBezTo>
                    <a:pt x="9787382" y="148209"/>
                    <a:pt x="9779762" y="155702"/>
                    <a:pt x="977049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9770491" y="121920"/>
                  </a:lnTo>
                  <a:lnTo>
                    <a:pt x="9770491" y="138811"/>
                  </a:lnTo>
                  <a:lnTo>
                    <a:pt x="9753600" y="138811"/>
                  </a:lnTo>
                  <a:lnTo>
                    <a:pt x="9753600" y="16891"/>
                  </a:lnTo>
                  <a:lnTo>
                    <a:pt x="9770491" y="16891"/>
                  </a:lnTo>
                  <a:lnTo>
                    <a:pt x="9770491" y="33909"/>
                  </a:lnTo>
                  <a:lnTo>
                    <a:pt x="16891" y="33909"/>
                  </a:lnTo>
                  <a:close/>
                </a:path>
              </a:pathLst>
            </a:custGeom>
            <a:solidFill>
              <a:srgbClr val="F59E0B"/>
            </a:solidFill>
          </p:spPr>
        </p:sp>
      </p:grpSp>
      <p:grpSp>
        <p:nvGrpSpPr>
          <p:cNvPr name="Group 17" id="17"/>
          <p:cNvGrpSpPr/>
          <p:nvPr/>
        </p:nvGrpSpPr>
        <p:grpSpPr>
          <a:xfrm rot="0">
            <a:off x="1475746" y="6225101"/>
            <a:ext cx="14630400" cy="1814438"/>
            <a:chOff x="0" y="0"/>
            <a:chExt cx="19507200" cy="2419251"/>
          </a:xfrm>
        </p:grpSpPr>
        <p:sp>
          <p:nvSpPr>
            <p:cNvPr name="Freeform 18" id="18"/>
            <p:cNvSpPr/>
            <p:nvPr/>
          </p:nvSpPr>
          <p:spPr>
            <a:xfrm flipH="false" flipV="false" rot="0">
              <a:off x="0" y="0"/>
              <a:ext cx="19507200" cy="2419251"/>
            </a:xfrm>
            <a:custGeom>
              <a:avLst/>
              <a:gdLst/>
              <a:ahLst/>
              <a:cxnLst/>
              <a:rect r="r" b="b" t="t" l="l"/>
              <a:pathLst>
                <a:path h="2419251" w="19507200">
                  <a:moveTo>
                    <a:pt x="0" y="0"/>
                  </a:moveTo>
                  <a:lnTo>
                    <a:pt x="19507200" y="0"/>
                  </a:lnTo>
                  <a:lnTo>
                    <a:pt x="19507200" y="2419251"/>
                  </a:lnTo>
                  <a:lnTo>
                    <a:pt x="0" y="2419251"/>
                  </a:lnTo>
                  <a:close/>
                </a:path>
              </a:pathLst>
            </a:custGeom>
            <a:blipFill>
              <a:blip r:embed="rId2">
                <a:alphaModFix amt="0"/>
              </a:blip>
              <a:stretch>
                <a:fillRect l="0" t="-111757" r="0" b="-102470"/>
              </a:stretch>
            </a:blipFill>
          </p:spPr>
        </p:sp>
        <p:sp>
          <p:nvSpPr>
            <p:cNvPr name="TextBox 19" id="19"/>
            <p:cNvSpPr txBox="true"/>
            <p:nvPr/>
          </p:nvSpPr>
          <p:spPr>
            <a:xfrm>
              <a:off x="0" y="-66675"/>
              <a:ext cx="19507200" cy="2485926"/>
            </a:xfrm>
            <a:prstGeom prst="rect">
              <a:avLst/>
            </a:prstGeom>
          </p:spPr>
          <p:txBody>
            <a:bodyPr anchor="ctr" rtlCol="false" tIns="0" lIns="0" bIns="0" rIns="0"/>
            <a:lstStyle/>
            <a:p>
              <a:pPr algn="l">
                <a:lnSpc>
                  <a:spcPts val="3359"/>
                </a:lnSpc>
              </a:pPr>
              <a:r>
                <a:rPr lang="en-US" sz="2799">
                  <a:solidFill>
                    <a:srgbClr val="AABBCC"/>
                  </a:solidFill>
                  <a:latin typeface="Calibri (MS)"/>
                  <a:ea typeface="Calibri (MS)"/>
                  <a:cs typeface="Calibri (MS)"/>
                  <a:sym typeface="Calibri (MS)"/>
                </a:rPr>
                <a:t>Réalisée par: </a:t>
              </a:r>
            </a:p>
            <a:p>
              <a:pPr algn="l">
                <a:lnSpc>
                  <a:spcPts val="3359"/>
                </a:lnSpc>
              </a:pPr>
              <a:r>
                <a:rPr lang="en-US" sz="2799">
                  <a:solidFill>
                    <a:srgbClr val="AABBCC"/>
                  </a:solidFill>
                  <a:latin typeface="Calibri (MS)"/>
                  <a:ea typeface="Calibri (MS)"/>
                  <a:cs typeface="Calibri (MS)"/>
                  <a:sym typeface="Calibri (MS)"/>
                </a:rPr>
                <a:t>          -Safa Hloul</a:t>
              </a:r>
            </a:p>
            <a:p>
              <a:pPr algn="l">
                <a:lnSpc>
                  <a:spcPts val="3359"/>
                </a:lnSpc>
              </a:pPr>
              <a:r>
                <a:rPr lang="en-US" sz="2799">
                  <a:solidFill>
                    <a:srgbClr val="AABBCC"/>
                  </a:solidFill>
                  <a:latin typeface="Calibri (MS)"/>
                  <a:ea typeface="Calibri (MS)"/>
                  <a:cs typeface="Calibri (MS)"/>
                  <a:sym typeface="Calibri (MS)"/>
                </a:rPr>
                <a:t>          -Ilhame Ed-dahouz</a:t>
              </a:r>
            </a:p>
            <a:p>
              <a:pPr algn="l">
                <a:lnSpc>
                  <a:spcPts val="3359"/>
                </a:lnSpc>
              </a:pPr>
              <a:r>
                <a:rPr lang="en-US" sz="2799">
                  <a:solidFill>
                    <a:srgbClr val="AABBCC"/>
                  </a:solidFill>
                  <a:latin typeface="Calibri (MS)"/>
                  <a:ea typeface="Calibri (MS)"/>
                  <a:cs typeface="Calibri (MS)"/>
                  <a:sym typeface="Calibri (MS)"/>
                </a:rPr>
                <a:t>          -Hanae Terfous</a:t>
              </a:r>
            </a:p>
          </p:txBody>
        </p:sp>
      </p:grpSp>
      <p:grpSp>
        <p:nvGrpSpPr>
          <p:cNvPr name="Group 20" id="20"/>
          <p:cNvGrpSpPr/>
          <p:nvPr/>
        </p:nvGrpSpPr>
        <p:grpSpPr>
          <a:xfrm rot="0">
            <a:off x="-12697" y="9817103"/>
            <a:ext cx="18313403" cy="482603"/>
            <a:chOff x="0" y="0"/>
            <a:chExt cx="24417871" cy="643471"/>
          </a:xfrm>
        </p:grpSpPr>
        <p:sp>
          <p:nvSpPr>
            <p:cNvPr name="Freeform 21" id="21"/>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22" id="22"/>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23" id="23"/>
          <p:cNvGrpSpPr/>
          <p:nvPr/>
        </p:nvGrpSpPr>
        <p:grpSpPr>
          <a:xfrm rot="0">
            <a:off x="548640" y="9829800"/>
            <a:ext cx="12801600" cy="457200"/>
            <a:chOff x="0" y="0"/>
            <a:chExt cx="17068800" cy="609600"/>
          </a:xfrm>
        </p:grpSpPr>
        <p:sp>
          <p:nvSpPr>
            <p:cNvPr name="Freeform 24" id="24"/>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25" id="25"/>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Python-Django</a:t>
              </a:r>
            </a:p>
          </p:txBody>
        </p:sp>
      </p:grpSp>
      <p:grpSp>
        <p:nvGrpSpPr>
          <p:cNvPr name="Group 26" id="26"/>
          <p:cNvGrpSpPr/>
          <p:nvPr/>
        </p:nvGrpSpPr>
        <p:grpSpPr>
          <a:xfrm rot="0">
            <a:off x="15544800" y="9829800"/>
            <a:ext cx="2194560" cy="457200"/>
            <a:chOff x="0" y="0"/>
            <a:chExt cx="2926080" cy="609600"/>
          </a:xfrm>
        </p:grpSpPr>
        <p:sp>
          <p:nvSpPr>
            <p:cNvPr name="Freeform 27" id="27"/>
            <p:cNvSpPr/>
            <p:nvPr/>
          </p:nvSpPr>
          <p:spPr>
            <a:xfrm flipH="false" flipV="false" rot="0">
              <a:off x="0" y="0"/>
              <a:ext cx="2926080" cy="609600"/>
            </a:xfrm>
            <a:custGeom>
              <a:avLst/>
              <a:gdLst/>
              <a:ahLst/>
              <a:cxnLst/>
              <a:rect r="r" b="b" t="t" l="l"/>
              <a:pathLst>
                <a:path h="609600" w="2926080">
                  <a:moveTo>
                    <a:pt x="0" y="0"/>
                  </a:moveTo>
                  <a:lnTo>
                    <a:pt x="2926080" y="0"/>
                  </a:lnTo>
                  <a:lnTo>
                    <a:pt x="2926080" y="609600"/>
                  </a:lnTo>
                  <a:lnTo>
                    <a:pt x="0" y="609600"/>
                  </a:lnTo>
                  <a:close/>
                </a:path>
              </a:pathLst>
            </a:custGeom>
            <a:blipFill>
              <a:blip r:embed="rId2">
                <a:alphaModFix amt="0"/>
              </a:blip>
              <a:stretch>
                <a:fillRect l="0" t="-43528" r="0" b="-43528"/>
              </a:stretch>
            </a:blipFill>
          </p:spPr>
        </p:sp>
        <p:sp>
          <p:nvSpPr>
            <p:cNvPr name="TextBox 28" id="28"/>
            <p:cNvSpPr txBox="true"/>
            <p:nvPr/>
          </p:nvSpPr>
          <p:spPr>
            <a:xfrm>
              <a:off x="0" y="-28575"/>
              <a:ext cx="2926080" cy="638175"/>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1 / 9</a:t>
              </a:r>
            </a:p>
          </p:txBody>
        </p:sp>
      </p:grpSp>
      <p:grpSp>
        <p:nvGrpSpPr>
          <p:cNvPr name="Group 29" id="29"/>
          <p:cNvGrpSpPr/>
          <p:nvPr/>
        </p:nvGrpSpPr>
        <p:grpSpPr>
          <a:xfrm rot="0">
            <a:off x="9944100" y="6097272"/>
            <a:ext cx="14630400" cy="1645920"/>
            <a:chOff x="0" y="0"/>
            <a:chExt cx="19507200" cy="2194560"/>
          </a:xfrm>
        </p:grpSpPr>
        <p:sp>
          <p:nvSpPr>
            <p:cNvPr name="Freeform 30" id="30"/>
            <p:cNvSpPr/>
            <p:nvPr/>
          </p:nvSpPr>
          <p:spPr>
            <a:xfrm flipH="false" flipV="false" rot="0">
              <a:off x="0" y="0"/>
              <a:ext cx="19507200" cy="2194560"/>
            </a:xfrm>
            <a:custGeom>
              <a:avLst/>
              <a:gdLst/>
              <a:ahLst/>
              <a:cxnLst/>
              <a:rect r="r" b="b" t="t" l="l"/>
              <a:pathLst>
                <a:path h="2194560" w="19507200">
                  <a:moveTo>
                    <a:pt x="0" y="0"/>
                  </a:moveTo>
                  <a:lnTo>
                    <a:pt x="19507200" y="0"/>
                  </a:lnTo>
                  <a:lnTo>
                    <a:pt x="19507200" y="2194560"/>
                  </a:lnTo>
                  <a:lnTo>
                    <a:pt x="0" y="2194560"/>
                  </a:lnTo>
                  <a:close/>
                </a:path>
              </a:pathLst>
            </a:custGeom>
            <a:blipFill>
              <a:blip r:embed="rId2">
                <a:alphaModFix amt="0"/>
              </a:blip>
              <a:stretch>
                <a:fillRect l="0" t="-123200" r="0" b="-123200"/>
              </a:stretch>
            </a:blipFill>
          </p:spPr>
        </p:sp>
        <p:sp>
          <p:nvSpPr>
            <p:cNvPr name="TextBox 31" id="31"/>
            <p:cNvSpPr txBox="true"/>
            <p:nvPr/>
          </p:nvSpPr>
          <p:spPr>
            <a:xfrm>
              <a:off x="0" y="-66675"/>
              <a:ext cx="19507200" cy="2261235"/>
            </a:xfrm>
            <a:prstGeom prst="rect">
              <a:avLst/>
            </a:prstGeom>
          </p:spPr>
          <p:txBody>
            <a:bodyPr anchor="ctr" rtlCol="false" tIns="0" lIns="0" bIns="0" rIns="0"/>
            <a:lstStyle/>
            <a:p>
              <a:pPr algn="l">
                <a:lnSpc>
                  <a:spcPts val="3359"/>
                </a:lnSpc>
              </a:pPr>
              <a:r>
                <a:rPr lang="en-US" sz="2799">
                  <a:solidFill>
                    <a:srgbClr val="AABBCC"/>
                  </a:solidFill>
                  <a:latin typeface="Calibri (MS)"/>
                  <a:ea typeface="Calibri (MS)"/>
                  <a:cs typeface="Calibri (MS)"/>
                  <a:sym typeface="Calibri (MS)"/>
                </a:rPr>
                <a:t>Tuteur:</a:t>
              </a:r>
            </a:p>
            <a:p>
              <a:pPr algn="l">
                <a:lnSpc>
                  <a:spcPts val="3359"/>
                </a:lnSpc>
              </a:pPr>
              <a:r>
                <a:rPr lang="en-US" sz="2799">
                  <a:solidFill>
                    <a:srgbClr val="AABBCC"/>
                  </a:solidFill>
                  <a:latin typeface="Calibri (MS)"/>
                  <a:ea typeface="Calibri (MS)"/>
                  <a:cs typeface="Calibri (MS)"/>
                  <a:sym typeface="Calibri (MS)"/>
                </a:rPr>
                <a:t>           -DR. Hamza Abouabid</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2B4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71707"/>
            <a:chOff x="0" y="0"/>
            <a:chExt cx="24417871" cy="228943"/>
          </a:xfrm>
        </p:grpSpPr>
        <p:sp>
          <p:nvSpPr>
            <p:cNvPr name="Freeform 3" id="3"/>
            <p:cNvSpPr/>
            <p:nvPr/>
          </p:nvSpPr>
          <p:spPr>
            <a:xfrm flipH="false" flipV="false" rot="0">
              <a:off x="16891" y="16891"/>
              <a:ext cx="24383999" cy="195072"/>
            </a:xfrm>
            <a:custGeom>
              <a:avLst/>
              <a:gdLst/>
              <a:ahLst/>
              <a:cxnLst/>
              <a:rect r="r" b="b" t="t" l="l"/>
              <a:pathLst>
                <a:path h="195072" w="24383999">
                  <a:moveTo>
                    <a:pt x="0" y="0"/>
                  </a:moveTo>
                  <a:lnTo>
                    <a:pt x="24383999" y="0"/>
                  </a:lnTo>
                  <a:lnTo>
                    <a:pt x="24383999" y="195072"/>
                  </a:lnTo>
                  <a:lnTo>
                    <a:pt x="0" y="195072"/>
                  </a:lnTo>
                  <a:close/>
                </a:path>
              </a:pathLst>
            </a:custGeom>
            <a:solidFill>
              <a:srgbClr val="0D9488"/>
            </a:solidFill>
          </p:spPr>
        </p:sp>
        <p:sp>
          <p:nvSpPr>
            <p:cNvPr name="Freeform 4" id="4"/>
            <p:cNvSpPr/>
            <p:nvPr/>
          </p:nvSpPr>
          <p:spPr>
            <a:xfrm flipH="false" flipV="false" rot="0">
              <a:off x="0" y="0"/>
              <a:ext cx="24417782" cy="228856"/>
            </a:xfrm>
            <a:custGeom>
              <a:avLst/>
              <a:gdLst/>
              <a:ahLst/>
              <a:cxnLst/>
              <a:rect r="r" b="b" t="t" l="l"/>
              <a:pathLst>
                <a:path h="228856" w="24417782">
                  <a:moveTo>
                    <a:pt x="16891" y="0"/>
                  </a:moveTo>
                  <a:lnTo>
                    <a:pt x="24400890" y="0"/>
                  </a:lnTo>
                  <a:cubicBezTo>
                    <a:pt x="24410290" y="0"/>
                    <a:pt x="24417782" y="7620"/>
                    <a:pt x="24417782" y="16891"/>
                  </a:cubicBezTo>
                  <a:lnTo>
                    <a:pt x="24417782" y="211963"/>
                  </a:lnTo>
                  <a:cubicBezTo>
                    <a:pt x="24417782" y="221361"/>
                    <a:pt x="24410163" y="228854"/>
                    <a:pt x="24400890"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4400890" y="195072"/>
                  </a:lnTo>
                  <a:lnTo>
                    <a:pt x="24400890" y="211963"/>
                  </a:lnTo>
                  <a:lnTo>
                    <a:pt x="24384000" y="211963"/>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12697" y="10127999"/>
            <a:ext cx="18313403" cy="171707"/>
            <a:chOff x="0" y="0"/>
            <a:chExt cx="24417871" cy="228943"/>
          </a:xfrm>
        </p:grpSpPr>
        <p:sp>
          <p:nvSpPr>
            <p:cNvPr name="Freeform 6" id="6"/>
            <p:cNvSpPr/>
            <p:nvPr/>
          </p:nvSpPr>
          <p:spPr>
            <a:xfrm flipH="false" flipV="false" rot="0">
              <a:off x="16891" y="16891"/>
              <a:ext cx="24383999" cy="195072"/>
            </a:xfrm>
            <a:custGeom>
              <a:avLst/>
              <a:gdLst/>
              <a:ahLst/>
              <a:cxnLst/>
              <a:rect r="r" b="b" t="t" l="l"/>
              <a:pathLst>
                <a:path h="195072" w="24383999">
                  <a:moveTo>
                    <a:pt x="0" y="0"/>
                  </a:moveTo>
                  <a:lnTo>
                    <a:pt x="24383999" y="0"/>
                  </a:lnTo>
                  <a:lnTo>
                    <a:pt x="24383999" y="195072"/>
                  </a:lnTo>
                  <a:lnTo>
                    <a:pt x="0" y="195072"/>
                  </a:lnTo>
                  <a:close/>
                </a:path>
              </a:pathLst>
            </a:custGeom>
            <a:solidFill>
              <a:srgbClr val="F59E0B"/>
            </a:solidFill>
          </p:spPr>
        </p:sp>
        <p:sp>
          <p:nvSpPr>
            <p:cNvPr name="Freeform 7" id="7"/>
            <p:cNvSpPr/>
            <p:nvPr/>
          </p:nvSpPr>
          <p:spPr>
            <a:xfrm flipH="false" flipV="false" rot="0">
              <a:off x="0" y="0"/>
              <a:ext cx="24417782" cy="228856"/>
            </a:xfrm>
            <a:custGeom>
              <a:avLst/>
              <a:gdLst/>
              <a:ahLst/>
              <a:cxnLst/>
              <a:rect r="r" b="b" t="t" l="l"/>
              <a:pathLst>
                <a:path h="228856" w="24417782">
                  <a:moveTo>
                    <a:pt x="16891" y="0"/>
                  </a:moveTo>
                  <a:lnTo>
                    <a:pt x="24400890" y="0"/>
                  </a:lnTo>
                  <a:cubicBezTo>
                    <a:pt x="24410290" y="0"/>
                    <a:pt x="24417782" y="7620"/>
                    <a:pt x="24417782" y="16891"/>
                  </a:cubicBezTo>
                  <a:lnTo>
                    <a:pt x="24417782" y="211963"/>
                  </a:lnTo>
                  <a:cubicBezTo>
                    <a:pt x="24417782" y="221361"/>
                    <a:pt x="24410163" y="228854"/>
                    <a:pt x="24400890"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4400890" y="195072"/>
                  </a:lnTo>
                  <a:lnTo>
                    <a:pt x="24400890" y="211963"/>
                  </a:lnTo>
                  <a:lnTo>
                    <a:pt x="24384000" y="211963"/>
                  </a:lnTo>
                  <a:lnTo>
                    <a:pt x="24384000" y="16891"/>
                  </a:lnTo>
                  <a:lnTo>
                    <a:pt x="24400890" y="16891"/>
                  </a:lnTo>
                  <a:lnTo>
                    <a:pt x="24400890" y="33909"/>
                  </a:lnTo>
                  <a:lnTo>
                    <a:pt x="16891" y="33909"/>
                  </a:lnTo>
                  <a:close/>
                </a:path>
              </a:pathLst>
            </a:custGeom>
            <a:solidFill>
              <a:srgbClr val="F59E0B"/>
            </a:solidFill>
          </p:spPr>
        </p:sp>
      </p:grpSp>
      <p:grpSp>
        <p:nvGrpSpPr>
          <p:cNvPr name="Group 8" id="8"/>
          <p:cNvGrpSpPr/>
          <p:nvPr/>
        </p:nvGrpSpPr>
        <p:grpSpPr>
          <a:xfrm rot="0">
            <a:off x="914400" y="640080"/>
            <a:ext cx="16459200" cy="1287066"/>
            <a:chOff x="0" y="0"/>
            <a:chExt cx="21945600" cy="1716087"/>
          </a:xfrm>
        </p:grpSpPr>
        <p:sp>
          <p:nvSpPr>
            <p:cNvPr name="Freeform 9" id="9"/>
            <p:cNvSpPr/>
            <p:nvPr/>
          </p:nvSpPr>
          <p:spPr>
            <a:xfrm flipH="false" flipV="false" rot="0">
              <a:off x="0" y="0"/>
              <a:ext cx="21945600" cy="1716088"/>
            </a:xfrm>
            <a:custGeom>
              <a:avLst/>
              <a:gdLst/>
              <a:ahLst/>
              <a:cxnLst/>
              <a:rect r="r" b="b" t="t" l="l"/>
              <a:pathLst>
                <a:path h="1716088" w="21945600">
                  <a:moveTo>
                    <a:pt x="0" y="0"/>
                  </a:moveTo>
                  <a:lnTo>
                    <a:pt x="21945600" y="0"/>
                  </a:lnTo>
                  <a:lnTo>
                    <a:pt x="21945600" y="1716088"/>
                  </a:lnTo>
                  <a:lnTo>
                    <a:pt x="0" y="1716088"/>
                  </a:lnTo>
                  <a:close/>
                </a:path>
              </a:pathLst>
            </a:custGeom>
            <a:blipFill>
              <a:blip r:embed="rId2">
                <a:alphaModFix amt="0"/>
              </a:blip>
              <a:stretch>
                <a:fillRect l="0" t="-199446" r="0" b="-198909"/>
              </a:stretch>
            </a:blipFill>
          </p:spPr>
        </p:sp>
        <p:sp>
          <p:nvSpPr>
            <p:cNvPr name="TextBox 10" id="10"/>
            <p:cNvSpPr txBox="true"/>
            <p:nvPr/>
          </p:nvSpPr>
          <p:spPr>
            <a:xfrm>
              <a:off x="0" y="-123825"/>
              <a:ext cx="21945600" cy="1839912"/>
            </a:xfrm>
            <a:prstGeom prst="rect">
              <a:avLst/>
            </a:prstGeom>
          </p:spPr>
          <p:txBody>
            <a:bodyPr anchor="ctr" rtlCol="false" tIns="0" lIns="0" bIns="0" rIns="0"/>
            <a:lstStyle/>
            <a:p>
              <a:pPr algn="ctr">
                <a:lnSpc>
                  <a:spcPts val="7680"/>
                </a:lnSpc>
              </a:pPr>
              <a:r>
                <a:rPr lang="en-US" sz="6400" b="true">
                  <a:solidFill>
                    <a:srgbClr val="FFFFFF"/>
                  </a:solidFill>
                  <a:latin typeface="Calibri (MS) Bold"/>
                  <a:ea typeface="Calibri (MS) Bold"/>
                  <a:cs typeface="Calibri (MS) Bold"/>
                  <a:sym typeface="Calibri (MS) Bold"/>
                </a:rPr>
                <a:t>Introduction</a:t>
              </a:r>
            </a:p>
          </p:txBody>
        </p:sp>
      </p:grpSp>
      <p:grpSp>
        <p:nvGrpSpPr>
          <p:cNvPr name="Group 11" id="11"/>
          <p:cNvGrpSpPr/>
          <p:nvPr/>
        </p:nvGrpSpPr>
        <p:grpSpPr>
          <a:xfrm rot="0">
            <a:off x="6388103" y="1907543"/>
            <a:ext cx="5511803" cy="116843"/>
            <a:chOff x="0" y="0"/>
            <a:chExt cx="7349071" cy="155791"/>
          </a:xfrm>
        </p:grpSpPr>
        <p:sp>
          <p:nvSpPr>
            <p:cNvPr name="Freeform 12" id="12"/>
            <p:cNvSpPr/>
            <p:nvPr/>
          </p:nvSpPr>
          <p:spPr>
            <a:xfrm flipH="false" flipV="false" rot="0">
              <a:off x="16891" y="16891"/>
              <a:ext cx="7315200" cy="121920"/>
            </a:xfrm>
            <a:custGeom>
              <a:avLst/>
              <a:gdLst/>
              <a:ahLst/>
              <a:cxnLst/>
              <a:rect r="r" b="b" t="t" l="l"/>
              <a:pathLst>
                <a:path h="121920" w="7315200">
                  <a:moveTo>
                    <a:pt x="0" y="0"/>
                  </a:moveTo>
                  <a:lnTo>
                    <a:pt x="7315200" y="0"/>
                  </a:lnTo>
                  <a:lnTo>
                    <a:pt x="7315200" y="121920"/>
                  </a:lnTo>
                  <a:lnTo>
                    <a:pt x="0" y="121920"/>
                  </a:lnTo>
                  <a:close/>
                </a:path>
              </a:pathLst>
            </a:custGeom>
            <a:solidFill>
              <a:srgbClr val="0D9488"/>
            </a:solidFill>
          </p:spPr>
        </p:sp>
        <p:sp>
          <p:nvSpPr>
            <p:cNvPr name="Freeform 13" id="13"/>
            <p:cNvSpPr/>
            <p:nvPr/>
          </p:nvSpPr>
          <p:spPr>
            <a:xfrm flipH="false" flipV="false" rot="0">
              <a:off x="0" y="0"/>
              <a:ext cx="7348982" cy="155704"/>
            </a:xfrm>
            <a:custGeom>
              <a:avLst/>
              <a:gdLst/>
              <a:ahLst/>
              <a:cxnLst/>
              <a:rect r="r" b="b" t="t" l="l"/>
              <a:pathLst>
                <a:path h="155704" w="7348982">
                  <a:moveTo>
                    <a:pt x="16891" y="0"/>
                  </a:moveTo>
                  <a:lnTo>
                    <a:pt x="7332091" y="0"/>
                  </a:lnTo>
                  <a:cubicBezTo>
                    <a:pt x="7341489" y="0"/>
                    <a:pt x="7348982" y="7620"/>
                    <a:pt x="7348982" y="16891"/>
                  </a:cubicBezTo>
                  <a:lnTo>
                    <a:pt x="7348982" y="138811"/>
                  </a:lnTo>
                  <a:cubicBezTo>
                    <a:pt x="7348982" y="148209"/>
                    <a:pt x="7341362" y="155702"/>
                    <a:pt x="733209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7332091" y="121920"/>
                  </a:lnTo>
                  <a:lnTo>
                    <a:pt x="7332091" y="138811"/>
                  </a:lnTo>
                  <a:lnTo>
                    <a:pt x="7315200" y="138811"/>
                  </a:lnTo>
                  <a:lnTo>
                    <a:pt x="7315200" y="16891"/>
                  </a:lnTo>
                  <a:lnTo>
                    <a:pt x="7332091" y="16891"/>
                  </a:lnTo>
                  <a:lnTo>
                    <a:pt x="7332091" y="33909"/>
                  </a:lnTo>
                  <a:lnTo>
                    <a:pt x="16891" y="33909"/>
                  </a:lnTo>
                  <a:close/>
                </a:path>
              </a:pathLst>
            </a:custGeom>
            <a:solidFill>
              <a:srgbClr val="0D9488"/>
            </a:solidFill>
          </p:spPr>
        </p:sp>
      </p:grpSp>
      <p:grpSp>
        <p:nvGrpSpPr>
          <p:cNvPr name="Group 14" id="14"/>
          <p:cNvGrpSpPr/>
          <p:nvPr/>
        </p:nvGrpSpPr>
        <p:grpSpPr>
          <a:xfrm rot="0">
            <a:off x="1405069" y="2765303"/>
            <a:ext cx="15477871" cy="6621780"/>
            <a:chOff x="0" y="0"/>
            <a:chExt cx="20637161" cy="8829040"/>
          </a:xfrm>
        </p:grpSpPr>
        <p:sp>
          <p:nvSpPr>
            <p:cNvPr name="Freeform 15" id="15"/>
            <p:cNvSpPr/>
            <p:nvPr/>
          </p:nvSpPr>
          <p:spPr>
            <a:xfrm flipH="false" flipV="false" rot="0">
              <a:off x="72360" y="25400"/>
              <a:ext cx="20492442" cy="8778240"/>
            </a:xfrm>
            <a:custGeom>
              <a:avLst/>
              <a:gdLst/>
              <a:ahLst/>
              <a:cxnLst/>
              <a:rect r="r" b="b" t="t" l="l"/>
              <a:pathLst>
                <a:path h="8778240" w="20492442">
                  <a:moveTo>
                    <a:pt x="0" y="0"/>
                  </a:moveTo>
                  <a:lnTo>
                    <a:pt x="20492442" y="0"/>
                  </a:lnTo>
                  <a:lnTo>
                    <a:pt x="20492442" y="8778240"/>
                  </a:lnTo>
                  <a:lnTo>
                    <a:pt x="0" y="8778240"/>
                  </a:lnTo>
                  <a:close/>
                </a:path>
              </a:pathLst>
            </a:custGeom>
            <a:solidFill>
              <a:srgbClr val="FFFFFF">
                <a:alpha val="1176"/>
              </a:srgbClr>
            </a:solidFill>
          </p:spPr>
        </p:sp>
        <p:sp>
          <p:nvSpPr>
            <p:cNvPr name="Freeform 16" id="16"/>
            <p:cNvSpPr/>
            <p:nvPr/>
          </p:nvSpPr>
          <p:spPr>
            <a:xfrm flipH="false" flipV="false" rot="0">
              <a:off x="0" y="0"/>
              <a:ext cx="20637162" cy="8829040"/>
            </a:xfrm>
            <a:custGeom>
              <a:avLst/>
              <a:gdLst/>
              <a:ahLst/>
              <a:cxnLst/>
              <a:rect r="r" b="b" t="t" l="l"/>
              <a:pathLst>
                <a:path h="8829040" w="20637162">
                  <a:moveTo>
                    <a:pt x="72360" y="0"/>
                  </a:moveTo>
                  <a:lnTo>
                    <a:pt x="20564802" y="0"/>
                  </a:lnTo>
                  <a:cubicBezTo>
                    <a:pt x="20604600" y="0"/>
                    <a:pt x="20637162" y="11430"/>
                    <a:pt x="20637162" y="25400"/>
                  </a:cubicBezTo>
                  <a:lnTo>
                    <a:pt x="20637162" y="8803640"/>
                  </a:lnTo>
                  <a:cubicBezTo>
                    <a:pt x="20637162" y="8817610"/>
                    <a:pt x="20604600" y="8829040"/>
                    <a:pt x="20564802" y="8829040"/>
                  </a:cubicBezTo>
                  <a:lnTo>
                    <a:pt x="72360" y="8829040"/>
                  </a:lnTo>
                  <a:cubicBezTo>
                    <a:pt x="32562" y="8829040"/>
                    <a:pt x="0" y="8817610"/>
                    <a:pt x="0" y="8803640"/>
                  </a:cubicBezTo>
                  <a:lnTo>
                    <a:pt x="0" y="25400"/>
                  </a:lnTo>
                  <a:cubicBezTo>
                    <a:pt x="0" y="11430"/>
                    <a:pt x="32562" y="0"/>
                    <a:pt x="72360" y="0"/>
                  </a:cubicBezTo>
                  <a:moveTo>
                    <a:pt x="72360" y="50800"/>
                  </a:moveTo>
                  <a:lnTo>
                    <a:pt x="72360" y="25400"/>
                  </a:lnTo>
                  <a:lnTo>
                    <a:pt x="144721" y="25400"/>
                  </a:lnTo>
                  <a:lnTo>
                    <a:pt x="144721" y="8803640"/>
                  </a:lnTo>
                  <a:lnTo>
                    <a:pt x="72360" y="8803640"/>
                  </a:lnTo>
                  <a:lnTo>
                    <a:pt x="72360" y="8778240"/>
                  </a:lnTo>
                  <a:lnTo>
                    <a:pt x="20564802" y="8778240"/>
                  </a:lnTo>
                  <a:lnTo>
                    <a:pt x="20564802" y="8803640"/>
                  </a:lnTo>
                  <a:lnTo>
                    <a:pt x="20492442" y="8803640"/>
                  </a:lnTo>
                  <a:lnTo>
                    <a:pt x="20492442" y="25400"/>
                  </a:lnTo>
                  <a:lnTo>
                    <a:pt x="20564802" y="25400"/>
                  </a:lnTo>
                  <a:lnTo>
                    <a:pt x="20564802" y="50800"/>
                  </a:lnTo>
                  <a:lnTo>
                    <a:pt x="72360" y="50800"/>
                  </a:lnTo>
                  <a:close/>
                </a:path>
              </a:pathLst>
            </a:custGeom>
            <a:solidFill>
              <a:srgbClr val="F59E0B"/>
            </a:solidFill>
          </p:spPr>
        </p:sp>
      </p:grpSp>
      <p:grpSp>
        <p:nvGrpSpPr>
          <p:cNvPr name="Group 17" id="17"/>
          <p:cNvGrpSpPr/>
          <p:nvPr/>
        </p:nvGrpSpPr>
        <p:grpSpPr>
          <a:xfrm rot="0">
            <a:off x="2292837" y="3347758"/>
            <a:ext cx="13788208" cy="5563757"/>
            <a:chOff x="0" y="0"/>
            <a:chExt cx="6540694" cy="2639272"/>
          </a:xfrm>
        </p:grpSpPr>
        <p:sp>
          <p:nvSpPr>
            <p:cNvPr name="Freeform 18" id="18"/>
            <p:cNvSpPr/>
            <p:nvPr/>
          </p:nvSpPr>
          <p:spPr>
            <a:xfrm flipH="false" flipV="false" rot="0">
              <a:off x="28971" y="339251"/>
              <a:ext cx="6482599" cy="1958984"/>
            </a:xfrm>
            <a:custGeom>
              <a:avLst/>
              <a:gdLst/>
              <a:ahLst/>
              <a:cxnLst/>
              <a:rect r="r" b="b" t="t" l="l"/>
              <a:pathLst>
                <a:path h="1958984" w="6482599">
                  <a:moveTo>
                    <a:pt x="0" y="0"/>
                  </a:moveTo>
                  <a:lnTo>
                    <a:pt x="6482600" y="0"/>
                  </a:lnTo>
                  <a:lnTo>
                    <a:pt x="6482600" y="1958984"/>
                  </a:lnTo>
                  <a:lnTo>
                    <a:pt x="0" y="1958984"/>
                  </a:lnTo>
                  <a:close/>
                </a:path>
              </a:pathLst>
            </a:custGeom>
            <a:solidFill>
              <a:srgbClr val="F59E0B"/>
            </a:solidFill>
          </p:spPr>
        </p:sp>
        <p:sp>
          <p:nvSpPr>
            <p:cNvPr name="Freeform 19" id="19"/>
            <p:cNvSpPr/>
            <p:nvPr/>
          </p:nvSpPr>
          <p:spPr>
            <a:xfrm flipH="false" flipV="false" rot="0">
              <a:off x="0" y="0"/>
              <a:ext cx="6540542" cy="2637503"/>
            </a:xfrm>
            <a:custGeom>
              <a:avLst/>
              <a:gdLst/>
              <a:ahLst/>
              <a:cxnLst/>
              <a:rect r="r" b="b" t="t" l="l"/>
              <a:pathLst>
                <a:path h="2637503" w="6540542">
                  <a:moveTo>
                    <a:pt x="28971" y="0"/>
                  </a:moveTo>
                  <a:lnTo>
                    <a:pt x="6511571" y="0"/>
                  </a:lnTo>
                  <a:cubicBezTo>
                    <a:pt x="6527690" y="0"/>
                    <a:pt x="6540542" y="153046"/>
                    <a:pt x="6540542" y="339251"/>
                  </a:cubicBezTo>
                  <a:lnTo>
                    <a:pt x="6540542" y="2298235"/>
                  </a:lnTo>
                  <a:cubicBezTo>
                    <a:pt x="6540542" y="2486992"/>
                    <a:pt x="6527472" y="2637487"/>
                    <a:pt x="6511571" y="2637487"/>
                  </a:cubicBezTo>
                  <a:lnTo>
                    <a:pt x="28971" y="2637487"/>
                  </a:lnTo>
                  <a:cubicBezTo>
                    <a:pt x="13070" y="2639310"/>
                    <a:pt x="0" y="2486992"/>
                    <a:pt x="0" y="2298235"/>
                  </a:cubicBezTo>
                  <a:lnTo>
                    <a:pt x="0" y="339251"/>
                  </a:lnTo>
                  <a:cubicBezTo>
                    <a:pt x="0" y="153046"/>
                    <a:pt x="13070" y="0"/>
                    <a:pt x="28971" y="0"/>
                  </a:cubicBezTo>
                  <a:moveTo>
                    <a:pt x="28971" y="681053"/>
                  </a:moveTo>
                  <a:lnTo>
                    <a:pt x="28971" y="339251"/>
                  </a:lnTo>
                  <a:lnTo>
                    <a:pt x="58160" y="339251"/>
                  </a:lnTo>
                  <a:lnTo>
                    <a:pt x="58160" y="2298235"/>
                  </a:lnTo>
                  <a:lnTo>
                    <a:pt x="28971" y="2298235"/>
                  </a:lnTo>
                  <a:lnTo>
                    <a:pt x="28971" y="1958984"/>
                  </a:lnTo>
                  <a:lnTo>
                    <a:pt x="6511571" y="1958984"/>
                  </a:lnTo>
                  <a:lnTo>
                    <a:pt x="6511571" y="2298235"/>
                  </a:lnTo>
                  <a:lnTo>
                    <a:pt x="6482599" y="2298235"/>
                  </a:lnTo>
                  <a:lnTo>
                    <a:pt x="6482599" y="339251"/>
                  </a:lnTo>
                  <a:lnTo>
                    <a:pt x="6511571" y="339251"/>
                  </a:lnTo>
                  <a:lnTo>
                    <a:pt x="6511571" y="681053"/>
                  </a:lnTo>
                  <a:lnTo>
                    <a:pt x="28971" y="681053"/>
                  </a:lnTo>
                  <a:close/>
                </a:path>
              </a:pathLst>
            </a:custGeom>
            <a:solidFill>
              <a:srgbClr val="F59E0B"/>
            </a:solidFill>
          </p:spPr>
        </p:sp>
      </p:grpSp>
      <p:grpSp>
        <p:nvGrpSpPr>
          <p:cNvPr name="Group 20" id="20"/>
          <p:cNvGrpSpPr/>
          <p:nvPr/>
        </p:nvGrpSpPr>
        <p:grpSpPr>
          <a:xfrm rot="0">
            <a:off x="-12697" y="9817103"/>
            <a:ext cx="18313403" cy="482603"/>
            <a:chOff x="0" y="0"/>
            <a:chExt cx="24417871" cy="643471"/>
          </a:xfrm>
        </p:grpSpPr>
        <p:sp>
          <p:nvSpPr>
            <p:cNvPr name="Freeform 21" id="21"/>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22" id="22"/>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23" id="23"/>
          <p:cNvGrpSpPr/>
          <p:nvPr/>
        </p:nvGrpSpPr>
        <p:grpSpPr>
          <a:xfrm rot="0">
            <a:off x="548640" y="9829800"/>
            <a:ext cx="12801600" cy="457200"/>
            <a:chOff x="0" y="0"/>
            <a:chExt cx="17068800" cy="609600"/>
          </a:xfrm>
        </p:grpSpPr>
        <p:sp>
          <p:nvSpPr>
            <p:cNvPr name="Freeform 24" id="24"/>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25" id="25"/>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Python-Django</a:t>
              </a:r>
            </a:p>
          </p:txBody>
        </p:sp>
      </p:grpSp>
      <p:grpSp>
        <p:nvGrpSpPr>
          <p:cNvPr name="Group 26" id="26"/>
          <p:cNvGrpSpPr/>
          <p:nvPr/>
        </p:nvGrpSpPr>
        <p:grpSpPr>
          <a:xfrm rot="0">
            <a:off x="15544800" y="9829800"/>
            <a:ext cx="2194560" cy="457200"/>
            <a:chOff x="0" y="0"/>
            <a:chExt cx="2926080" cy="609600"/>
          </a:xfrm>
        </p:grpSpPr>
        <p:sp>
          <p:nvSpPr>
            <p:cNvPr name="Freeform 27" id="27"/>
            <p:cNvSpPr/>
            <p:nvPr/>
          </p:nvSpPr>
          <p:spPr>
            <a:xfrm flipH="false" flipV="false" rot="0">
              <a:off x="0" y="0"/>
              <a:ext cx="2926080" cy="609600"/>
            </a:xfrm>
            <a:custGeom>
              <a:avLst/>
              <a:gdLst/>
              <a:ahLst/>
              <a:cxnLst/>
              <a:rect r="r" b="b" t="t" l="l"/>
              <a:pathLst>
                <a:path h="609600" w="2926080">
                  <a:moveTo>
                    <a:pt x="0" y="0"/>
                  </a:moveTo>
                  <a:lnTo>
                    <a:pt x="2926080" y="0"/>
                  </a:lnTo>
                  <a:lnTo>
                    <a:pt x="2926080" y="609600"/>
                  </a:lnTo>
                  <a:lnTo>
                    <a:pt x="0" y="609600"/>
                  </a:lnTo>
                  <a:close/>
                </a:path>
              </a:pathLst>
            </a:custGeom>
            <a:blipFill>
              <a:blip r:embed="rId2">
                <a:alphaModFix amt="0"/>
              </a:blip>
              <a:stretch>
                <a:fillRect l="0" t="-43528" r="0" b="-43528"/>
              </a:stretch>
            </a:blipFill>
          </p:spPr>
        </p:sp>
        <p:sp>
          <p:nvSpPr>
            <p:cNvPr name="TextBox 28" id="28"/>
            <p:cNvSpPr txBox="true"/>
            <p:nvPr/>
          </p:nvSpPr>
          <p:spPr>
            <a:xfrm>
              <a:off x="0" y="-28575"/>
              <a:ext cx="2926080" cy="638175"/>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1</a:t>
              </a:r>
              <a:r>
                <a:rPr lang="en-US" sz="1600">
                  <a:solidFill>
                    <a:srgbClr val="AABBCC"/>
                  </a:solidFill>
                  <a:latin typeface="Calibri (MS)"/>
                  <a:ea typeface="Calibri (MS)"/>
                  <a:cs typeface="Calibri (MS)"/>
                  <a:sym typeface="Calibri (MS)"/>
                </a:rPr>
                <a:t> / 8</a:t>
              </a:r>
            </a:p>
          </p:txBody>
        </p:sp>
      </p:grpSp>
      <p:sp>
        <p:nvSpPr>
          <p:cNvPr name="TextBox 29" id="29"/>
          <p:cNvSpPr txBox="true"/>
          <p:nvPr/>
        </p:nvSpPr>
        <p:spPr>
          <a:xfrm rot="0">
            <a:off x="3173027" y="3767461"/>
            <a:ext cx="12371773" cy="4581525"/>
          </a:xfrm>
          <a:prstGeom prst="rect">
            <a:avLst/>
          </a:prstGeom>
        </p:spPr>
        <p:txBody>
          <a:bodyPr anchor="t" rtlCol="false" tIns="0" lIns="0" bIns="0" rIns="0">
            <a:spAutoFit/>
          </a:bodyPr>
          <a:lstStyle/>
          <a:p>
            <a:pPr algn="l">
              <a:lnSpc>
                <a:spcPts val="3020"/>
              </a:lnSpc>
              <a:spcBef>
                <a:spcPct val="0"/>
              </a:spcBef>
            </a:pPr>
            <a:r>
              <a:rPr lang="en-US" sz="2516">
                <a:solidFill>
                  <a:srgbClr val="FFFFFF"/>
                </a:solidFill>
                <a:latin typeface="Helvetica World"/>
                <a:ea typeface="Helvetica World"/>
                <a:cs typeface="Helvetica World"/>
                <a:sym typeface="Helvetica World"/>
              </a:rPr>
              <a:t>   </a:t>
            </a:r>
            <a:r>
              <a:rPr lang="en-US" sz="2516">
                <a:solidFill>
                  <a:srgbClr val="FFFFFF"/>
                </a:solidFill>
                <a:latin typeface="Helvetica World"/>
                <a:ea typeface="Helvetica World"/>
                <a:cs typeface="Helvetica World"/>
                <a:sym typeface="Helvetica World"/>
              </a:rPr>
              <a:t>Dans un monde où la collecte d'opinions et de données est devenue un levier stratégique incontournable, les outils de sondage en ligne occupent une place centrale dans la prise de décision. Ce projet a pour ambition de concevoir et développer une application web complète permettant de créer, diffuser et analyser des sondages et questionnaires en ligne.</a:t>
            </a:r>
          </a:p>
          <a:p>
            <a:pPr algn="l">
              <a:lnSpc>
                <a:spcPts val="3020"/>
              </a:lnSpc>
              <a:spcBef>
                <a:spcPct val="0"/>
              </a:spcBef>
            </a:pPr>
            <a:r>
              <a:rPr lang="en-US" sz="2516">
                <a:solidFill>
                  <a:srgbClr val="FFFFFF"/>
                </a:solidFill>
                <a:latin typeface="Helvetica World"/>
                <a:ea typeface="Helvetica World"/>
                <a:cs typeface="Helvetica World"/>
                <a:sym typeface="Helvetica World"/>
              </a:rPr>
              <a:t>   Développée avec le framework Django selon le modèle MVT, cette application offrira une expérience fluide aussi bien aux créateurs de sondages qu'aux répondants, en alliant formulaires dynamiques, visualisation graphique des résultats et gestion avancée des données.</a:t>
            </a:r>
          </a:p>
          <a:p>
            <a:pPr algn="l">
              <a:lnSpc>
                <a:spcPts val="3020"/>
              </a:lnSpc>
              <a:spcBef>
                <a:spcPct val="0"/>
              </a:spcBef>
            </a:pPr>
            <a:r>
              <a:rPr lang="en-US" sz="2516">
                <a:solidFill>
                  <a:srgbClr val="FFFFFF"/>
                </a:solidFill>
                <a:latin typeface="Helvetica World"/>
                <a:ea typeface="Helvetica World"/>
                <a:cs typeface="Helvetica World"/>
                <a:sym typeface="Helvetica World"/>
              </a:rPr>
              <a:t>   À travers ce projet, nous visons non seulement à répondre à un besoin concret, mais également à consolider des compétences clés en développement web back-end, en gestion de bases de données et en conception d'interfaces utilisateur intuitives.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028700" y="952500"/>
            <a:ext cx="5003386" cy="1171575"/>
          </a:xfrm>
          <a:prstGeom prst="rect">
            <a:avLst/>
          </a:prstGeom>
        </p:spPr>
        <p:txBody>
          <a:bodyPr anchor="t" rtlCol="false" tIns="0" lIns="0" bIns="0" rIns="0">
            <a:spAutoFit/>
          </a:bodyPr>
          <a:lstStyle/>
          <a:p>
            <a:pPr algn="l">
              <a:lnSpc>
                <a:spcPts val="8640"/>
              </a:lnSpc>
            </a:pPr>
            <a:r>
              <a:rPr lang="en-US" sz="7200" b="true">
                <a:solidFill>
                  <a:srgbClr val="1B1B1B"/>
                </a:solidFill>
                <a:latin typeface="Telegraf Bold"/>
                <a:ea typeface="Telegraf Bold"/>
                <a:cs typeface="Telegraf Bold"/>
                <a:sym typeface="Telegraf Bold"/>
              </a:rPr>
              <a:t>Sommaire</a:t>
            </a:r>
          </a:p>
        </p:txBody>
      </p:sp>
      <p:sp>
        <p:nvSpPr>
          <p:cNvPr name="TextBox 3" id="3"/>
          <p:cNvSpPr txBox="true"/>
          <p:nvPr/>
        </p:nvSpPr>
        <p:spPr>
          <a:xfrm rot="0">
            <a:off x="10420479" y="2936562"/>
            <a:ext cx="6706653" cy="51435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Intérêts Pédagogiques &amp; Pratiques</a:t>
            </a:r>
          </a:p>
        </p:txBody>
      </p:sp>
      <p:sp>
        <p:nvSpPr>
          <p:cNvPr name="TextBox 4" id="4"/>
          <p:cNvSpPr txBox="true"/>
          <p:nvPr/>
        </p:nvSpPr>
        <p:spPr>
          <a:xfrm rot="0">
            <a:off x="10420479" y="4519489"/>
            <a:ext cx="6706653" cy="51435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Technologies adoptées</a:t>
            </a:r>
          </a:p>
        </p:txBody>
      </p:sp>
      <p:sp>
        <p:nvSpPr>
          <p:cNvPr name="TextBox 5" id="5"/>
          <p:cNvSpPr txBox="true"/>
          <p:nvPr/>
        </p:nvSpPr>
        <p:spPr>
          <a:xfrm rot="0">
            <a:off x="10420479" y="8256725"/>
            <a:ext cx="6706653" cy="51435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Conclusion</a:t>
            </a:r>
          </a:p>
        </p:txBody>
      </p:sp>
      <p:sp>
        <p:nvSpPr>
          <p:cNvPr name="TextBox 6" id="6"/>
          <p:cNvSpPr txBox="true"/>
          <p:nvPr/>
        </p:nvSpPr>
        <p:spPr>
          <a:xfrm rot="0">
            <a:off x="10552647" y="1290638"/>
            <a:ext cx="6706653" cy="51435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Introduction</a:t>
            </a:r>
          </a:p>
        </p:txBody>
      </p:sp>
      <p:sp>
        <p:nvSpPr>
          <p:cNvPr name="TextBox 7" id="7"/>
          <p:cNvSpPr txBox="true"/>
          <p:nvPr/>
        </p:nvSpPr>
        <p:spPr>
          <a:xfrm rot="0">
            <a:off x="10552647" y="6399423"/>
            <a:ext cx="6706653" cy="51435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Conception UML</a:t>
            </a:r>
          </a:p>
        </p:txBody>
      </p:sp>
      <p:grpSp>
        <p:nvGrpSpPr>
          <p:cNvPr name="Group 8" id="8"/>
          <p:cNvGrpSpPr/>
          <p:nvPr/>
        </p:nvGrpSpPr>
        <p:grpSpPr>
          <a:xfrm rot="0">
            <a:off x="8707629" y="6102498"/>
            <a:ext cx="1165350" cy="1165350"/>
            <a:chOff x="0" y="0"/>
            <a:chExt cx="1553800" cy="1553800"/>
          </a:xfrm>
        </p:grpSpPr>
        <p:grpSp>
          <p:nvGrpSpPr>
            <p:cNvPr name="Group 9" id="9"/>
            <p:cNvGrpSpPr/>
            <p:nvPr/>
          </p:nvGrpSpPr>
          <p:grpSpPr>
            <a:xfrm rot="0">
              <a:off x="0" y="0"/>
              <a:ext cx="1553800" cy="1553800"/>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293B"/>
              </a:solidFill>
            </p:spPr>
          </p:sp>
        </p:grpSp>
        <p:sp>
          <p:nvSpPr>
            <p:cNvPr name="Freeform 11" id="11"/>
            <p:cNvSpPr/>
            <p:nvPr/>
          </p:nvSpPr>
          <p:spPr>
            <a:xfrm flipH="false" flipV="false" rot="0">
              <a:off x="344143" y="344143"/>
              <a:ext cx="865513" cy="865513"/>
            </a:xfrm>
            <a:custGeom>
              <a:avLst/>
              <a:gdLst/>
              <a:ahLst/>
              <a:cxnLst/>
              <a:rect r="r" b="b" t="t" l="l"/>
              <a:pathLst>
                <a:path h="865513" w="865513">
                  <a:moveTo>
                    <a:pt x="0" y="0"/>
                  </a:moveTo>
                  <a:lnTo>
                    <a:pt x="865513" y="0"/>
                  </a:lnTo>
                  <a:lnTo>
                    <a:pt x="865513" y="865513"/>
                  </a:lnTo>
                  <a:lnTo>
                    <a:pt x="0" y="8655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2" id="12"/>
          <p:cNvGrpSpPr/>
          <p:nvPr/>
        </p:nvGrpSpPr>
        <p:grpSpPr>
          <a:xfrm rot="0">
            <a:off x="8707629" y="2639637"/>
            <a:ext cx="1165350" cy="1165350"/>
            <a:chOff x="0" y="0"/>
            <a:chExt cx="1553800" cy="1553800"/>
          </a:xfrm>
        </p:grpSpPr>
        <p:grpSp>
          <p:nvGrpSpPr>
            <p:cNvPr name="Group 13" id="13"/>
            <p:cNvGrpSpPr/>
            <p:nvPr/>
          </p:nvGrpSpPr>
          <p:grpSpPr>
            <a:xfrm rot="0">
              <a:off x="0" y="0"/>
              <a:ext cx="1553800" cy="1553800"/>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4B8A6"/>
              </a:solidFill>
            </p:spPr>
          </p:sp>
        </p:grpSp>
        <p:sp>
          <p:nvSpPr>
            <p:cNvPr name="Freeform 15" id="15"/>
            <p:cNvSpPr/>
            <p:nvPr/>
          </p:nvSpPr>
          <p:spPr>
            <a:xfrm flipH="false" flipV="false" rot="0">
              <a:off x="359038" y="355205"/>
              <a:ext cx="835723" cy="843390"/>
            </a:xfrm>
            <a:custGeom>
              <a:avLst/>
              <a:gdLst/>
              <a:ahLst/>
              <a:cxnLst/>
              <a:rect r="r" b="b" t="t" l="l"/>
              <a:pathLst>
                <a:path h="843390" w="835723">
                  <a:moveTo>
                    <a:pt x="0" y="0"/>
                  </a:moveTo>
                  <a:lnTo>
                    <a:pt x="835723" y="0"/>
                  </a:lnTo>
                  <a:lnTo>
                    <a:pt x="835723" y="843390"/>
                  </a:lnTo>
                  <a:lnTo>
                    <a:pt x="0" y="8433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6" id="16"/>
          <p:cNvGrpSpPr/>
          <p:nvPr/>
        </p:nvGrpSpPr>
        <p:grpSpPr>
          <a:xfrm rot="0">
            <a:off x="8707629" y="4222564"/>
            <a:ext cx="1165350" cy="1165350"/>
            <a:chOff x="0" y="0"/>
            <a:chExt cx="1553800" cy="1553800"/>
          </a:xfrm>
        </p:grpSpPr>
        <p:grpSp>
          <p:nvGrpSpPr>
            <p:cNvPr name="Group 17" id="17"/>
            <p:cNvGrpSpPr/>
            <p:nvPr/>
          </p:nvGrpSpPr>
          <p:grpSpPr>
            <a:xfrm rot="0">
              <a:off x="0" y="0"/>
              <a:ext cx="1553800" cy="1553800"/>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2B4A"/>
              </a:solidFill>
            </p:spPr>
          </p:sp>
        </p:grpSp>
        <p:sp>
          <p:nvSpPr>
            <p:cNvPr name="Freeform 19" id="19"/>
            <p:cNvSpPr/>
            <p:nvPr/>
          </p:nvSpPr>
          <p:spPr>
            <a:xfrm flipH="false" flipV="false" rot="0">
              <a:off x="416106" y="317556"/>
              <a:ext cx="721587" cy="918688"/>
            </a:xfrm>
            <a:custGeom>
              <a:avLst/>
              <a:gdLst/>
              <a:ahLst/>
              <a:cxnLst/>
              <a:rect r="r" b="b" t="t" l="l"/>
              <a:pathLst>
                <a:path h="918688" w="721587">
                  <a:moveTo>
                    <a:pt x="0" y="0"/>
                  </a:moveTo>
                  <a:lnTo>
                    <a:pt x="721588" y="0"/>
                  </a:lnTo>
                  <a:lnTo>
                    <a:pt x="721588" y="918688"/>
                  </a:lnTo>
                  <a:lnTo>
                    <a:pt x="0" y="918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20" id="20"/>
          <p:cNvGrpSpPr/>
          <p:nvPr/>
        </p:nvGrpSpPr>
        <p:grpSpPr>
          <a:xfrm rot="0">
            <a:off x="8707629" y="7959800"/>
            <a:ext cx="1165350" cy="1165350"/>
            <a:chOff x="0" y="0"/>
            <a:chExt cx="1553800" cy="1553800"/>
          </a:xfrm>
        </p:grpSpPr>
        <p:grpSp>
          <p:nvGrpSpPr>
            <p:cNvPr name="Group 21" id="21"/>
            <p:cNvGrpSpPr/>
            <p:nvPr/>
          </p:nvGrpSpPr>
          <p:grpSpPr>
            <a:xfrm rot="0">
              <a:off x="0" y="0"/>
              <a:ext cx="1553800" cy="1553800"/>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D9488"/>
              </a:solidFill>
            </p:spPr>
          </p:sp>
        </p:grpSp>
        <p:sp>
          <p:nvSpPr>
            <p:cNvPr name="Freeform 23" id="23"/>
            <p:cNvSpPr/>
            <p:nvPr/>
          </p:nvSpPr>
          <p:spPr>
            <a:xfrm flipH="false" flipV="false" rot="0">
              <a:off x="296086" y="332802"/>
              <a:ext cx="961629" cy="888195"/>
            </a:xfrm>
            <a:custGeom>
              <a:avLst/>
              <a:gdLst/>
              <a:ahLst/>
              <a:cxnLst/>
              <a:rect r="r" b="b" t="t" l="l"/>
              <a:pathLst>
                <a:path h="888195" w="961629">
                  <a:moveTo>
                    <a:pt x="0" y="0"/>
                  </a:moveTo>
                  <a:lnTo>
                    <a:pt x="961628" y="0"/>
                  </a:lnTo>
                  <a:lnTo>
                    <a:pt x="961628" y="888195"/>
                  </a:lnTo>
                  <a:lnTo>
                    <a:pt x="0" y="8881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24" id="24"/>
          <p:cNvGrpSpPr/>
          <p:nvPr/>
        </p:nvGrpSpPr>
        <p:grpSpPr>
          <a:xfrm rot="0">
            <a:off x="8707629" y="993713"/>
            <a:ext cx="1165350" cy="1165350"/>
            <a:chOff x="0" y="0"/>
            <a:chExt cx="1553800" cy="1553800"/>
          </a:xfrm>
        </p:grpSpPr>
        <p:grpSp>
          <p:nvGrpSpPr>
            <p:cNvPr name="Group 25" id="25"/>
            <p:cNvGrpSpPr/>
            <p:nvPr/>
          </p:nvGrpSpPr>
          <p:grpSpPr>
            <a:xfrm rot="0">
              <a:off x="0" y="0"/>
              <a:ext cx="1553800" cy="1553800"/>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59E0B"/>
              </a:solidFill>
            </p:spPr>
          </p:sp>
        </p:grpSp>
        <p:sp>
          <p:nvSpPr>
            <p:cNvPr name="Freeform 27" id="27"/>
            <p:cNvSpPr/>
            <p:nvPr/>
          </p:nvSpPr>
          <p:spPr>
            <a:xfrm flipH="false" flipV="false" rot="0">
              <a:off x="238309" y="238309"/>
              <a:ext cx="1077181" cy="1077181"/>
            </a:xfrm>
            <a:custGeom>
              <a:avLst/>
              <a:gdLst/>
              <a:ahLst/>
              <a:cxnLst/>
              <a:rect r="r" b="b" t="t" l="l"/>
              <a:pathLst>
                <a:path h="1077181" w="1077181">
                  <a:moveTo>
                    <a:pt x="0" y="0"/>
                  </a:moveTo>
                  <a:lnTo>
                    <a:pt x="1077181" y="0"/>
                  </a:lnTo>
                  <a:lnTo>
                    <a:pt x="1077181" y="1077181"/>
                  </a:lnTo>
                  <a:lnTo>
                    <a:pt x="0" y="10771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28" id="28"/>
          <p:cNvGrpSpPr/>
          <p:nvPr/>
        </p:nvGrpSpPr>
        <p:grpSpPr>
          <a:xfrm rot="0">
            <a:off x="-12697" y="9817103"/>
            <a:ext cx="18313403" cy="482603"/>
            <a:chOff x="0" y="0"/>
            <a:chExt cx="24417871" cy="643471"/>
          </a:xfrm>
        </p:grpSpPr>
        <p:sp>
          <p:nvSpPr>
            <p:cNvPr name="Freeform 29" id="29"/>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30" id="30"/>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sp>
        <p:nvSpPr>
          <p:cNvPr name="TextBox 31" id="31"/>
          <p:cNvSpPr txBox="true"/>
          <p:nvPr/>
        </p:nvSpPr>
        <p:spPr>
          <a:xfrm rot="0">
            <a:off x="1241888" y="9883463"/>
            <a:ext cx="3985260" cy="292734"/>
          </a:xfrm>
          <a:prstGeom prst="rect">
            <a:avLst/>
          </a:prstGeom>
        </p:spPr>
        <p:txBody>
          <a:bodyPr anchor="t" rtlCol="false" tIns="0" lIns="0" bIns="0" rIns="0">
            <a:spAutoFit/>
          </a:bodyPr>
          <a:lstStyle/>
          <a:p>
            <a:pPr algn="ctr">
              <a:lnSpc>
                <a:spcPts val="2240"/>
              </a:lnSpc>
              <a:spcBef>
                <a:spcPct val="0"/>
              </a:spcBef>
            </a:pPr>
            <a:r>
              <a:rPr lang="en-US" sz="1600">
                <a:solidFill>
                  <a:srgbClr val="AABBCC"/>
                </a:solidFill>
                <a:latin typeface="Calibri (MS)"/>
                <a:ea typeface="Calibri (MS)"/>
                <a:cs typeface="Calibri (MS)"/>
                <a:sym typeface="Calibri (MS)"/>
              </a:rPr>
              <a:t>Application de Sondage — Projet Python-Django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2B4A"/>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B4A"/>
            </a:solidFill>
          </p:spPr>
        </p:sp>
      </p:grpSp>
      <p:grpSp>
        <p:nvGrpSpPr>
          <p:cNvPr name="Group 5" id="5"/>
          <p:cNvGrpSpPr/>
          <p:nvPr/>
        </p:nvGrpSpPr>
        <p:grpSpPr>
          <a:xfrm rot="0">
            <a:off x="-12697" y="1358903"/>
            <a:ext cx="18313403" cy="135131"/>
            <a:chOff x="0" y="0"/>
            <a:chExt cx="24417871" cy="180175"/>
          </a:xfrm>
        </p:grpSpPr>
        <p:sp>
          <p:nvSpPr>
            <p:cNvPr name="Freeform 6" id="6"/>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0D9488"/>
            </a:solidFill>
          </p:spPr>
        </p:sp>
        <p:sp>
          <p:nvSpPr>
            <p:cNvPr name="Freeform 7" id="7"/>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0D9488"/>
            </a:solidFill>
          </p:spPr>
        </p:sp>
      </p:grpSp>
      <p:grpSp>
        <p:nvGrpSpPr>
          <p:cNvPr name="Group 8" id="8"/>
          <p:cNvGrpSpPr/>
          <p:nvPr/>
        </p:nvGrpSpPr>
        <p:grpSpPr>
          <a:xfrm rot="0">
            <a:off x="731520" y="0"/>
            <a:ext cx="14630400" cy="1371600"/>
            <a:chOff x="0" y="0"/>
            <a:chExt cx="19507200" cy="1828800"/>
          </a:xfrm>
        </p:grpSpPr>
        <p:sp>
          <p:nvSpPr>
            <p:cNvPr name="Freeform 9" id="9"/>
            <p:cNvSpPr/>
            <p:nvPr/>
          </p:nvSpPr>
          <p:spPr>
            <a:xfrm flipH="false" flipV="false" rot="0">
              <a:off x="0" y="0"/>
              <a:ext cx="19507200" cy="1828800"/>
            </a:xfrm>
            <a:custGeom>
              <a:avLst/>
              <a:gdLst/>
              <a:ahLst/>
              <a:cxnLst/>
              <a:rect r="r" b="b" t="t" l="l"/>
              <a:pathLst>
                <a:path h="1828800" w="19507200">
                  <a:moveTo>
                    <a:pt x="0" y="0"/>
                  </a:moveTo>
                  <a:lnTo>
                    <a:pt x="19507200" y="0"/>
                  </a:lnTo>
                  <a:lnTo>
                    <a:pt x="19507200" y="1828800"/>
                  </a:lnTo>
                  <a:lnTo>
                    <a:pt x="0" y="1828800"/>
                  </a:lnTo>
                  <a:close/>
                </a:path>
              </a:pathLst>
            </a:custGeom>
            <a:blipFill>
              <a:blip r:embed="rId2">
                <a:alphaModFix amt="0"/>
              </a:blip>
              <a:stretch>
                <a:fillRect l="0" t="-157840" r="0" b="-157840"/>
              </a:stretch>
            </a:blipFill>
          </p:spPr>
        </p:sp>
        <p:sp>
          <p:nvSpPr>
            <p:cNvPr name="TextBox 10" id="10"/>
            <p:cNvSpPr txBox="true"/>
            <p:nvPr/>
          </p:nvSpPr>
          <p:spPr>
            <a:xfrm>
              <a:off x="0" y="-76200"/>
              <a:ext cx="1950720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Intérêt du Projet</a:t>
              </a:r>
            </a:p>
          </p:txBody>
        </p:sp>
      </p:grpSp>
      <p:grpSp>
        <p:nvGrpSpPr>
          <p:cNvPr name="Group 11" id="11"/>
          <p:cNvGrpSpPr/>
          <p:nvPr/>
        </p:nvGrpSpPr>
        <p:grpSpPr>
          <a:xfrm rot="0">
            <a:off x="731520" y="1481328"/>
            <a:ext cx="16824960" cy="512064"/>
            <a:chOff x="0" y="0"/>
            <a:chExt cx="22433280" cy="682752"/>
          </a:xfrm>
        </p:grpSpPr>
        <p:sp>
          <p:nvSpPr>
            <p:cNvPr name="Freeform 12" id="12"/>
            <p:cNvSpPr/>
            <p:nvPr/>
          </p:nvSpPr>
          <p:spPr>
            <a:xfrm flipH="false" flipV="false" rot="0">
              <a:off x="0" y="0"/>
              <a:ext cx="22433280" cy="682752"/>
            </a:xfrm>
            <a:custGeom>
              <a:avLst/>
              <a:gdLst/>
              <a:ahLst/>
              <a:cxnLst/>
              <a:rect r="r" b="b" t="t" l="l"/>
              <a:pathLst>
                <a:path h="682752" w="22433280">
                  <a:moveTo>
                    <a:pt x="0" y="0"/>
                  </a:moveTo>
                  <a:lnTo>
                    <a:pt x="22433280" y="0"/>
                  </a:lnTo>
                  <a:lnTo>
                    <a:pt x="22433280" y="682752"/>
                  </a:lnTo>
                  <a:lnTo>
                    <a:pt x="0" y="682752"/>
                  </a:lnTo>
                  <a:close/>
                </a:path>
              </a:pathLst>
            </a:custGeom>
            <a:blipFill>
              <a:blip r:embed="rId2">
                <a:alphaModFix amt="0"/>
              </a:blip>
              <a:stretch>
                <a:fillRect l="0" t="-590222" r="0" b="-590222"/>
              </a:stretch>
            </a:blipFill>
          </p:spPr>
        </p:sp>
        <p:sp>
          <p:nvSpPr>
            <p:cNvPr name="TextBox 13" id="13"/>
            <p:cNvSpPr txBox="true"/>
            <p:nvPr/>
          </p:nvSpPr>
          <p:spPr>
            <a:xfrm>
              <a:off x="0" y="-47625"/>
              <a:ext cx="22433280" cy="730377"/>
            </a:xfrm>
            <a:prstGeom prst="rect">
              <a:avLst/>
            </a:prstGeom>
          </p:spPr>
          <p:txBody>
            <a:bodyPr anchor="ctr" rtlCol="false" tIns="0" lIns="0" bIns="0" rIns="0"/>
            <a:lstStyle/>
            <a:p>
              <a:pPr algn="l">
                <a:lnSpc>
                  <a:spcPts val="2640"/>
                </a:lnSpc>
              </a:pPr>
              <a:r>
                <a:rPr lang="en-US" sz="2200">
                  <a:solidFill>
                    <a:srgbClr val="0D9488"/>
                  </a:solidFill>
                  <a:latin typeface="Calibri (MS)"/>
                  <a:ea typeface="Calibri (MS)"/>
                  <a:cs typeface="Calibri (MS)"/>
                  <a:sym typeface="Calibri (MS)"/>
                </a:rPr>
                <a:t>Pourquoi développer cette application ?</a:t>
              </a:r>
            </a:p>
          </p:txBody>
        </p:sp>
      </p:grpSp>
      <p:grpSp>
        <p:nvGrpSpPr>
          <p:cNvPr name="Group 14" id="14"/>
          <p:cNvGrpSpPr/>
          <p:nvPr/>
        </p:nvGrpSpPr>
        <p:grpSpPr>
          <a:xfrm rot="0">
            <a:off x="-12697" y="9817103"/>
            <a:ext cx="18313403" cy="482603"/>
            <a:chOff x="0" y="0"/>
            <a:chExt cx="24417871" cy="643471"/>
          </a:xfrm>
        </p:grpSpPr>
        <p:sp>
          <p:nvSpPr>
            <p:cNvPr name="Freeform 15" id="15"/>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16" id="16"/>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17" id="17"/>
          <p:cNvGrpSpPr/>
          <p:nvPr/>
        </p:nvGrpSpPr>
        <p:grpSpPr>
          <a:xfrm rot="0">
            <a:off x="548640" y="9829800"/>
            <a:ext cx="12801600" cy="457200"/>
            <a:chOff x="0" y="0"/>
            <a:chExt cx="17068800" cy="609600"/>
          </a:xfrm>
        </p:grpSpPr>
        <p:sp>
          <p:nvSpPr>
            <p:cNvPr name="Freeform 18" id="18"/>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19" id="19"/>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Python-Django</a:t>
              </a:r>
            </a:p>
          </p:txBody>
        </p:sp>
      </p:grpSp>
      <p:grpSp>
        <p:nvGrpSpPr>
          <p:cNvPr name="Group 20" id="20"/>
          <p:cNvGrpSpPr/>
          <p:nvPr/>
        </p:nvGrpSpPr>
        <p:grpSpPr>
          <a:xfrm rot="0">
            <a:off x="15544800" y="9829800"/>
            <a:ext cx="2194560" cy="457200"/>
            <a:chOff x="0" y="0"/>
            <a:chExt cx="2926080" cy="609600"/>
          </a:xfrm>
        </p:grpSpPr>
        <p:sp>
          <p:nvSpPr>
            <p:cNvPr name="Freeform 21" id="21"/>
            <p:cNvSpPr/>
            <p:nvPr/>
          </p:nvSpPr>
          <p:spPr>
            <a:xfrm flipH="false" flipV="false" rot="0">
              <a:off x="0" y="0"/>
              <a:ext cx="2926080" cy="609600"/>
            </a:xfrm>
            <a:custGeom>
              <a:avLst/>
              <a:gdLst/>
              <a:ahLst/>
              <a:cxnLst/>
              <a:rect r="r" b="b" t="t" l="l"/>
              <a:pathLst>
                <a:path h="609600" w="2926080">
                  <a:moveTo>
                    <a:pt x="0" y="0"/>
                  </a:moveTo>
                  <a:lnTo>
                    <a:pt x="2926080" y="0"/>
                  </a:lnTo>
                  <a:lnTo>
                    <a:pt x="2926080" y="609600"/>
                  </a:lnTo>
                  <a:lnTo>
                    <a:pt x="0" y="609600"/>
                  </a:lnTo>
                  <a:close/>
                </a:path>
              </a:pathLst>
            </a:custGeom>
            <a:blipFill>
              <a:blip r:embed="rId2">
                <a:alphaModFix amt="0"/>
              </a:blip>
              <a:stretch>
                <a:fillRect l="0" t="-43528" r="0" b="-43528"/>
              </a:stretch>
            </a:blipFill>
          </p:spPr>
        </p:sp>
        <p:sp>
          <p:nvSpPr>
            <p:cNvPr name="TextBox 22" id="22"/>
            <p:cNvSpPr txBox="true"/>
            <p:nvPr/>
          </p:nvSpPr>
          <p:spPr>
            <a:xfrm>
              <a:off x="0" y="-28575"/>
              <a:ext cx="2926080" cy="638175"/>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3</a:t>
              </a:r>
              <a:r>
                <a:rPr lang="en-US" sz="1600">
                  <a:solidFill>
                    <a:srgbClr val="AABBCC"/>
                  </a:solidFill>
                  <a:latin typeface="Calibri (MS)"/>
                  <a:ea typeface="Calibri (MS)"/>
                  <a:cs typeface="Calibri (MS)"/>
                  <a:sym typeface="Calibri (MS)"/>
                </a:rPr>
                <a:t> / 8</a:t>
              </a:r>
            </a:p>
          </p:txBody>
        </p:sp>
      </p:grpSp>
      <p:grpSp>
        <p:nvGrpSpPr>
          <p:cNvPr name="Group 23" id="23"/>
          <p:cNvGrpSpPr/>
          <p:nvPr/>
        </p:nvGrpSpPr>
        <p:grpSpPr>
          <a:xfrm rot="0">
            <a:off x="535943" y="2090423"/>
            <a:ext cx="8255003" cy="7249163"/>
            <a:chOff x="0" y="0"/>
            <a:chExt cx="11006671" cy="9665551"/>
          </a:xfrm>
        </p:grpSpPr>
        <p:sp>
          <p:nvSpPr>
            <p:cNvPr name="Freeform 24" id="24"/>
            <p:cNvSpPr/>
            <p:nvPr/>
          </p:nvSpPr>
          <p:spPr>
            <a:xfrm flipH="false" flipV="false" rot="0">
              <a:off x="16891" y="16891"/>
              <a:ext cx="10972800" cy="9631681"/>
            </a:xfrm>
            <a:custGeom>
              <a:avLst/>
              <a:gdLst/>
              <a:ahLst/>
              <a:cxnLst/>
              <a:rect r="r" b="b" t="t" l="l"/>
              <a:pathLst>
                <a:path h="9631681" w="10972800">
                  <a:moveTo>
                    <a:pt x="0" y="0"/>
                  </a:moveTo>
                  <a:lnTo>
                    <a:pt x="10972800" y="0"/>
                  </a:lnTo>
                  <a:lnTo>
                    <a:pt x="10972800" y="9631681"/>
                  </a:lnTo>
                  <a:lnTo>
                    <a:pt x="0" y="9631681"/>
                  </a:lnTo>
                  <a:close/>
                </a:path>
              </a:pathLst>
            </a:custGeom>
            <a:solidFill>
              <a:srgbClr val="FFFFFF"/>
            </a:solidFill>
          </p:spPr>
        </p:sp>
        <p:sp>
          <p:nvSpPr>
            <p:cNvPr name="Freeform 25" id="25"/>
            <p:cNvSpPr/>
            <p:nvPr/>
          </p:nvSpPr>
          <p:spPr>
            <a:xfrm flipH="false" flipV="false" rot="0">
              <a:off x="0" y="0"/>
              <a:ext cx="11006582" cy="9665462"/>
            </a:xfrm>
            <a:custGeom>
              <a:avLst/>
              <a:gdLst/>
              <a:ahLst/>
              <a:cxnLst/>
              <a:rect r="r" b="b" t="t" l="l"/>
              <a:pathLst>
                <a:path h="9665462" w="11006582">
                  <a:moveTo>
                    <a:pt x="16891" y="0"/>
                  </a:moveTo>
                  <a:lnTo>
                    <a:pt x="10989691" y="0"/>
                  </a:lnTo>
                  <a:cubicBezTo>
                    <a:pt x="10999089" y="0"/>
                    <a:pt x="11006582" y="7620"/>
                    <a:pt x="11006582" y="16891"/>
                  </a:cubicBezTo>
                  <a:lnTo>
                    <a:pt x="11006582" y="9648572"/>
                  </a:lnTo>
                  <a:cubicBezTo>
                    <a:pt x="11006582" y="9657969"/>
                    <a:pt x="10998962" y="9665462"/>
                    <a:pt x="1098969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0989691" y="9631680"/>
                  </a:lnTo>
                  <a:lnTo>
                    <a:pt x="10989691" y="9648572"/>
                  </a:lnTo>
                  <a:lnTo>
                    <a:pt x="10972800" y="9648572"/>
                  </a:lnTo>
                  <a:lnTo>
                    <a:pt x="10972800" y="16891"/>
                  </a:lnTo>
                  <a:lnTo>
                    <a:pt x="10989691" y="16891"/>
                  </a:lnTo>
                  <a:lnTo>
                    <a:pt x="10989691" y="33909"/>
                  </a:lnTo>
                  <a:lnTo>
                    <a:pt x="16891" y="33909"/>
                  </a:lnTo>
                  <a:close/>
                </a:path>
              </a:pathLst>
            </a:custGeom>
            <a:solidFill>
              <a:srgbClr val="E2E8F0"/>
            </a:solidFill>
          </p:spPr>
        </p:sp>
      </p:grpSp>
      <p:grpSp>
        <p:nvGrpSpPr>
          <p:cNvPr name="Group 26" id="26"/>
          <p:cNvGrpSpPr/>
          <p:nvPr/>
        </p:nvGrpSpPr>
        <p:grpSpPr>
          <a:xfrm rot="0">
            <a:off x="535943" y="2090423"/>
            <a:ext cx="8255003" cy="720347"/>
            <a:chOff x="0" y="0"/>
            <a:chExt cx="11006671" cy="960463"/>
          </a:xfrm>
        </p:grpSpPr>
        <p:sp>
          <p:nvSpPr>
            <p:cNvPr name="Freeform 27" id="27"/>
            <p:cNvSpPr/>
            <p:nvPr/>
          </p:nvSpPr>
          <p:spPr>
            <a:xfrm flipH="false" flipV="false" rot="0">
              <a:off x="16891" y="16891"/>
              <a:ext cx="10972800" cy="926592"/>
            </a:xfrm>
            <a:custGeom>
              <a:avLst/>
              <a:gdLst/>
              <a:ahLst/>
              <a:cxnLst/>
              <a:rect r="r" b="b" t="t" l="l"/>
              <a:pathLst>
                <a:path h="926592" w="10972800">
                  <a:moveTo>
                    <a:pt x="0" y="0"/>
                  </a:moveTo>
                  <a:lnTo>
                    <a:pt x="10972800" y="0"/>
                  </a:lnTo>
                  <a:lnTo>
                    <a:pt x="10972800" y="926592"/>
                  </a:lnTo>
                  <a:lnTo>
                    <a:pt x="0" y="926592"/>
                  </a:lnTo>
                  <a:close/>
                </a:path>
              </a:pathLst>
            </a:custGeom>
            <a:solidFill>
              <a:srgbClr val="0D9488"/>
            </a:solidFill>
          </p:spPr>
        </p:sp>
        <p:sp>
          <p:nvSpPr>
            <p:cNvPr name="Freeform 28" id="28"/>
            <p:cNvSpPr/>
            <p:nvPr/>
          </p:nvSpPr>
          <p:spPr>
            <a:xfrm flipH="false" flipV="false" rot="0">
              <a:off x="0" y="0"/>
              <a:ext cx="11006582" cy="960376"/>
            </a:xfrm>
            <a:custGeom>
              <a:avLst/>
              <a:gdLst/>
              <a:ahLst/>
              <a:cxnLst/>
              <a:rect r="r" b="b" t="t" l="l"/>
              <a:pathLst>
                <a:path h="960376" w="11006582">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0D9488"/>
            </a:solidFill>
          </p:spPr>
        </p:sp>
      </p:grpSp>
      <p:grpSp>
        <p:nvGrpSpPr>
          <p:cNvPr name="Group 29" id="29"/>
          <p:cNvGrpSpPr/>
          <p:nvPr/>
        </p:nvGrpSpPr>
        <p:grpSpPr>
          <a:xfrm rot="0">
            <a:off x="640080" y="2103120"/>
            <a:ext cx="8046720" cy="694944"/>
            <a:chOff x="0" y="0"/>
            <a:chExt cx="10728960" cy="926592"/>
          </a:xfrm>
        </p:grpSpPr>
        <p:sp>
          <p:nvSpPr>
            <p:cNvPr name="Freeform 30" id="30"/>
            <p:cNvSpPr/>
            <p:nvPr/>
          </p:nvSpPr>
          <p:spPr>
            <a:xfrm flipH="false" flipV="false" rot="0">
              <a:off x="0" y="0"/>
              <a:ext cx="10728960" cy="926592"/>
            </a:xfrm>
            <a:custGeom>
              <a:avLst/>
              <a:gdLst/>
              <a:ahLst/>
              <a:cxnLst/>
              <a:rect r="r" b="b" t="t" l="l"/>
              <a:pathLst>
                <a:path h="926592" w="10728960">
                  <a:moveTo>
                    <a:pt x="0" y="0"/>
                  </a:moveTo>
                  <a:lnTo>
                    <a:pt x="10728960" y="0"/>
                  </a:lnTo>
                  <a:lnTo>
                    <a:pt x="10728960" y="926592"/>
                  </a:lnTo>
                  <a:lnTo>
                    <a:pt x="0" y="926592"/>
                  </a:lnTo>
                  <a:close/>
                </a:path>
              </a:pathLst>
            </a:custGeom>
            <a:blipFill>
              <a:blip r:embed="rId2">
                <a:alphaModFix amt="0"/>
              </a:blip>
              <a:stretch>
                <a:fillRect l="0" t="-175616" r="0" b="-175616"/>
              </a:stretch>
            </a:blipFill>
          </p:spPr>
        </p:sp>
        <p:sp>
          <p:nvSpPr>
            <p:cNvPr name="TextBox 31" id="31"/>
            <p:cNvSpPr txBox="true"/>
            <p:nvPr/>
          </p:nvSpPr>
          <p:spPr>
            <a:xfrm>
              <a:off x="0" y="-38100"/>
              <a:ext cx="10728960" cy="96469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  Intérêt Pédagogique</a:t>
              </a:r>
            </a:p>
          </p:txBody>
        </p:sp>
      </p:grpSp>
      <p:grpSp>
        <p:nvGrpSpPr>
          <p:cNvPr name="Group 32" id="32"/>
          <p:cNvGrpSpPr/>
          <p:nvPr/>
        </p:nvGrpSpPr>
        <p:grpSpPr>
          <a:xfrm rot="0">
            <a:off x="822960" y="2926080"/>
            <a:ext cx="7680960" cy="6035040"/>
            <a:chOff x="0" y="0"/>
            <a:chExt cx="10241280" cy="8046720"/>
          </a:xfrm>
        </p:grpSpPr>
        <p:sp>
          <p:nvSpPr>
            <p:cNvPr name="Freeform 33" id="33"/>
            <p:cNvSpPr/>
            <p:nvPr/>
          </p:nvSpPr>
          <p:spPr>
            <a:xfrm flipH="false" flipV="false" rot="0">
              <a:off x="0" y="0"/>
              <a:ext cx="10241280" cy="8046720"/>
            </a:xfrm>
            <a:custGeom>
              <a:avLst/>
              <a:gdLst/>
              <a:ahLst/>
              <a:cxnLst/>
              <a:rect r="r" b="b" t="t" l="l"/>
              <a:pathLst>
                <a:path h="8046720" w="10241280">
                  <a:moveTo>
                    <a:pt x="0" y="0"/>
                  </a:moveTo>
                  <a:lnTo>
                    <a:pt x="10241280" y="0"/>
                  </a:lnTo>
                  <a:lnTo>
                    <a:pt x="10241280" y="8046720"/>
                  </a:lnTo>
                  <a:lnTo>
                    <a:pt x="0" y="8046720"/>
                  </a:lnTo>
                  <a:close/>
                </a:path>
              </a:pathLst>
            </a:custGeom>
            <a:blipFill>
              <a:blip r:embed="rId2">
                <a:alphaModFix amt="0"/>
              </a:blip>
              <a:stretch>
                <a:fillRect l="-50809" t="0" r="-50809" b="0"/>
              </a:stretch>
            </a:blipFill>
          </p:spPr>
        </p:sp>
        <p:sp>
          <p:nvSpPr>
            <p:cNvPr name="TextBox 34" id="34"/>
            <p:cNvSpPr txBox="true"/>
            <p:nvPr/>
          </p:nvSpPr>
          <p:spPr>
            <a:xfrm>
              <a:off x="0" y="-47625"/>
              <a:ext cx="10241280" cy="8094345"/>
            </a:xfrm>
            <a:prstGeom prst="rect">
              <a:avLst/>
            </a:prstGeom>
          </p:spPr>
          <p:txBody>
            <a:bodyPr anchor="ctr" rtlCol="false" tIns="0" lIns="0" bIns="0" rIns="0"/>
            <a:lstStyle/>
            <a:p>
              <a:pPr algn="l" marL="554699" indent="-277349" lvl="1">
                <a:lnSpc>
                  <a:spcPts val="2760"/>
                </a:lnSpc>
                <a:buFont typeface="Arial"/>
                <a:buChar char="•"/>
              </a:pPr>
              <a:r>
                <a:rPr lang="en-US" sz="2300">
                  <a:solidFill>
                    <a:srgbClr val="1E293B"/>
                  </a:solidFill>
                  <a:latin typeface="Calibri (MS)"/>
                  <a:ea typeface="Calibri (MS)"/>
                  <a:cs typeface="Calibri (MS)"/>
                  <a:sym typeface="Calibri (MS)"/>
                </a:rPr>
                <a:t>Architecture MVT via Django</a:t>
              </a:r>
            </a:p>
            <a:p>
              <a:pPr algn="l" marL="554699" indent="-277349" lvl="1">
                <a:lnSpc>
                  <a:spcPts val="2760"/>
                </a:lnSpc>
                <a:buFont typeface="Arial"/>
                <a:buChar char="•"/>
              </a:pPr>
              <a:r>
                <a:rPr lang="en-US" sz="2300">
                  <a:solidFill>
                    <a:srgbClr val="1E293B"/>
                  </a:solidFill>
                  <a:latin typeface="Calibri (MS)"/>
                  <a:ea typeface="Calibri (MS)"/>
                  <a:cs typeface="Calibri (MS)"/>
                  <a:sym typeface="Calibri (MS)"/>
                </a:rPr>
                <a:t>Développement web complet (Full Stack)</a:t>
              </a:r>
            </a:p>
            <a:p>
              <a:pPr algn="l">
                <a:lnSpc>
                  <a:spcPts val="2760"/>
                </a:lnSpc>
              </a:pPr>
              <a:r>
                <a:rPr lang="en-US" sz="2300">
                  <a:solidFill>
                    <a:srgbClr val="1E293B"/>
                  </a:solidFill>
                  <a:latin typeface="Calibri (MS)"/>
                  <a:ea typeface="Calibri (MS)"/>
                  <a:cs typeface="Calibri (MS)"/>
                  <a:sym typeface="Calibri (MS)"/>
                </a:rPr>
                <a:t>                - Backend (Python/Django)</a:t>
              </a:r>
            </a:p>
            <a:p>
              <a:pPr algn="l">
                <a:lnSpc>
                  <a:spcPts val="2760"/>
                </a:lnSpc>
              </a:pPr>
              <a:r>
                <a:rPr lang="en-US" sz="2300">
                  <a:solidFill>
                    <a:srgbClr val="1E293B"/>
                  </a:solidFill>
                  <a:latin typeface="Calibri (MS)"/>
                  <a:ea typeface="Calibri (MS)"/>
                  <a:cs typeface="Calibri (MS)"/>
                  <a:sym typeface="Calibri (MS)"/>
                </a:rPr>
                <a:t>                - Frontend (HTML,CSS,JavaScript)</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Gestion des bases de données relationnelles</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Authentification et sécurité des utilisateurs</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Formulaires dynamiques et validation</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Visualisation graphique avec Chart.js</a:t>
              </a:r>
            </a:p>
          </p:txBody>
        </p:sp>
      </p:grpSp>
      <p:grpSp>
        <p:nvGrpSpPr>
          <p:cNvPr name="Group 35" id="35"/>
          <p:cNvGrpSpPr/>
          <p:nvPr/>
        </p:nvGrpSpPr>
        <p:grpSpPr>
          <a:xfrm rot="0">
            <a:off x="9314183" y="2090423"/>
            <a:ext cx="8255003" cy="7249163"/>
            <a:chOff x="0" y="0"/>
            <a:chExt cx="11006671" cy="9665551"/>
          </a:xfrm>
        </p:grpSpPr>
        <p:sp>
          <p:nvSpPr>
            <p:cNvPr name="Freeform 36" id="36"/>
            <p:cNvSpPr/>
            <p:nvPr/>
          </p:nvSpPr>
          <p:spPr>
            <a:xfrm flipH="false" flipV="false" rot="0">
              <a:off x="16891" y="16891"/>
              <a:ext cx="10972800" cy="9631681"/>
            </a:xfrm>
            <a:custGeom>
              <a:avLst/>
              <a:gdLst/>
              <a:ahLst/>
              <a:cxnLst/>
              <a:rect r="r" b="b" t="t" l="l"/>
              <a:pathLst>
                <a:path h="9631681" w="10972800">
                  <a:moveTo>
                    <a:pt x="0" y="0"/>
                  </a:moveTo>
                  <a:lnTo>
                    <a:pt x="10972800" y="0"/>
                  </a:lnTo>
                  <a:lnTo>
                    <a:pt x="10972800" y="9631681"/>
                  </a:lnTo>
                  <a:lnTo>
                    <a:pt x="0" y="9631681"/>
                  </a:lnTo>
                  <a:close/>
                </a:path>
              </a:pathLst>
            </a:custGeom>
            <a:solidFill>
              <a:srgbClr val="FFFFFF"/>
            </a:solidFill>
          </p:spPr>
        </p:sp>
        <p:sp>
          <p:nvSpPr>
            <p:cNvPr name="Freeform 37" id="37"/>
            <p:cNvSpPr/>
            <p:nvPr/>
          </p:nvSpPr>
          <p:spPr>
            <a:xfrm flipH="false" flipV="false" rot="0">
              <a:off x="0" y="0"/>
              <a:ext cx="11006582" cy="9665462"/>
            </a:xfrm>
            <a:custGeom>
              <a:avLst/>
              <a:gdLst/>
              <a:ahLst/>
              <a:cxnLst/>
              <a:rect r="r" b="b" t="t" l="l"/>
              <a:pathLst>
                <a:path h="9665462" w="11006582">
                  <a:moveTo>
                    <a:pt x="16891" y="0"/>
                  </a:moveTo>
                  <a:lnTo>
                    <a:pt x="10989691" y="0"/>
                  </a:lnTo>
                  <a:cubicBezTo>
                    <a:pt x="10999089" y="0"/>
                    <a:pt x="11006582" y="7620"/>
                    <a:pt x="11006582" y="16891"/>
                  </a:cubicBezTo>
                  <a:lnTo>
                    <a:pt x="11006582" y="9648572"/>
                  </a:lnTo>
                  <a:cubicBezTo>
                    <a:pt x="11006582" y="9657969"/>
                    <a:pt x="10998962" y="9665462"/>
                    <a:pt x="10989691" y="9665462"/>
                  </a:cubicBezTo>
                  <a:lnTo>
                    <a:pt x="16891" y="9665462"/>
                  </a:lnTo>
                  <a:cubicBezTo>
                    <a:pt x="7493" y="9665462"/>
                    <a:pt x="0" y="9657842"/>
                    <a:pt x="0" y="9648572"/>
                  </a:cubicBezTo>
                  <a:lnTo>
                    <a:pt x="0" y="16891"/>
                  </a:lnTo>
                  <a:cubicBezTo>
                    <a:pt x="0" y="7620"/>
                    <a:pt x="7620" y="0"/>
                    <a:pt x="16891" y="0"/>
                  </a:cubicBezTo>
                  <a:moveTo>
                    <a:pt x="16891" y="33909"/>
                  </a:moveTo>
                  <a:lnTo>
                    <a:pt x="16891" y="16891"/>
                  </a:lnTo>
                  <a:lnTo>
                    <a:pt x="33909" y="16891"/>
                  </a:lnTo>
                  <a:lnTo>
                    <a:pt x="33909" y="9648572"/>
                  </a:lnTo>
                  <a:lnTo>
                    <a:pt x="16891" y="9648572"/>
                  </a:lnTo>
                  <a:lnTo>
                    <a:pt x="16891" y="9631680"/>
                  </a:lnTo>
                  <a:lnTo>
                    <a:pt x="10989691" y="9631680"/>
                  </a:lnTo>
                  <a:lnTo>
                    <a:pt x="10989691" y="9648572"/>
                  </a:lnTo>
                  <a:lnTo>
                    <a:pt x="10972800" y="9648572"/>
                  </a:lnTo>
                  <a:lnTo>
                    <a:pt x="10972800" y="16891"/>
                  </a:lnTo>
                  <a:lnTo>
                    <a:pt x="10989691" y="16891"/>
                  </a:lnTo>
                  <a:lnTo>
                    <a:pt x="10989691" y="33909"/>
                  </a:lnTo>
                  <a:lnTo>
                    <a:pt x="16891" y="33909"/>
                  </a:lnTo>
                  <a:close/>
                </a:path>
              </a:pathLst>
            </a:custGeom>
            <a:solidFill>
              <a:srgbClr val="E2E8F0"/>
            </a:solidFill>
          </p:spPr>
        </p:sp>
      </p:grpSp>
      <p:grpSp>
        <p:nvGrpSpPr>
          <p:cNvPr name="Group 38" id="38"/>
          <p:cNvGrpSpPr/>
          <p:nvPr/>
        </p:nvGrpSpPr>
        <p:grpSpPr>
          <a:xfrm rot="0">
            <a:off x="9314183" y="2090423"/>
            <a:ext cx="8255003" cy="720347"/>
            <a:chOff x="0" y="0"/>
            <a:chExt cx="11006671" cy="960463"/>
          </a:xfrm>
        </p:grpSpPr>
        <p:sp>
          <p:nvSpPr>
            <p:cNvPr name="Freeform 39" id="39"/>
            <p:cNvSpPr/>
            <p:nvPr/>
          </p:nvSpPr>
          <p:spPr>
            <a:xfrm flipH="false" flipV="false" rot="0">
              <a:off x="16891" y="16891"/>
              <a:ext cx="10972800" cy="926592"/>
            </a:xfrm>
            <a:custGeom>
              <a:avLst/>
              <a:gdLst/>
              <a:ahLst/>
              <a:cxnLst/>
              <a:rect r="r" b="b" t="t" l="l"/>
              <a:pathLst>
                <a:path h="926592" w="10972800">
                  <a:moveTo>
                    <a:pt x="0" y="0"/>
                  </a:moveTo>
                  <a:lnTo>
                    <a:pt x="10972800" y="0"/>
                  </a:lnTo>
                  <a:lnTo>
                    <a:pt x="10972800" y="926592"/>
                  </a:lnTo>
                  <a:lnTo>
                    <a:pt x="0" y="926592"/>
                  </a:lnTo>
                  <a:close/>
                </a:path>
              </a:pathLst>
            </a:custGeom>
            <a:solidFill>
              <a:srgbClr val="1A2B4A"/>
            </a:solidFill>
          </p:spPr>
        </p:sp>
        <p:sp>
          <p:nvSpPr>
            <p:cNvPr name="Freeform 40" id="40"/>
            <p:cNvSpPr/>
            <p:nvPr/>
          </p:nvSpPr>
          <p:spPr>
            <a:xfrm flipH="false" flipV="false" rot="0">
              <a:off x="0" y="0"/>
              <a:ext cx="11006582" cy="960376"/>
            </a:xfrm>
            <a:custGeom>
              <a:avLst/>
              <a:gdLst/>
              <a:ahLst/>
              <a:cxnLst/>
              <a:rect r="r" b="b" t="t" l="l"/>
              <a:pathLst>
                <a:path h="960376" w="11006582">
                  <a:moveTo>
                    <a:pt x="16891" y="0"/>
                  </a:moveTo>
                  <a:lnTo>
                    <a:pt x="10989691" y="0"/>
                  </a:lnTo>
                  <a:cubicBezTo>
                    <a:pt x="10999089" y="0"/>
                    <a:pt x="11006582" y="7620"/>
                    <a:pt x="11006582" y="16891"/>
                  </a:cubicBezTo>
                  <a:lnTo>
                    <a:pt x="11006582" y="943483"/>
                  </a:lnTo>
                  <a:cubicBezTo>
                    <a:pt x="11006582" y="952881"/>
                    <a:pt x="10998962" y="960374"/>
                    <a:pt x="109896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0989691" y="926592"/>
                  </a:lnTo>
                  <a:lnTo>
                    <a:pt x="10989691" y="943483"/>
                  </a:lnTo>
                  <a:lnTo>
                    <a:pt x="10972800" y="943483"/>
                  </a:lnTo>
                  <a:lnTo>
                    <a:pt x="10972800" y="16891"/>
                  </a:lnTo>
                  <a:lnTo>
                    <a:pt x="10989691" y="16891"/>
                  </a:lnTo>
                  <a:lnTo>
                    <a:pt x="10989691" y="33909"/>
                  </a:lnTo>
                  <a:lnTo>
                    <a:pt x="16891" y="33909"/>
                  </a:lnTo>
                  <a:close/>
                </a:path>
              </a:pathLst>
            </a:custGeom>
            <a:solidFill>
              <a:srgbClr val="1A2B4A"/>
            </a:solidFill>
          </p:spPr>
        </p:sp>
      </p:grpSp>
      <p:grpSp>
        <p:nvGrpSpPr>
          <p:cNvPr name="Group 41" id="41"/>
          <p:cNvGrpSpPr/>
          <p:nvPr/>
        </p:nvGrpSpPr>
        <p:grpSpPr>
          <a:xfrm rot="0">
            <a:off x="9418320" y="2103120"/>
            <a:ext cx="8046720" cy="694944"/>
            <a:chOff x="0" y="0"/>
            <a:chExt cx="10728960" cy="926592"/>
          </a:xfrm>
        </p:grpSpPr>
        <p:sp>
          <p:nvSpPr>
            <p:cNvPr name="Freeform 42" id="42"/>
            <p:cNvSpPr/>
            <p:nvPr/>
          </p:nvSpPr>
          <p:spPr>
            <a:xfrm flipH="false" flipV="false" rot="0">
              <a:off x="0" y="0"/>
              <a:ext cx="10728960" cy="926592"/>
            </a:xfrm>
            <a:custGeom>
              <a:avLst/>
              <a:gdLst/>
              <a:ahLst/>
              <a:cxnLst/>
              <a:rect r="r" b="b" t="t" l="l"/>
              <a:pathLst>
                <a:path h="926592" w="10728960">
                  <a:moveTo>
                    <a:pt x="0" y="0"/>
                  </a:moveTo>
                  <a:lnTo>
                    <a:pt x="10728960" y="0"/>
                  </a:lnTo>
                  <a:lnTo>
                    <a:pt x="10728960" y="926592"/>
                  </a:lnTo>
                  <a:lnTo>
                    <a:pt x="0" y="926592"/>
                  </a:lnTo>
                  <a:close/>
                </a:path>
              </a:pathLst>
            </a:custGeom>
            <a:blipFill>
              <a:blip r:embed="rId2">
                <a:alphaModFix amt="0"/>
              </a:blip>
              <a:stretch>
                <a:fillRect l="0" t="-175616" r="0" b="-175616"/>
              </a:stretch>
            </a:blipFill>
          </p:spPr>
        </p:sp>
        <p:sp>
          <p:nvSpPr>
            <p:cNvPr name="TextBox 43" id="43"/>
            <p:cNvSpPr txBox="true"/>
            <p:nvPr/>
          </p:nvSpPr>
          <p:spPr>
            <a:xfrm>
              <a:off x="0" y="-38100"/>
              <a:ext cx="10728960" cy="96469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  Intérêt Pratique</a:t>
              </a:r>
            </a:p>
          </p:txBody>
        </p:sp>
      </p:grpSp>
      <p:grpSp>
        <p:nvGrpSpPr>
          <p:cNvPr name="Group 44" id="44"/>
          <p:cNvGrpSpPr/>
          <p:nvPr/>
        </p:nvGrpSpPr>
        <p:grpSpPr>
          <a:xfrm rot="0">
            <a:off x="9509760" y="2926080"/>
            <a:ext cx="7680960" cy="6035040"/>
            <a:chOff x="0" y="0"/>
            <a:chExt cx="10241280" cy="8046720"/>
          </a:xfrm>
        </p:grpSpPr>
        <p:sp>
          <p:nvSpPr>
            <p:cNvPr name="Freeform 45" id="45"/>
            <p:cNvSpPr/>
            <p:nvPr/>
          </p:nvSpPr>
          <p:spPr>
            <a:xfrm flipH="false" flipV="false" rot="0">
              <a:off x="0" y="0"/>
              <a:ext cx="10241280" cy="8046720"/>
            </a:xfrm>
            <a:custGeom>
              <a:avLst/>
              <a:gdLst/>
              <a:ahLst/>
              <a:cxnLst/>
              <a:rect r="r" b="b" t="t" l="l"/>
              <a:pathLst>
                <a:path h="8046720" w="10241280">
                  <a:moveTo>
                    <a:pt x="0" y="0"/>
                  </a:moveTo>
                  <a:lnTo>
                    <a:pt x="10241280" y="0"/>
                  </a:lnTo>
                  <a:lnTo>
                    <a:pt x="10241280" y="8046720"/>
                  </a:lnTo>
                  <a:lnTo>
                    <a:pt x="0" y="8046720"/>
                  </a:lnTo>
                  <a:close/>
                </a:path>
              </a:pathLst>
            </a:custGeom>
            <a:blipFill>
              <a:blip r:embed="rId2">
                <a:alphaModFix amt="0"/>
              </a:blip>
              <a:stretch>
                <a:fillRect l="-50809" t="0" r="-50809" b="0"/>
              </a:stretch>
            </a:blipFill>
          </p:spPr>
        </p:sp>
        <p:sp>
          <p:nvSpPr>
            <p:cNvPr name="TextBox 46" id="46"/>
            <p:cNvSpPr txBox="true"/>
            <p:nvPr/>
          </p:nvSpPr>
          <p:spPr>
            <a:xfrm>
              <a:off x="0" y="-47625"/>
              <a:ext cx="10241280" cy="8094345"/>
            </a:xfrm>
            <a:prstGeom prst="rect">
              <a:avLst/>
            </a:prstGeom>
          </p:spPr>
          <p:txBody>
            <a:bodyPr anchor="ctr" rtlCol="false" tIns="0" lIns="0" bIns="0" rIns="0"/>
            <a:lstStyle/>
            <a:p>
              <a:pPr algn="l" marL="554699" indent="-277349" lvl="1">
                <a:lnSpc>
                  <a:spcPts val="2760"/>
                </a:lnSpc>
                <a:buFont typeface="Arial"/>
                <a:buChar char="•"/>
              </a:pPr>
              <a:r>
                <a:rPr lang="en-US" sz="2300">
                  <a:solidFill>
                    <a:srgbClr val="1E293B"/>
                  </a:solidFill>
                  <a:latin typeface="Calibri (MS)"/>
                  <a:ea typeface="Calibri (MS)"/>
                  <a:cs typeface="Calibri (MS)"/>
                  <a:sym typeface="Calibri (MS)"/>
                </a:rPr>
                <a:t>Collecte et analyse de données facilement</a:t>
              </a:r>
            </a:p>
            <a:p>
              <a:pPr algn="l" marL="554699" indent="-277349" lvl="1">
                <a:lnSpc>
                  <a:spcPts val="2760"/>
                </a:lnSpc>
                <a:buFont typeface="Arial"/>
                <a:buChar char="•"/>
              </a:pPr>
              <a:r>
                <a:rPr lang="en-US" sz="2300">
                  <a:solidFill>
                    <a:srgbClr val="1E293B"/>
                  </a:solidFill>
                  <a:latin typeface="Calibri (MS)"/>
                  <a:ea typeface="Calibri (MS)"/>
                  <a:cs typeface="Calibri (MS)"/>
                  <a:sym typeface="Calibri (MS)"/>
                </a:rPr>
                <a:t>Diffusion facile via un Url (accessible partout)</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Suivi des réponses en temps réel </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Utilisable en plusieurs domaines (entreprise, école, études de marché)</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Conception d'interfaces utilisateur intuitives</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Analyse et visualisation des résultats</a:t>
              </a:r>
            </a:p>
            <a:p>
              <a:pPr algn="l" marL="554990" indent="-277495" lvl="1">
                <a:lnSpc>
                  <a:spcPts val="2760"/>
                </a:lnSpc>
                <a:buFont typeface="Arial"/>
                <a:buChar char="•"/>
              </a:pPr>
              <a:r>
                <a:rPr lang="en-US" sz="2300">
                  <a:solidFill>
                    <a:srgbClr val="1E293B"/>
                  </a:solidFill>
                  <a:latin typeface="Calibri (MS)"/>
                  <a:ea typeface="Calibri (MS)"/>
                  <a:cs typeface="Calibri (MS)"/>
                  <a:sym typeface="Calibri (MS)"/>
                </a:rPr>
                <a:t>Aide à la prise de décision basée sur les données réelles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2B4A"/>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B4A"/>
            </a:solidFill>
          </p:spPr>
        </p:sp>
      </p:grpSp>
      <p:grpSp>
        <p:nvGrpSpPr>
          <p:cNvPr name="Group 5" id="5"/>
          <p:cNvGrpSpPr/>
          <p:nvPr/>
        </p:nvGrpSpPr>
        <p:grpSpPr>
          <a:xfrm rot="0">
            <a:off x="-12697" y="1358903"/>
            <a:ext cx="18313403" cy="135131"/>
            <a:chOff x="0" y="0"/>
            <a:chExt cx="24417871" cy="180175"/>
          </a:xfrm>
        </p:grpSpPr>
        <p:sp>
          <p:nvSpPr>
            <p:cNvPr name="Freeform 6" id="6"/>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0D9488"/>
            </a:solidFill>
          </p:spPr>
        </p:sp>
        <p:sp>
          <p:nvSpPr>
            <p:cNvPr name="Freeform 7" id="7"/>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0D9488"/>
            </a:solidFill>
          </p:spPr>
        </p:sp>
      </p:grpSp>
      <p:grpSp>
        <p:nvGrpSpPr>
          <p:cNvPr name="Group 8" id="8"/>
          <p:cNvGrpSpPr/>
          <p:nvPr/>
        </p:nvGrpSpPr>
        <p:grpSpPr>
          <a:xfrm rot="0">
            <a:off x="731520" y="0"/>
            <a:ext cx="14630400" cy="1371600"/>
            <a:chOff x="0" y="0"/>
            <a:chExt cx="19507200" cy="1828800"/>
          </a:xfrm>
        </p:grpSpPr>
        <p:sp>
          <p:nvSpPr>
            <p:cNvPr name="Freeform 9" id="9"/>
            <p:cNvSpPr/>
            <p:nvPr/>
          </p:nvSpPr>
          <p:spPr>
            <a:xfrm flipH="false" flipV="false" rot="0">
              <a:off x="0" y="0"/>
              <a:ext cx="19507200" cy="1828800"/>
            </a:xfrm>
            <a:custGeom>
              <a:avLst/>
              <a:gdLst/>
              <a:ahLst/>
              <a:cxnLst/>
              <a:rect r="r" b="b" t="t" l="l"/>
              <a:pathLst>
                <a:path h="1828800" w="19507200">
                  <a:moveTo>
                    <a:pt x="0" y="0"/>
                  </a:moveTo>
                  <a:lnTo>
                    <a:pt x="19507200" y="0"/>
                  </a:lnTo>
                  <a:lnTo>
                    <a:pt x="19507200" y="1828800"/>
                  </a:lnTo>
                  <a:lnTo>
                    <a:pt x="0" y="1828800"/>
                  </a:lnTo>
                  <a:close/>
                </a:path>
              </a:pathLst>
            </a:custGeom>
            <a:blipFill>
              <a:blip r:embed="rId2">
                <a:alphaModFix amt="0"/>
              </a:blip>
              <a:stretch>
                <a:fillRect l="0" t="-157840" r="0" b="-157840"/>
              </a:stretch>
            </a:blipFill>
          </p:spPr>
        </p:sp>
        <p:sp>
          <p:nvSpPr>
            <p:cNvPr name="TextBox 10" id="10"/>
            <p:cNvSpPr txBox="true"/>
            <p:nvPr/>
          </p:nvSpPr>
          <p:spPr>
            <a:xfrm>
              <a:off x="0" y="-76200"/>
              <a:ext cx="1950720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Technologies Utilisées — Backend</a:t>
              </a:r>
            </a:p>
          </p:txBody>
        </p:sp>
      </p:grpSp>
      <p:grpSp>
        <p:nvGrpSpPr>
          <p:cNvPr name="Group 11" id="11"/>
          <p:cNvGrpSpPr/>
          <p:nvPr/>
        </p:nvGrpSpPr>
        <p:grpSpPr>
          <a:xfrm rot="0">
            <a:off x="-12697" y="9817103"/>
            <a:ext cx="18313403" cy="482603"/>
            <a:chOff x="0" y="0"/>
            <a:chExt cx="24417871" cy="643471"/>
          </a:xfrm>
        </p:grpSpPr>
        <p:sp>
          <p:nvSpPr>
            <p:cNvPr name="Freeform 12" id="12"/>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13" id="13"/>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14" id="14"/>
          <p:cNvGrpSpPr/>
          <p:nvPr/>
        </p:nvGrpSpPr>
        <p:grpSpPr>
          <a:xfrm rot="0">
            <a:off x="548640" y="9829800"/>
            <a:ext cx="12801600" cy="457200"/>
            <a:chOff x="0" y="0"/>
            <a:chExt cx="17068800" cy="609600"/>
          </a:xfrm>
        </p:grpSpPr>
        <p:sp>
          <p:nvSpPr>
            <p:cNvPr name="Freeform 15" id="15"/>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16" id="16"/>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a:t>
              </a:r>
            </a:p>
          </p:txBody>
        </p:sp>
      </p:grpSp>
      <p:grpSp>
        <p:nvGrpSpPr>
          <p:cNvPr name="Group 17" id="17"/>
          <p:cNvGrpSpPr/>
          <p:nvPr/>
        </p:nvGrpSpPr>
        <p:grpSpPr>
          <a:xfrm rot="0">
            <a:off x="15544800" y="9829800"/>
            <a:ext cx="2194560" cy="469906"/>
            <a:chOff x="0" y="0"/>
            <a:chExt cx="2926080" cy="626542"/>
          </a:xfrm>
        </p:grpSpPr>
        <p:sp>
          <p:nvSpPr>
            <p:cNvPr name="Freeform 18" id="18"/>
            <p:cNvSpPr/>
            <p:nvPr/>
          </p:nvSpPr>
          <p:spPr>
            <a:xfrm flipH="false" flipV="false" rot="0">
              <a:off x="0" y="0"/>
              <a:ext cx="2926080" cy="626542"/>
            </a:xfrm>
            <a:custGeom>
              <a:avLst/>
              <a:gdLst/>
              <a:ahLst/>
              <a:cxnLst/>
              <a:rect r="r" b="b" t="t" l="l"/>
              <a:pathLst>
                <a:path h="626542" w="2926080">
                  <a:moveTo>
                    <a:pt x="0" y="0"/>
                  </a:moveTo>
                  <a:lnTo>
                    <a:pt x="2926080" y="0"/>
                  </a:lnTo>
                  <a:lnTo>
                    <a:pt x="2926080" y="626542"/>
                  </a:lnTo>
                  <a:lnTo>
                    <a:pt x="0" y="626542"/>
                  </a:lnTo>
                  <a:close/>
                </a:path>
              </a:pathLst>
            </a:custGeom>
            <a:blipFill>
              <a:blip r:embed="rId2">
                <a:alphaModFix amt="0"/>
              </a:blip>
              <a:stretch>
                <a:fillRect l="0" t="-42351" r="0" b="-39647"/>
              </a:stretch>
            </a:blipFill>
          </p:spPr>
        </p:sp>
        <p:sp>
          <p:nvSpPr>
            <p:cNvPr name="TextBox 19" id="19"/>
            <p:cNvSpPr txBox="true"/>
            <p:nvPr/>
          </p:nvSpPr>
          <p:spPr>
            <a:xfrm>
              <a:off x="0" y="-28575"/>
              <a:ext cx="2926080" cy="655117"/>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4 / 8</a:t>
              </a:r>
            </a:p>
          </p:txBody>
        </p:sp>
      </p:grpSp>
      <p:grpSp>
        <p:nvGrpSpPr>
          <p:cNvPr name="Group 20" id="20"/>
          <p:cNvGrpSpPr/>
          <p:nvPr/>
        </p:nvGrpSpPr>
        <p:grpSpPr>
          <a:xfrm rot="0">
            <a:off x="444503" y="2090423"/>
            <a:ext cx="8620763" cy="3408683"/>
            <a:chOff x="0" y="0"/>
            <a:chExt cx="11494351" cy="4544911"/>
          </a:xfrm>
        </p:grpSpPr>
        <p:sp>
          <p:nvSpPr>
            <p:cNvPr name="Freeform 21" id="21"/>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22" id="22"/>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23" id="23"/>
          <p:cNvGrpSpPr/>
          <p:nvPr/>
        </p:nvGrpSpPr>
        <p:grpSpPr>
          <a:xfrm rot="0">
            <a:off x="444503" y="2090423"/>
            <a:ext cx="354587" cy="3408683"/>
            <a:chOff x="0" y="0"/>
            <a:chExt cx="472783" cy="4544911"/>
          </a:xfrm>
        </p:grpSpPr>
        <p:sp>
          <p:nvSpPr>
            <p:cNvPr name="Freeform 24" id="24"/>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0D9488"/>
            </a:solidFill>
          </p:spPr>
        </p:sp>
        <p:sp>
          <p:nvSpPr>
            <p:cNvPr name="Freeform 25" id="25"/>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0D9488"/>
            </a:solidFill>
          </p:spPr>
        </p:sp>
      </p:grpSp>
      <p:grpSp>
        <p:nvGrpSpPr>
          <p:cNvPr name="Group 26" id="26"/>
          <p:cNvGrpSpPr/>
          <p:nvPr/>
        </p:nvGrpSpPr>
        <p:grpSpPr>
          <a:xfrm rot="0">
            <a:off x="969264" y="2322576"/>
            <a:ext cx="7863840" cy="640080"/>
            <a:chOff x="0" y="0"/>
            <a:chExt cx="10485120" cy="853440"/>
          </a:xfrm>
        </p:grpSpPr>
        <p:sp>
          <p:nvSpPr>
            <p:cNvPr name="Freeform 27" id="27"/>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28" id="28"/>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0D9488"/>
                  </a:solidFill>
                  <a:latin typeface="Calibri (MS) Bold"/>
                  <a:ea typeface="Calibri (MS) Bold"/>
                  <a:cs typeface="Calibri (MS) Bold"/>
                  <a:sym typeface="Calibri (MS) Bold"/>
                </a:rPr>
                <a:t>  Django (Python)</a:t>
              </a:r>
            </a:p>
          </p:txBody>
        </p:sp>
      </p:grpSp>
      <p:grpSp>
        <p:nvGrpSpPr>
          <p:cNvPr name="Group 29" id="29"/>
          <p:cNvGrpSpPr/>
          <p:nvPr/>
        </p:nvGrpSpPr>
        <p:grpSpPr>
          <a:xfrm rot="0">
            <a:off x="969264" y="3017520"/>
            <a:ext cx="7863840" cy="2194560"/>
            <a:chOff x="0" y="0"/>
            <a:chExt cx="10485120" cy="2926080"/>
          </a:xfrm>
        </p:grpSpPr>
        <p:sp>
          <p:nvSpPr>
            <p:cNvPr name="Freeform 30" id="30"/>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31" id="31"/>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Framework web basé sur MVT(Model-View-Template).</a:t>
              </a:r>
            </a:p>
            <a:p>
              <a:pPr algn="l">
                <a:lnSpc>
                  <a:spcPts val="2639"/>
                </a:lnSpc>
              </a:pPr>
            </a:p>
            <a:p>
              <a:pPr algn="l">
                <a:lnSpc>
                  <a:spcPts val="2640"/>
                </a:lnSpc>
              </a:pPr>
              <a:r>
                <a:rPr lang="en-US" sz="2200">
                  <a:solidFill>
                    <a:srgbClr val="64748B"/>
                  </a:solidFill>
                  <a:latin typeface="Calibri (MS)"/>
                  <a:ea typeface="Calibri (MS)"/>
                  <a:cs typeface="Calibri (MS)"/>
                  <a:sym typeface="Calibri (MS)"/>
                </a:rPr>
                <a:t>Permet de structurer l’application de manière claire:modèles pour la base, vues pour la logique métier, templates pour l’interface</a:t>
              </a:r>
              <a:r>
                <a:rPr lang="en-US" sz="2200">
                  <a:solidFill>
                    <a:srgbClr val="64748B"/>
                  </a:solidFill>
                  <a:latin typeface="Calibri (MS)"/>
                  <a:ea typeface="Calibri (MS)"/>
                  <a:cs typeface="Calibri (MS)"/>
                  <a:sym typeface="Calibri (MS)"/>
                </a:rPr>
                <a:t> </a:t>
              </a:r>
            </a:p>
          </p:txBody>
        </p:sp>
      </p:grpSp>
      <p:grpSp>
        <p:nvGrpSpPr>
          <p:cNvPr name="Group 32" id="32"/>
          <p:cNvGrpSpPr/>
          <p:nvPr/>
        </p:nvGrpSpPr>
        <p:grpSpPr>
          <a:xfrm rot="0">
            <a:off x="9497063" y="2090423"/>
            <a:ext cx="8620763" cy="3408683"/>
            <a:chOff x="0" y="0"/>
            <a:chExt cx="11494351" cy="4544911"/>
          </a:xfrm>
        </p:grpSpPr>
        <p:sp>
          <p:nvSpPr>
            <p:cNvPr name="Freeform 33" id="33"/>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34" id="34"/>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35" id="35"/>
          <p:cNvGrpSpPr/>
          <p:nvPr/>
        </p:nvGrpSpPr>
        <p:grpSpPr>
          <a:xfrm rot="0">
            <a:off x="9497063" y="2090423"/>
            <a:ext cx="354587" cy="3408683"/>
            <a:chOff x="0" y="0"/>
            <a:chExt cx="472783" cy="4544911"/>
          </a:xfrm>
        </p:grpSpPr>
        <p:sp>
          <p:nvSpPr>
            <p:cNvPr name="Freeform 36" id="36"/>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0D7377"/>
            </a:solidFill>
          </p:spPr>
        </p:sp>
        <p:sp>
          <p:nvSpPr>
            <p:cNvPr name="Freeform 37" id="37"/>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0D7377"/>
            </a:solidFill>
          </p:spPr>
        </p:sp>
      </p:grpSp>
      <p:grpSp>
        <p:nvGrpSpPr>
          <p:cNvPr name="Group 38" id="38"/>
          <p:cNvGrpSpPr/>
          <p:nvPr/>
        </p:nvGrpSpPr>
        <p:grpSpPr>
          <a:xfrm rot="0">
            <a:off x="10021824" y="2322576"/>
            <a:ext cx="7863840" cy="640080"/>
            <a:chOff x="0" y="0"/>
            <a:chExt cx="10485120" cy="853440"/>
          </a:xfrm>
        </p:grpSpPr>
        <p:sp>
          <p:nvSpPr>
            <p:cNvPr name="Freeform 39" id="39"/>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40" id="40"/>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0D7377"/>
                  </a:solidFill>
                  <a:latin typeface="Calibri (MS) Bold"/>
                  <a:ea typeface="Calibri (MS) Bold"/>
                  <a:cs typeface="Calibri (MS) Bold"/>
                  <a:sym typeface="Calibri (MS) Bold"/>
                </a:rPr>
                <a:t>  Django ORM---Object-Relational Mapping</a:t>
              </a:r>
            </a:p>
          </p:txBody>
        </p:sp>
      </p:grpSp>
      <p:grpSp>
        <p:nvGrpSpPr>
          <p:cNvPr name="Group 41" id="41"/>
          <p:cNvGrpSpPr/>
          <p:nvPr/>
        </p:nvGrpSpPr>
        <p:grpSpPr>
          <a:xfrm rot="0">
            <a:off x="10021824" y="3017520"/>
            <a:ext cx="7863840" cy="2194560"/>
            <a:chOff x="0" y="0"/>
            <a:chExt cx="10485120" cy="2926080"/>
          </a:xfrm>
        </p:grpSpPr>
        <p:sp>
          <p:nvSpPr>
            <p:cNvPr name="Freeform 42" id="42"/>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43" id="43"/>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Système qui fait lien entre base de donnée et les modèles Python .</a:t>
              </a:r>
            </a:p>
            <a:p>
              <a:pPr algn="l">
                <a:lnSpc>
                  <a:spcPts val="2639"/>
                </a:lnSpc>
              </a:pPr>
            </a:p>
            <a:p>
              <a:pPr algn="l">
                <a:lnSpc>
                  <a:spcPts val="2639"/>
                </a:lnSpc>
              </a:pPr>
              <a:r>
                <a:rPr lang="en-US" sz="2199">
                  <a:solidFill>
                    <a:srgbClr val="64748B"/>
                  </a:solidFill>
                  <a:latin typeface="Calibri (MS)"/>
                  <a:ea typeface="Calibri (MS)"/>
                  <a:cs typeface="Calibri (MS)"/>
                  <a:sym typeface="Calibri (MS)"/>
                </a:rPr>
                <a:t>Gère automatiquement les relations entre les tables :</a:t>
              </a:r>
            </a:p>
            <a:p>
              <a:pPr algn="l">
                <a:lnSpc>
                  <a:spcPts val="2640"/>
                </a:lnSpc>
              </a:pPr>
              <a:r>
                <a:rPr lang="en-US" sz="2200">
                  <a:solidFill>
                    <a:srgbClr val="64748B"/>
                  </a:solidFill>
                  <a:latin typeface="Calibri (MS)"/>
                  <a:ea typeface="Calibri (MS)"/>
                  <a:cs typeface="Calibri (MS)"/>
                  <a:sym typeface="Calibri (MS)"/>
                </a:rPr>
                <a:t>(ex : sondage-&gt;questions-&gt;réponses).</a:t>
              </a:r>
            </a:p>
          </p:txBody>
        </p:sp>
      </p:grpSp>
      <p:grpSp>
        <p:nvGrpSpPr>
          <p:cNvPr name="Group 44" id="44"/>
          <p:cNvGrpSpPr/>
          <p:nvPr/>
        </p:nvGrpSpPr>
        <p:grpSpPr>
          <a:xfrm rot="0">
            <a:off x="444503" y="5930903"/>
            <a:ext cx="8620763" cy="3408683"/>
            <a:chOff x="0" y="0"/>
            <a:chExt cx="11494351" cy="4544911"/>
          </a:xfrm>
        </p:grpSpPr>
        <p:sp>
          <p:nvSpPr>
            <p:cNvPr name="Freeform 45" id="45"/>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46" id="46"/>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47" id="47"/>
          <p:cNvGrpSpPr/>
          <p:nvPr/>
        </p:nvGrpSpPr>
        <p:grpSpPr>
          <a:xfrm rot="0">
            <a:off x="444503" y="5930903"/>
            <a:ext cx="354587" cy="3408683"/>
            <a:chOff x="0" y="0"/>
            <a:chExt cx="472783" cy="4544911"/>
          </a:xfrm>
        </p:grpSpPr>
        <p:sp>
          <p:nvSpPr>
            <p:cNvPr name="Freeform 48" id="48"/>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1A2B4A"/>
            </a:solidFill>
          </p:spPr>
        </p:sp>
        <p:sp>
          <p:nvSpPr>
            <p:cNvPr name="Freeform 49" id="49"/>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1A2B4A"/>
            </a:solidFill>
          </p:spPr>
        </p:sp>
      </p:grpSp>
      <p:grpSp>
        <p:nvGrpSpPr>
          <p:cNvPr name="Group 50" id="50"/>
          <p:cNvGrpSpPr/>
          <p:nvPr/>
        </p:nvGrpSpPr>
        <p:grpSpPr>
          <a:xfrm rot="0">
            <a:off x="969264" y="6163056"/>
            <a:ext cx="7863840" cy="640080"/>
            <a:chOff x="0" y="0"/>
            <a:chExt cx="10485120" cy="853440"/>
          </a:xfrm>
        </p:grpSpPr>
        <p:sp>
          <p:nvSpPr>
            <p:cNvPr name="Freeform 51" id="51"/>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52" id="52"/>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1A2B4A"/>
                  </a:solidFill>
                  <a:latin typeface="Calibri (MS) Bold"/>
                  <a:ea typeface="Calibri (MS) Bold"/>
                  <a:cs typeface="Calibri (MS) Bold"/>
                  <a:sym typeface="Calibri (MS) Bold"/>
                </a:rPr>
                <a:t>  Base de données(MySQL)</a:t>
              </a:r>
            </a:p>
          </p:txBody>
        </p:sp>
      </p:grpSp>
      <p:grpSp>
        <p:nvGrpSpPr>
          <p:cNvPr name="Group 53" id="53"/>
          <p:cNvGrpSpPr/>
          <p:nvPr/>
        </p:nvGrpSpPr>
        <p:grpSpPr>
          <a:xfrm rot="0">
            <a:off x="969264" y="6858000"/>
            <a:ext cx="7863840" cy="2194560"/>
            <a:chOff x="0" y="0"/>
            <a:chExt cx="10485120" cy="2926080"/>
          </a:xfrm>
        </p:grpSpPr>
        <p:sp>
          <p:nvSpPr>
            <p:cNvPr name="Freeform 54" id="54"/>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55" id="55"/>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SGBD relationnel pour stocker utilisateurs, sondages et réponses.</a:t>
              </a:r>
            </a:p>
            <a:p>
              <a:pPr algn="l">
                <a:lnSpc>
                  <a:spcPts val="2640"/>
                </a:lnSpc>
              </a:pPr>
            </a:p>
          </p:txBody>
        </p:sp>
      </p:grpSp>
      <p:grpSp>
        <p:nvGrpSpPr>
          <p:cNvPr name="Group 56" id="56"/>
          <p:cNvGrpSpPr/>
          <p:nvPr/>
        </p:nvGrpSpPr>
        <p:grpSpPr>
          <a:xfrm rot="0">
            <a:off x="9497063" y="5930903"/>
            <a:ext cx="8620763" cy="3408683"/>
            <a:chOff x="0" y="0"/>
            <a:chExt cx="11494351" cy="4544911"/>
          </a:xfrm>
        </p:grpSpPr>
        <p:sp>
          <p:nvSpPr>
            <p:cNvPr name="Freeform 57" id="57"/>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58" id="58"/>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59" id="59"/>
          <p:cNvGrpSpPr/>
          <p:nvPr/>
        </p:nvGrpSpPr>
        <p:grpSpPr>
          <a:xfrm rot="0">
            <a:off x="9497063" y="5930903"/>
            <a:ext cx="354587" cy="3408683"/>
            <a:chOff x="0" y="0"/>
            <a:chExt cx="472783" cy="4544911"/>
          </a:xfrm>
        </p:grpSpPr>
        <p:sp>
          <p:nvSpPr>
            <p:cNvPr name="Freeform 60" id="60"/>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374151"/>
            </a:solidFill>
          </p:spPr>
        </p:sp>
        <p:sp>
          <p:nvSpPr>
            <p:cNvPr name="Freeform 61" id="61"/>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374151"/>
            </a:solidFill>
          </p:spPr>
        </p:sp>
      </p:grpSp>
      <p:grpSp>
        <p:nvGrpSpPr>
          <p:cNvPr name="Group 62" id="62"/>
          <p:cNvGrpSpPr/>
          <p:nvPr/>
        </p:nvGrpSpPr>
        <p:grpSpPr>
          <a:xfrm rot="0">
            <a:off x="10021824" y="6163056"/>
            <a:ext cx="7863840" cy="640080"/>
            <a:chOff x="0" y="0"/>
            <a:chExt cx="10485120" cy="853440"/>
          </a:xfrm>
        </p:grpSpPr>
        <p:sp>
          <p:nvSpPr>
            <p:cNvPr name="Freeform 63" id="63"/>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64" id="64"/>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374151"/>
                  </a:solidFill>
                  <a:latin typeface="Calibri (MS) Bold"/>
                  <a:ea typeface="Calibri (MS) Bold"/>
                  <a:cs typeface="Calibri (MS) Bold"/>
                  <a:sym typeface="Calibri (MS) Bold"/>
                </a:rPr>
                <a:t>Django Authentification</a:t>
              </a:r>
            </a:p>
          </p:txBody>
        </p:sp>
      </p:grpSp>
      <p:grpSp>
        <p:nvGrpSpPr>
          <p:cNvPr name="Group 65" id="65"/>
          <p:cNvGrpSpPr/>
          <p:nvPr/>
        </p:nvGrpSpPr>
        <p:grpSpPr>
          <a:xfrm rot="0">
            <a:off x="10021824" y="6858000"/>
            <a:ext cx="7863840" cy="2194560"/>
            <a:chOff x="0" y="0"/>
            <a:chExt cx="10485120" cy="2926080"/>
          </a:xfrm>
        </p:grpSpPr>
        <p:sp>
          <p:nvSpPr>
            <p:cNvPr name="Freeform 66" id="66"/>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67" id="67"/>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Module intégré pour la gestion des utilisateurs: inscription, connexion .</a:t>
              </a:r>
            </a:p>
            <a:p>
              <a:pPr algn="l">
                <a:lnSpc>
                  <a:spcPts val="2639"/>
                </a:lnSpc>
              </a:pPr>
            </a:p>
            <a:p>
              <a:pPr algn="l">
                <a:lnSpc>
                  <a:spcPts val="2640"/>
                </a:lnSpc>
              </a:pPr>
              <a:r>
                <a:rPr lang="en-US" sz="2200">
                  <a:solidFill>
                    <a:srgbClr val="64748B"/>
                  </a:solidFill>
                  <a:latin typeface="Calibri (MS)"/>
                  <a:ea typeface="Calibri (MS)"/>
                  <a:cs typeface="Calibri (MS)"/>
                  <a:sym typeface="Calibri (MS)"/>
                </a:rPr>
                <a:t>Sécuriser l’accès aux sondages et aux données des utilisateurs.</a:t>
              </a:r>
            </a:p>
          </p:txBody>
        </p:sp>
      </p:grpSp>
      <p:grpSp>
        <p:nvGrpSpPr>
          <p:cNvPr name="Group 68" id="68"/>
          <p:cNvGrpSpPr/>
          <p:nvPr/>
        </p:nvGrpSpPr>
        <p:grpSpPr>
          <a:xfrm rot="0">
            <a:off x="-1801711" y="1494034"/>
            <a:ext cx="16824960" cy="694944"/>
            <a:chOff x="0" y="0"/>
            <a:chExt cx="22433280" cy="926592"/>
          </a:xfrm>
        </p:grpSpPr>
        <p:sp>
          <p:nvSpPr>
            <p:cNvPr name="Freeform 69" id="69"/>
            <p:cNvSpPr/>
            <p:nvPr/>
          </p:nvSpPr>
          <p:spPr>
            <a:xfrm flipH="false" flipV="false" rot="0">
              <a:off x="0" y="0"/>
              <a:ext cx="22433280" cy="926592"/>
            </a:xfrm>
            <a:custGeom>
              <a:avLst/>
              <a:gdLst/>
              <a:ahLst/>
              <a:cxnLst/>
              <a:rect r="r" b="b" t="t" l="l"/>
              <a:pathLst>
                <a:path h="926592" w="22433280">
                  <a:moveTo>
                    <a:pt x="0" y="0"/>
                  </a:moveTo>
                  <a:lnTo>
                    <a:pt x="22433280" y="0"/>
                  </a:lnTo>
                  <a:lnTo>
                    <a:pt x="22433280" y="926592"/>
                  </a:lnTo>
                  <a:lnTo>
                    <a:pt x="0" y="926592"/>
                  </a:lnTo>
                  <a:close/>
                </a:path>
              </a:pathLst>
            </a:custGeom>
            <a:blipFill>
              <a:blip r:embed="rId2">
                <a:alphaModFix amt="0"/>
              </a:blip>
              <a:stretch>
                <a:fillRect l="0" t="-421743" r="0" b="-421743"/>
              </a:stretch>
            </a:blipFill>
          </p:spPr>
        </p:sp>
        <p:sp>
          <p:nvSpPr>
            <p:cNvPr name="TextBox 70" id="70"/>
            <p:cNvSpPr txBox="true"/>
            <p:nvPr/>
          </p:nvSpPr>
          <p:spPr>
            <a:xfrm>
              <a:off x="0" y="-38100"/>
              <a:ext cx="22433280" cy="964692"/>
            </a:xfrm>
            <a:prstGeom prst="rect">
              <a:avLst/>
            </a:prstGeom>
          </p:spPr>
          <p:txBody>
            <a:bodyPr anchor="ctr" rtlCol="false" tIns="0" lIns="0" bIns="0" rIns="0"/>
            <a:lstStyle/>
            <a:p>
              <a:pPr algn="ctr">
                <a:lnSpc>
                  <a:spcPts val="2400"/>
                </a:lnSpc>
              </a:pPr>
              <a:r>
                <a:rPr lang="en-US" sz="2000">
                  <a:solidFill>
                    <a:srgbClr val="1A2B4A"/>
                  </a:solidFill>
                  <a:latin typeface="Calibri (MS)"/>
                  <a:ea typeface="Calibri (MS)"/>
                  <a:cs typeface="Calibri (MS)"/>
                  <a:sym typeface="Calibri (MS)"/>
                </a:rPr>
                <a:t>Backend assure : gestion des utilisateurs • création des sondages • stockage des réponses • analyse des données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2B4A"/>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B4A"/>
            </a:solidFill>
          </p:spPr>
        </p:sp>
      </p:grpSp>
      <p:grpSp>
        <p:nvGrpSpPr>
          <p:cNvPr name="Group 5" id="5"/>
          <p:cNvGrpSpPr/>
          <p:nvPr/>
        </p:nvGrpSpPr>
        <p:grpSpPr>
          <a:xfrm rot="0">
            <a:off x="-12697" y="1358903"/>
            <a:ext cx="18313403" cy="135131"/>
            <a:chOff x="0" y="0"/>
            <a:chExt cx="24417871" cy="180175"/>
          </a:xfrm>
        </p:grpSpPr>
        <p:sp>
          <p:nvSpPr>
            <p:cNvPr name="Freeform 6" id="6"/>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0D9488"/>
            </a:solidFill>
          </p:spPr>
        </p:sp>
        <p:sp>
          <p:nvSpPr>
            <p:cNvPr name="Freeform 7" id="7"/>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0D9488"/>
            </a:solidFill>
          </p:spPr>
        </p:sp>
      </p:grpSp>
      <p:grpSp>
        <p:nvGrpSpPr>
          <p:cNvPr name="Group 8" id="8"/>
          <p:cNvGrpSpPr/>
          <p:nvPr/>
        </p:nvGrpSpPr>
        <p:grpSpPr>
          <a:xfrm rot="0">
            <a:off x="731520" y="0"/>
            <a:ext cx="14630400" cy="1371600"/>
            <a:chOff x="0" y="0"/>
            <a:chExt cx="19507200" cy="1828800"/>
          </a:xfrm>
        </p:grpSpPr>
        <p:sp>
          <p:nvSpPr>
            <p:cNvPr name="Freeform 9" id="9"/>
            <p:cNvSpPr/>
            <p:nvPr/>
          </p:nvSpPr>
          <p:spPr>
            <a:xfrm flipH="false" flipV="false" rot="0">
              <a:off x="0" y="0"/>
              <a:ext cx="19507200" cy="1828800"/>
            </a:xfrm>
            <a:custGeom>
              <a:avLst/>
              <a:gdLst/>
              <a:ahLst/>
              <a:cxnLst/>
              <a:rect r="r" b="b" t="t" l="l"/>
              <a:pathLst>
                <a:path h="1828800" w="19507200">
                  <a:moveTo>
                    <a:pt x="0" y="0"/>
                  </a:moveTo>
                  <a:lnTo>
                    <a:pt x="19507200" y="0"/>
                  </a:lnTo>
                  <a:lnTo>
                    <a:pt x="19507200" y="1828800"/>
                  </a:lnTo>
                  <a:lnTo>
                    <a:pt x="0" y="1828800"/>
                  </a:lnTo>
                  <a:close/>
                </a:path>
              </a:pathLst>
            </a:custGeom>
            <a:blipFill>
              <a:blip r:embed="rId2">
                <a:alphaModFix amt="0"/>
              </a:blip>
              <a:stretch>
                <a:fillRect l="0" t="-157840" r="0" b="-157840"/>
              </a:stretch>
            </a:blipFill>
          </p:spPr>
        </p:sp>
        <p:sp>
          <p:nvSpPr>
            <p:cNvPr name="TextBox 10" id="10"/>
            <p:cNvSpPr txBox="true"/>
            <p:nvPr/>
          </p:nvSpPr>
          <p:spPr>
            <a:xfrm>
              <a:off x="0" y="-76200"/>
              <a:ext cx="1950720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Technologies Utilisées — Frontend</a:t>
              </a:r>
            </a:p>
          </p:txBody>
        </p:sp>
      </p:grpSp>
      <p:grpSp>
        <p:nvGrpSpPr>
          <p:cNvPr name="Group 11" id="11"/>
          <p:cNvGrpSpPr/>
          <p:nvPr/>
        </p:nvGrpSpPr>
        <p:grpSpPr>
          <a:xfrm rot="0">
            <a:off x="-12697" y="9817103"/>
            <a:ext cx="18313403" cy="482603"/>
            <a:chOff x="0" y="0"/>
            <a:chExt cx="24417871" cy="643471"/>
          </a:xfrm>
        </p:grpSpPr>
        <p:sp>
          <p:nvSpPr>
            <p:cNvPr name="Freeform 12" id="12"/>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13" id="13"/>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14" id="14"/>
          <p:cNvGrpSpPr/>
          <p:nvPr/>
        </p:nvGrpSpPr>
        <p:grpSpPr>
          <a:xfrm rot="0">
            <a:off x="548640" y="9829800"/>
            <a:ext cx="12801600" cy="457200"/>
            <a:chOff x="0" y="0"/>
            <a:chExt cx="17068800" cy="609600"/>
          </a:xfrm>
        </p:grpSpPr>
        <p:sp>
          <p:nvSpPr>
            <p:cNvPr name="Freeform 15" id="15"/>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16" id="16"/>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Python-Django</a:t>
              </a:r>
            </a:p>
          </p:txBody>
        </p:sp>
      </p:grpSp>
      <p:grpSp>
        <p:nvGrpSpPr>
          <p:cNvPr name="Group 17" id="17"/>
          <p:cNvGrpSpPr/>
          <p:nvPr/>
        </p:nvGrpSpPr>
        <p:grpSpPr>
          <a:xfrm rot="0">
            <a:off x="15544800" y="9829800"/>
            <a:ext cx="2194560" cy="457200"/>
            <a:chOff x="0" y="0"/>
            <a:chExt cx="2926080" cy="609600"/>
          </a:xfrm>
        </p:grpSpPr>
        <p:sp>
          <p:nvSpPr>
            <p:cNvPr name="Freeform 18" id="18"/>
            <p:cNvSpPr/>
            <p:nvPr/>
          </p:nvSpPr>
          <p:spPr>
            <a:xfrm flipH="false" flipV="false" rot="0">
              <a:off x="0" y="0"/>
              <a:ext cx="2926080" cy="609600"/>
            </a:xfrm>
            <a:custGeom>
              <a:avLst/>
              <a:gdLst/>
              <a:ahLst/>
              <a:cxnLst/>
              <a:rect r="r" b="b" t="t" l="l"/>
              <a:pathLst>
                <a:path h="609600" w="2926080">
                  <a:moveTo>
                    <a:pt x="0" y="0"/>
                  </a:moveTo>
                  <a:lnTo>
                    <a:pt x="2926080" y="0"/>
                  </a:lnTo>
                  <a:lnTo>
                    <a:pt x="2926080" y="609600"/>
                  </a:lnTo>
                  <a:lnTo>
                    <a:pt x="0" y="609600"/>
                  </a:lnTo>
                  <a:close/>
                </a:path>
              </a:pathLst>
            </a:custGeom>
            <a:blipFill>
              <a:blip r:embed="rId2">
                <a:alphaModFix amt="0"/>
              </a:blip>
              <a:stretch>
                <a:fillRect l="0" t="-43528" r="0" b="-43528"/>
              </a:stretch>
            </a:blipFill>
          </p:spPr>
        </p:sp>
        <p:sp>
          <p:nvSpPr>
            <p:cNvPr name="TextBox 19" id="19"/>
            <p:cNvSpPr txBox="true"/>
            <p:nvPr/>
          </p:nvSpPr>
          <p:spPr>
            <a:xfrm>
              <a:off x="0" y="-28575"/>
              <a:ext cx="2926080" cy="638175"/>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5 </a:t>
              </a:r>
              <a:r>
                <a:rPr lang="en-US" sz="1600">
                  <a:solidFill>
                    <a:srgbClr val="AABBCC"/>
                  </a:solidFill>
                  <a:latin typeface="Calibri (MS)"/>
                  <a:ea typeface="Calibri (MS)"/>
                  <a:cs typeface="Calibri (MS)"/>
                  <a:sym typeface="Calibri (MS)"/>
                </a:rPr>
                <a:t>/ 8</a:t>
              </a:r>
            </a:p>
          </p:txBody>
        </p:sp>
      </p:grpSp>
      <p:grpSp>
        <p:nvGrpSpPr>
          <p:cNvPr name="Group 20" id="20"/>
          <p:cNvGrpSpPr/>
          <p:nvPr/>
        </p:nvGrpSpPr>
        <p:grpSpPr>
          <a:xfrm rot="0">
            <a:off x="444503" y="2090423"/>
            <a:ext cx="8620763" cy="3408683"/>
            <a:chOff x="0" y="0"/>
            <a:chExt cx="11494351" cy="4544911"/>
          </a:xfrm>
        </p:grpSpPr>
        <p:sp>
          <p:nvSpPr>
            <p:cNvPr name="Freeform 21" id="21"/>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22" id="22"/>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23" id="23"/>
          <p:cNvGrpSpPr/>
          <p:nvPr/>
        </p:nvGrpSpPr>
        <p:grpSpPr>
          <a:xfrm rot="0">
            <a:off x="444503" y="2090423"/>
            <a:ext cx="354587" cy="3408683"/>
            <a:chOff x="0" y="0"/>
            <a:chExt cx="472783" cy="4544911"/>
          </a:xfrm>
        </p:grpSpPr>
        <p:sp>
          <p:nvSpPr>
            <p:cNvPr name="Freeform 24" id="24"/>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E44D26"/>
            </a:solidFill>
          </p:spPr>
        </p:sp>
        <p:sp>
          <p:nvSpPr>
            <p:cNvPr name="Freeform 25" id="25"/>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E44D26"/>
            </a:solidFill>
          </p:spPr>
        </p:sp>
      </p:grpSp>
      <p:grpSp>
        <p:nvGrpSpPr>
          <p:cNvPr name="Group 26" id="26"/>
          <p:cNvGrpSpPr/>
          <p:nvPr/>
        </p:nvGrpSpPr>
        <p:grpSpPr>
          <a:xfrm rot="0">
            <a:off x="969264" y="2322576"/>
            <a:ext cx="7863840" cy="640080"/>
            <a:chOff x="0" y="0"/>
            <a:chExt cx="10485120" cy="853440"/>
          </a:xfrm>
        </p:grpSpPr>
        <p:sp>
          <p:nvSpPr>
            <p:cNvPr name="Freeform 27" id="27"/>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28" id="28"/>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E44D26"/>
                  </a:solidFill>
                  <a:latin typeface="Calibri (MS) Bold"/>
                  <a:ea typeface="Calibri (MS) Bold"/>
                  <a:cs typeface="Calibri (MS) Bold"/>
                  <a:sym typeface="Calibri (MS) Bold"/>
                </a:rPr>
                <a:t>  HTML / CSS</a:t>
              </a:r>
            </a:p>
          </p:txBody>
        </p:sp>
      </p:grpSp>
      <p:grpSp>
        <p:nvGrpSpPr>
          <p:cNvPr name="Group 29" id="29"/>
          <p:cNvGrpSpPr/>
          <p:nvPr/>
        </p:nvGrpSpPr>
        <p:grpSpPr>
          <a:xfrm rot="0">
            <a:off x="969264" y="3017520"/>
            <a:ext cx="7863840" cy="2194560"/>
            <a:chOff x="0" y="0"/>
            <a:chExt cx="10485120" cy="2926080"/>
          </a:xfrm>
        </p:grpSpPr>
        <p:sp>
          <p:nvSpPr>
            <p:cNvPr name="Freeform 30" id="30"/>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31" id="31"/>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Structure et style des pages web.</a:t>
              </a:r>
            </a:p>
            <a:p>
              <a:pPr algn="l">
                <a:lnSpc>
                  <a:spcPts val="2639"/>
                </a:lnSpc>
              </a:pPr>
            </a:p>
            <a:p>
              <a:pPr algn="l">
                <a:lnSpc>
                  <a:spcPts val="2640"/>
                </a:lnSpc>
              </a:pPr>
              <a:r>
                <a:rPr lang="en-US" sz="2200">
                  <a:solidFill>
                    <a:srgbClr val="64748B"/>
                  </a:solidFill>
                  <a:latin typeface="Calibri (MS)"/>
                  <a:ea typeface="Calibri (MS)"/>
                  <a:cs typeface="Calibri (MS)"/>
                  <a:sym typeface="Calibri (MS)"/>
                </a:rPr>
                <a:t>Permet de créer des formulaires , boutons ,tableaux et autres éléments de l’interfaceutilisateur.</a:t>
              </a:r>
            </a:p>
          </p:txBody>
        </p:sp>
      </p:grpSp>
      <p:grpSp>
        <p:nvGrpSpPr>
          <p:cNvPr name="Group 32" id="32"/>
          <p:cNvGrpSpPr/>
          <p:nvPr/>
        </p:nvGrpSpPr>
        <p:grpSpPr>
          <a:xfrm rot="0">
            <a:off x="9497063" y="2090423"/>
            <a:ext cx="8620763" cy="3408683"/>
            <a:chOff x="0" y="0"/>
            <a:chExt cx="11494351" cy="4544911"/>
          </a:xfrm>
        </p:grpSpPr>
        <p:sp>
          <p:nvSpPr>
            <p:cNvPr name="Freeform 33" id="33"/>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34" id="34"/>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35" id="35"/>
          <p:cNvGrpSpPr/>
          <p:nvPr/>
        </p:nvGrpSpPr>
        <p:grpSpPr>
          <a:xfrm rot="0">
            <a:off x="9497063" y="2090423"/>
            <a:ext cx="354587" cy="3408683"/>
            <a:chOff x="0" y="0"/>
            <a:chExt cx="472783" cy="4544911"/>
          </a:xfrm>
        </p:grpSpPr>
        <p:sp>
          <p:nvSpPr>
            <p:cNvPr name="Freeform 36" id="36"/>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7952B3"/>
            </a:solidFill>
          </p:spPr>
        </p:sp>
        <p:sp>
          <p:nvSpPr>
            <p:cNvPr name="Freeform 37" id="37"/>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7952B3"/>
            </a:solidFill>
          </p:spPr>
        </p:sp>
      </p:grpSp>
      <p:grpSp>
        <p:nvGrpSpPr>
          <p:cNvPr name="Group 38" id="38"/>
          <p:cNvGrpSpPr/>
          <p:nvPr/>
        </p:nvGrpSpPr>
        <p:grpSpPr>
          <a:xfrm rot="0">
            <a:off x="10021824" y="2322576"/>
            <a:ext cx="7863840" cy="640080"/>
            <a:chOff x="0" y="0"/>
            <a:chExt cx="10485120" cy="853440"/>
          </a:xfrm>
        </p:grpSpPr>
        <p:sp>
          <p:nvSpPr>
            <p:cNvPr name="Freeform 39" id="39"/>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40" id="40"/>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7952B3"/>
                  </a:solidFill>
                  <a:latin typeface="Calibri (MS) Bold"/>
                  <a:ea typeface="Calibri (MS) Bold"/>
                  <a:cs typeface="Calibri (MS) Bold"/>
                  <a:sym typeface="Calibri (MS) Bold"/>
                </a:rPr>
                <a:t>  Bootstrap</a:t>
              </a:r>
            </a:p>
          </p:txBody>
        </p:sp>
      </p:grpSp>
      <p:grpSp>
        <p:nvGrpSpPr>
          <p:cNvPr name="Group 41" id="41"/>
          <p:cNvGrpSpPr/>
          <p:nvPr/>
        </p:nvGrpSpPr>
        <p:grpSpPr>
          <a:xfrm rot="0">
            <a:off x="10021824" y="3017520"/>
            <a:ext cx="7863840" cy="2194560"/>
            <a:chOff x="0" y="0"/>
            <a:chExt cx="10485120" cy="2926080"/>
          </a:xfrm>
        </p:grpSpPr>
        <p:sp>
          <p:nvSpPr>
            <p:cNvPr name="Freeform 42" id="42"/>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43" id="43"/>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Framework CSS moderne pour rendre l’ interface responsive et facile à utiliser.</a:t>
              </a:r>
            </a:p>
            <a:p>
              <a:pPr algn="l">
                <a:lnSpc>
                  <a:spcPts val="2639"/>
                </a:lnSpc>
              </a:pPr>
            </a:p>
            <a:p>
              <a:pPr algn="l">
                <a:lnSpc>
                  <a:spcPts val="2640"/>
                </a:lnSpc>
              </a:pPr>
              <a:r>
                <a:rPr lang="en-US" sz="2200">
                  <a:solidFill>
                    <a:srgbClr val="64748B"/>
                  </a:solidFill>
                  <a:latin typeface="Calibri (MS)"/>
                  <a:ea typeface="Calibri (MS)"/>
                  <a:cs typeface="Calibri (MS)"/>
                  <a:sym typeface="Calibri (MS)"/>
                </a:rPr>
                <a:t>Fournit des composants prêts à l’emploi : boutons , tableaux, formulaires, cartes.</a:t>
              </a:r>
            </a:p>
          </p:txBody>
        </p:sp>
      </p:grpSp>
      <p:grpSp>
        <p:nvGrpSpPr>
          <p:cNvPr name="Group 44" id="44"/>
          <p:cNvGrpSpPr/>
          <p:nvPr/>
        </p:nvGrpSpPr>
        <p:grpSpPr>
          <a:xfrm rot="0">
            <a:off x="444503" y="5930903"/>
            <a:ext cx="8620763" cy="3408683"/>
            <a:chOff x="0" y="0"/>
            <a:chExt cx="11494351" cy="4544911"/>
          </a:xfrm>
        </p:grpSpPr>
        <p:sp>
          <p:nvSpPr>
            <p:cNvPr name="Freeform 45" id="45"/>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46" id="46"/>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47" id="47"/>
          <p:cNvGrpSpPr/>
          <p:nvPr/>
        </p:nvGrpSpPr>
        <p:grpSpPr>
          <a:xfrm rot="0">
            <a:off x="444503" y="5930903"/>
            <a:ext cx="354587" cy="3408683"/>
            <a:chOff x="0" y="0"/>
            <a:chExt cx="472783" cy="4544911"/>
          </a:xfrm>
        </p:grpSpPr>
        <p:sp>
          <p:nvSpPr>
            <p:cNvPr name="Freeform 48" id="48"/>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D4A017"/>
            </a:solidFill>
          </p:spPr>
        </p:sp>
        <p:sp>
          <p:nvSpPr>
            <p:cNvPr name="Freeform 49" id="49"/>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F0DB4F"/>
            </a:solidFill>
          </p:spPr>
        </p:sp>
      </p:grpSp>
      <p:grpSp>
        <p:nvGrpSpPr>
          <p:cNvPr name="Group 50" id="50"/>
          <p:cNvGrpSpPr/>
          <p:nvPr/>
        </p:nvGrpSpPr>
        <p:grpSpPr>
          <a:xfrm rot="0">
            <a:off x="969264" y="6163056"/>
            <a:ext cx="7863840" cy="640080"/>
            <a:chOff x="0" y="0"/>
            <a:chExt cx="10485120" cy="853440"/>
          </a:xfrm>
        </p:grpSpPr>
        <p:sp>
          <p:nvSpPr>
            <p:cNvPr name="Freeform 51" id="51"/>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52" id="52"/>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B8860B"/>
                  </a:solidFill>
                  <a:latin typeface="Calibri (MS) Bold"/>
                  <a:ea typeface="Calibri (MS) Bold"/>
                  <a:cs typeface="Calibri (MS) Bold"/>
                  <a:sym typeface="Calibri (MS) Bold"/>
                </a:rPr>
                <a:t>  JavaScript</a:t>
              </a:r>
            </a:p>
          </p:txBody>
        </p:sp>
      </p:grpSp>
      <p:grpSp>
        <p:nvGrpSpPr>
          <p:cNvPr name="Group 53" id="53"/>
          <p:cNvGrpSpPr/>
          <p:nvPr/>
        </p:nvGrpSpPr>
        <p:grpSpPr>
          <a:xfrm rot="0">
            <a:off x="969264" y="6858000"/>
            <a:ext cx="7863840" cy="2194560"/>
            <a:chOff x="0" y="0"/>
            <a:chExt cx="10485120" cy="2926080"/>
          </a:xfrm>
        </p:grpSpPr>
        <p:sp>
          <p:nvSpPr>
            <p:cNvPr name="Freeform 54" id="54"/>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55" id="55"/>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Ajoute l’i</a:t>
              </a:r>
              <a:r>
                <a:rPr lang="en-US" sz="2199">
                  <a:solidFill>
                    <a:srgbClr val="64748B"/>
                  </a:solidFill>
                  <a:latin typeface="Calibri (MS)"/>
                  <a:ea typeface="Calibri (MS)"/>
                  <a:cs typeface="Calibri (MS)"/>
                  <a:sym typeface="Calibri (MS)"/>
                </a:rPr>
                <a:t>nteractivité dynamique aux formulaires et sondages.</a:t>
              </a:r>
            </a:p>
            <a:p>
              <a:pPr algn="l">
                <a:lnSpc>
                  <a:spcPts val="2639"/>
                </a:lnSpc>
              </a:pPr>
            </a:p>
            <a:p>
              <a:pPr algn="l">
                <a:lnSpc>
                  <a:spcPts val="2640"/>
                </a:lnSpc>
              </a:pPr>
              <a:r>
                <a:rPr lang="en-US" sz="2200">
                  <a:solidFill>
                    <a:srgbClr val="64748B"/>
                  </a:solidFill>
                  <a:latin typeface="Calibri (MS)"/>
                  <a:ea typeface="Calibri (MS)"/>
                  <a:cs typeface="Calibri (MS)"/>
                  <a:sym typeface="Calibri (MS)"/>
                </a:rPr>
                <a:t>Permet de valider les champs, afficher/masquer des questions conditionnelles et réagir aux actions de l’utilisateur sans recharger la page.</a:t>
              </a:r>
            </a:p>
          </p:txBody>
        </p:sp>
      </p:grpSp>
      <p:grpSp>
        <p:nvGrpSpPr>
          <p:cNvPr name="Group 56" id="56"/>
          <p:cNvGrpSpPr/>
          <p:nvPr/>
        </p:nvGrpSpPr>
        <p:grpSpPr>
          <a:xfrm rot="0">
            <a:off x="9497063" y="5930903"/>
            <a:ext cx="8620763" cy="3408683"/>
            <a:chOff x="0" y="0"/>
            <a:chExt cx="11494351" cy="4544911"/>
          </a:xfrm>
        </p:grpSpPr>
        <p:sp>
          <p:nvSpPr>
            <p:cNvPr name="Freeform 57" id="57"/>
            <p:cNvSpPr/>
            <p:nvPr/>
          </p:nvSpPr>
          <p:spPr>
            <a:xfrm flipH="false" flipV="false" rot="0">
              <a:off x="16891" y="16891"/>
              <a:ext cx="11460481" cy="4511040"/>
            </a:xfrm>
            <a:custGeom>
              <a:avLst/>
              <a:gdLst/>
              <a:ahLst/>
              <a:cxnLst/>
              <a:rect r="r" b="b" t="t" l="l"/>
              <a:pathLst>
                <a:path h="4511040" w="11460481">
                  <a:moveTo>
                    <a:pt x="0" y="0"/>
                  </a:moveTo>
                  <a:lnTo>
                    <a:pt x="11460481" y="0"/>
                  </a:lnTo>
                  <a:lnTo>
                    <a:pt x="11460481" y="4511040"/>
                  </a:lnTo>
                  <a:lnTo>
                    <a:pt x="0" y="4511040"/>
                  </a:lnTo>
                  <a:close/>
                </a:path>
              </a:pathLst>
            </a:custGeom>
            <a:solidFill>
              <a:srgbClr val="FFFFFF"/>
            </a:solidFill>
          </p:spPr>
        </p:sp>
        <p:sp>
          <p:nvSpPr>
            <p:cNvPr name="Freeform 58" id="58"/>
            <p:cNvSpPr/>
            <p:nvPr/>
          </p:nvSpPr>
          <p:spPr>
            <a:xfrm flipH="false" flipV="false" rot="0">
              <a:off x="0" y="0"/>
              <a:ext cx="11494262" cy="4544822"/>
            </a:xfrm>
            <a:custGeom>
              <a:avLst/>
              <a:gdLst/>
              <a:ahLst/>
              <a:cxnLst/>
              <a:rect r="r" b="b" t="t" l="l"/>
              <a:pathLst>
                <a:path h="4544822" w="11494262">
                  <a:moveTo>
                    <a:pt x="16891" y="0"/>
                  </a:moveTo>
                  <a:lnTo>
                    <a:pt x="11477372" y="0"/>
                  </a:lnTo>
                  <a:cubicBezTo>
                    <a:pt x="11486769" y="0"/>
                    <a:pt x="11494262" y="7620"/>
                    <a:pt x="11494262" y="16891"/>
                  </a:cubicBezTo>
                  <a:lnTo>
                    <a:pt x="11494262" y="4527931"/>
                  </a:lnTo>
                  <a:cubicBezTo>
                    <a:pt x="11494262" y="4537329"/>
                    <a:pt x="11486642" y="4544822"/>
                    <a:pt x="11477372"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1477372" y="4511040"/>
                  </a:lnTo>
                  <a:lnTo>
                    <a:pt x="11477372" y="4527931"/>
                  </a:lnTo>
                  <a:lnTo>
                    <a:pt x="11460480" y="4527931"/>
                  </a:lnTo>
                  <a:lnTo>
                    <a:pt x="11460480" y="16891"/>
                  </a:lnTo>
                  <a:lnTo>
                    <a:pt x="11477372" y="16891"/>
                  </a:lnTo>
                  <a:lnTo>
                    <a:pt x="11477372" y="33909"/>
                  </a:lnTo>
                  <a:lnTo>
                    <a:pt x="16891" y="33909"/>
                  </a:lnTo>
                  <a:close/>
                </a:path>
              </a:pathLst>
            </a:custGeom>
            <a:solidFill>
              <a:srgbClr val="E2E8F0"/>
            </a:solidFill>
          </p:spPr>
        </p:sp>
      </p:grpSp>
      <p:grpSp>
        <p:nvGrpSpPr>
          <p:cNvPr name="Group 59" id="59"/>
          <p:cNvGrpSpPr/>
          <p:nvPr/>
        </p:nvGrpSpPr>
        <p:grpSpPr>
          <a:xfrm rot="0">
            <a:off x="9497063" y="5930903"/>
            <a:ext cx="354587" cy="3408683"/>
            <a:chOff x="0" y="0"/>
            <a:chExt cx="472783" cy="4544911"/>
          </a:xfrm>
        </p:grpSpPr>
        <p:sp>
          <p:nvSpPr>
            <p:cNvPr name="Freeform 60" id="60"/>
            <p:cNvSpPr/>
            <p:nvPr/>
          </p:nvSpPr>
          <p:spPr>
            <a:xfrm flipH="false" flipV="false" rot="0">
              <a:off x="16891" y="16891"/>
              <a:ext cx="438912" cy="4511040"/>
            </a:xfrm>
            <a:custGeom>
              <a:avLst/>
              <a:gdLst/>
              <a:ahLst/>
              <a:cxnLst/>
              <a:rect r="r" b="b" t="t" l="l"/>
              <a:pathLst>
                <a:path h="4511040" w="438912">
                  <a:moveTo>
                    <a:pt x="0" y="0"/>
                  </a:moveTo>
                  <a:lnTo>
                    <a:pt x="438912" y="0"/>
                  </a:lnTo>
                  <a:lnTo>
                    <a:pt x="438912" y="4511040"/>
                  </a:lnTo>
                  <a:lnTo>
                    <a:pt x="0" y="4511040"/>
                  </a:lnTo>
                  <a:close/>
                </a:path>
              </a:pathLst>
            </a:custGeom>
            <a:solidFill>
              <a:srgbClr val="0D9488"/>
            </a:solidFill>
          </p:spPr>
        </p:sp>
        <p:sp>
          <p:nvSpPr>
            <p:cNvPr name="Freeform 61" id="61"/>
            <p:cNvSpPr/>
            <p:nvPr/>
          </p:nvSpPr>
          <p:spPr>
            <a:xfrm flipH="false" flipV="false" rot="0">
              <a:off x="0" y="0"/>
              <a:ext cx="472694" cy="4544822"/>
            </a:xfrm>
            <a:custGeom>
              <a:avLst/>
              <a:gdLst/>
              <a:ahLst/>
              <a:cxnLst/>
              <a:rect r="r" b="b" t="t" l="l"/>
              <a:pathLst>
                <a:path h="4544822" w="472694">
                  <a:moveTo>
                    <a:pt x="16891" y="0"/>
                  </a:moveTo>
                  <a:lnTo>
                    <a:pt x="455803" y="0"/>
                  </a:lnTo>
                  <a:cubicBezTo>
                    <a:pt x="465201" y="0"/>
                    <a:pt x="472694" y="7620"/>
                    <a:pt x="472694" y="16891"/>
                  </a:cubicBezTo>
                  <a:lnTo>
                    <a:pt x="472694" y="4527931"/>
                  </a:lnTo>
                  <a:cubicBezTo>
                    <a:pt x="472694" y="4537329"/>
                    <a:pt x="465074" y="4544822"/>
                    <a:pt x="455803"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455803" y="4511040"/>
                  </a:lnTo>
                  <a:lnTo>
                    <a:pt x="455803" y="4527931"/>
                  </a:lnTo>
                  <a:lnTo>
                    <a:pt x="438912" y="4527931"/>
                  </a:lnTo>
                  <a:lnTo>
                    <a:pt x="438912" y="16891"/>
                  </a:lnTo>
                  <a:lnTo>
                    <a:pt x="455803" y="16891"/>
                  </a:lnTo>
                  <a:lnTo>
                    <a:pt x="455803" y="33909"/>
                  </a:lnTo>
                  <a:lnTo>
                    <a:pt x="16891" y="33909"/>
                  </a:lnTo>
                  <a:close/>
                </a:path>
              </a:pathLst>
            </a:custGeom>
            <a:solidFill>
              <a:srgbClr val="0D9488"/>
            </a:solidFill>
          </p:spPr>
        </p:sp>
      </p:grpSp>
      <p:grpSp>
        <p:nvGrpSpPr>
          <p:cNvPr name="Group 62" id="62"/>
          <p:cNvGrpSpPr/>
          <p:nvPr/>
        </p:nvGrpSpPr>
        <p:grpSpPr>
          <a:xfrm rot="0">
            <a:off x="10021824" y="6163056"/>
            <a:ext cx="7863840" cy="640080"/>
            <a:chOff x="0" y="0"/>
            <a:chExt cx="10485120" cy="853440"/>
          </a:xfrm>
        </p:grpSpPr>
        <p:sp>
          <p:nvSpPr>
            <p:cNvPr name="Freeform 63" id="63"/>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64" id="64"/>
            <p:cNvSpPr txBox="true"/>
            <p:nvPr/>
          </p:nvSpPr>
          <p:spPr>
            <a:xfrm>
              <a:off x="0" y="-57150"/>
              <a:ext cx="10485120" cy="910590"/>
            </a:xfrm>
            <a:prstGeom prst="rect">
              <a:avLst/>
            </a:prstGeom>
          </p:spPr>
          <p:txBody>
            <a:bodyPr anchor="ctr" rtlCol="false" tIns="0" lIns="0" bIns="0" rIns="0"/>
            <a:lstStyle/>
            <a:p>
              <a:pPr algn="l">
                <a:lnSpc>
                  <a:spcPts val="3120"/>
                </a:lnSpc>
              </a:pPr>
              <a:r>
                <a:rPr lang="en-US" sz="2600" b="true">
                  <a:solidFill>
                    <a:srgbClr val="0D9488"/>
                  </a:solidFill>
                  <a:latin typeface="Calibri (MS) Bold"/>
                  <a:ea typeface="Calibri (MS) Bold"/>
                  <a:cs typeface="Calibri (MS) Bold"/>
                  <a:sym typeface="Calibri (MS) Bold"/>
                </a:rPr>
                <a:t>  Chart.js</a:t>
              </a:r>
            </a:p>
          </p:txBody>
        </p:sp>
      </p:grpSp>
      <p:grpSp>
        <p:nvGrpSpPr>
          <p:cNvPr name="Group 65" id="65"/>
          <p:cNvGrpSpPr/>
          <p:nvPr/>
        </p:nvGrpSpPr>
        <p:grpSpPr>
          <a:xfrm rot="0">
            <a:off x="10021824" y="6858000"/>
            <a:ext cx="7863840" cy="2194560"/>
            <a:chOff x="0" y="0"/>
            <a:chExt cx="10485120" cy="2926080"/>
          </a:xfrm>
        </p:grpSpPr>
        <p:sp>
          <p:nvSpPr>
            <p:cNvPr name="Freeform 66" id="66"/>
            <p:cNvSpPr/>
            <p:nvPr/>
          </p:nvSpPr>
          <p:spPr>
            <a:xfrm flipH="false" flipV="false" rot="0">
              <a:off x="0" y="0"/>
              <a:ext cx="10485120" cy="2926080"/>
            </a:xfrm>
            <a:custGeom>
              <a:avLst/>
              <a:gdLst/>
              <a:ahLst/>
              <a:cxnLst/>
              <a:rect r="r" b="b" t="t" l="l"/>
              <a:pathLst>
                <a:path h="2926080" w="10485120">
                  <a:moveTo>
                    <a:pt x="0" y="0"/>
                  </a:moveTo>
                  <a:lnTo>
                    <a:pt x="10485120" y="0"/>
                  </a:lnTo>
                  <a:lnTo>
                    <a:pt x="10485120" y="2926080"/>
                  </a:lnTo>
                  <a:lnTo>
                    <a:pt x="0" y="2926080"/>
                  </a:lnTo>
                  <a:close/>
                </a:path>
              </a:pathLst>
            </a:custGeom>
            <a:blipFill>
              <a:blip r:embed="rId2">
                <a:alphaModFix amt="0"/>
              </a:blip>
              <a:stretch>
                <a:fillRect l="0" t="-19821" r="0" b="-19821"/>
              </a:stretch>
            </a:blipFill>
          </p:spPr>
        </p:sp>
        <p:sp>
          <p:nvSpPr>
            <p:cNvPr name="TextBox 67" id="67"/>
            <p:cNvSpPr txBox="true"/>
            <p:nvPr/>
          </p:nvSpPr>
          <p:spPr>
            <a:xfrm>
              <a:off x="0" y="-47625"/>
              <a:ext cx="10485120" cy="2973705"/>
            </a:xfrm>
            <a:prstGeom prst="rect">
              <a:avLst/>
            </a:prstGeom>
          </p:spPr>
          <p:txBody>
            <a:bodyPr anchor="ctr" rtlCol="false" tIns="0" lIns="0" bIns="0" rIns="0"/>
            <a:lstStyle/>
            <a:p>
              <a:pPr algn="l">
                <a:lnSpc>
                  <a:spcPts val="2639"/>
                </a:lnSpc>
              </a:pPr>
              <a:r>
                <a:rPr lang="en-US" sz="2199">
                  <a:solidFill>
                    <a:srgbClr val="64748B"/>
                  </a:solidFill>
                  <a:latin typeface="Calibri (MS)"/>
                  <a:ea typeface="Calibri (MS)"/>
                  <a:cs typeface="Calibri (MS)"/>
                  <a:sym typeface="Calibri (MS)"/>
                </a:rPr>
                <a:t>Bibliothèque de graphiques : diagrammes, courbes et camemberts pour visualiser les résultats.</a:t>
              </a:r>
            </a:p>
            <a:p>
              <a:pPr algn="l">
                <a:lnSpc>
                  <a:spcPts val="2639"/>
                </a:lnSpc>
              </a:pPr>
            </a:p>
            <a:p>
              <a:pPr algn="l">
                <a:lnSpc>
                  <a:spcPts val="2640"/>
                </a:lnSpc>
              </a:pPr>
              <a:r>
                <a:rPr lang="en-US" sz="2200">
                  <a:solidFill>
                    <a:srgbClr val="64748B"/>
                  </a:solidFill>
                  <a:latin typeface="Calibri (MS)"/>
                  <a:ea typeface="Calibri (MS)"/>
                  <a:cs typeface="Calibri (MS)"/>
                  <a:sym typeface="Calibri (MS)"/>
                </a:rPr>
                <a:t>Permet d’afficher les résultats de sondages sous formes de barres , courbes , camemberts.</a:t>
              </a:r>
            </a:p>
          </p:txBody>
        </p:sp>
      </p:grpSp>
      <p:grpSp>
        <p:nvGrpSpPr>
          <p:cNvPr name="Group 68" id="68"/>
          <p:cNvGrpSpPr/>
          <p:nvPr/>
        </p:nvGrpSpPr>
        <p:grpSpPr>
          <a:xfrm rot="0">
            <a:off x="-1280160" y="1551432"/>
            <a:ext cx="16824960" cy="694944"/>
            <a:chOff x="0" y="0"/>
            <a:chExt cx="22433280" cy="926592"/>
          </a:xfrm>
        </p:grpSpPr>
        <p:sp>
          <p:nvSpPr>
            <p:cNvPr name="Freeform 69" id="69"/>
            <p:cNvSpPr/>
            <p:nvPr/>
          </p:nvSpPr>
          <p:spPr>
            <a:xfrm flipH="false" flipV="false" rot="0">
              <a:off x="0" y="0"/>
              <a:ext cx="22433280" cy="926592"/>
            </a:xfrm>
            <a:custGeom>
              <a:avLst/>
              <a:gdLst/>
              <a:ahLst/>
              <a:cxnLst/>
              <a:rect r="r" b="b" t="t" l="l"/>
              <a:pathLst>
                <a:path h="926592" w="22433280">
                  <a:moveTo>
                    <a:pt x="0" y="0"/>
                  </a:moveTo>
                  <a:lnTo>
                    <a:pt x="22433280" y="0"/>
                  </a:lnTo>
                  <a:lnTo>
                    <a:pt x="22433280" y="926592"/>
                  </a:lnTo>
                  <a:lnTo>
                    <a:pt x="0" y="926592"/>
                  </a:lnTo>
                  <a:close/>
                </a:path>
              </a:pathLst>
            </a:custGeom>
            <a:blipFill>
              <a:blip r:embed="rId2">
                <a:alphaModFix amt="0"/>
              </a:blip>
              <a:stretch>
                <a:fillRect l="0" t="-421743" r="0" b="-421743"/>
              </a:stretch>
            </a:blipFill>
          </p:spPr>
        </p:sp>
        <p:sp>
          <p:nvSpPr>
            <p:cNvPr name="TextBox 70" id="70"/>
            <p:cNvSpPr txBox="true"/>
            <p:nvPr/>
          </p:nvSpPr>
          <p:spPr>
            <a:xfrm>
              <a:off x="0" y="-38100"/>
              <a:ext cx="22433280" cy="964692"/>
            </a:xfrm>
            <a:prstGeom prst="rect">
              <a:avLst/>
            </a:prstGeom>
          </p:spPr>
          <p:txBody>
            <a:bodyPr anchor="ctr" rtlCol="false" tIns="0" lIns="0" bIns="0" rIns="0"/>
            <a:lstStyle/>
            <a:p>
              <a:pPr algn="ctr">
                <a:lnSpc>
                  <a:spcPts val="2400"/>
                </a:lnSpc>
              </a:pPr>
              <a:r>
                <a:rPr lang="en-US" sz="2000">
                  <a:solidFill>
                    <a:srgbClr val="1A2B4A"/>
                  </a:solidFill>
                  <a:latin typeface="Calibri (MS)"/>
                  <a:ea typeface="Calibri (MS)"/>
                  <a:cs typeface="Calibri (MS)"/>
                  <a:sym typeface="Calibri (MS)"/>
                </a:rPr>
                <a:t>Frontend permet : affichage des sondages • saisie des réponses • visualisation des résultats • navigation intuitive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2B4A"/>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B4A"/>
            </a:solidFill>
          </p:spPr>
        </p:sp>
      </p:grpSp>
      <p:grpSp>
        <p:nvGrpSpPr>
          <p:cNvPr name="Group 5" id="5"/>
          <p:cNvGrpSpPr/>
          <p:nvPr/>
        </p:nvGrpSpPr>
        <p:grpSpPr>
          <a:xfrm rot="0">
            <a:off x="-12697" y="1358903"/>
            <a:ext cx="18313403" cy="135131"/>
            <a:chOff x="0" y="0"/>
            <a:chExt cx="24417871" cy="180175"/>
          </a:xfrm>
        </p:grpSpPr>
        <p:sp>
          <p:nvSpPr>
            <p:cNvPr name="Freeform 6" id="6"/>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0D9488"/>
            </a:solidFill>
          </p:spPr>
        </p:sp>
        <p:sp>
          <p:nvSpPr>
            <p:cNvPr name="Freeform 7" id="7"/>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0D9488"/>
            </a:solidFill>
          </p:spPr>
        </p:sp>
      </p:grpSp>
      <p:grpSp>
        <p:nvGrpSpPr>
          <p:cNvPr name="Group 8" id="8"/>
          <p:cNvGrpSpPr/>
          <p:nvPr/>
        </p:nvGrpSpPr>
        <p:grpSpPr>
          <a:xfrm rot="0">
            <a:off x="621797" y="33528"/>
            <a:ext cx="14630400" cy="1371600"/>
            <a:chOff x="0" y="0"/>
            <a:chExt cx="19507200" cy="1828800"/>
          </a:xfrm>
        </p:grpSpPr>
        <p:sp>
          <p:nvSpPr>
            <p:cNvPr name="Freeform 9" id="9"/>
            <p:cNvSpPr/>
            <p:nvPr/>
          </p:nvSpPr>
          <p:spPr>
            <a:xfrm flipH="false" flipV="false" rot="0">
              <a:off x="0" y="0"/>
              <a:ext cx="19507200" cy="1828800"/>
            </a:xfrm>
            <a:custGeom>
              <a:avLst/>
              <a:gdLst/>
              <a:ahLst/>
              <a:cxnLst/>
              <a:rect r="r" b="b" t="t" l="l"/>
              <a:pathLst>
                <a:path h="1828800" w="19507200">
                  <a:moveTo>
                    <a:pt x="0" y="0"/>
                  </a:moveTo>
                  <a:lnTo>
                    <a:pt x="19507200" y="0"/>
                  </a:lnTo>
                  <a:lnTo>
                    <a:pt x="19507200" y="1828800"/>
                  </a:lnTo>
                  <a:lnTo>
                    <a:pt x="0" y="1828800"/>
                  </a:lnTo>
                  <a:close/>
                </a:path>
              </a:pathLst>
            </a:custGeom>
            <a:blipFill>
              <a:blip r:embed="rId2">
                <a:alphaModFix amt="0"/>
              </a:blip>
              <a:stretch>
                <a:fillRect l="0" t="-157840" r="0" b="-157840"/>
              </a:stretch>
            </a:blipFill>
          </p:spPr>
        </p:sp>
        <p:sp>
          <p:nvSpPr>
            <p:cNvPr name="TextBox 10" id="10"/>
            <p:cNvSpPr txBox="true"/>
            <p:nvPr/>
          </p:nvSpPr>
          <p:spPr>
            <a:xfrm>
              <a:off x="0" y="-76200"/>
              <a:ext cx="1950720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Conception UML — Use Case Diagram</a:t>
              </a:r>
            </a:p>
          </p:txBody>
        </p:sp>
      </p:grpSp>
      <p:grpSp>
        <p:nvGrpSpPr>
          <p:cNvPr name="Group 11" id="11"/>
          <p:cNvGrpSpPr/>
          <p:nvPr/>
        </p:nvGrpSpPr>
        <p:grpSpPr>
          <a:xfrm rot="0">
            <a:off x="434340" y="1486919"/>
            <a:ext cx="16824960" cy="512064"/>
            <a:chOff x="0" y="0"/>
            <a:chExt cx="22433280" cy="682752"/>
          </a:xfrm>
        </p:grpSpPr>
        <p:sp>
          <p:nvSpPr>
            <p:cNvPr name="Freeform 12" id="12"/>
            <p:cNvSpPr/>
            <p:nvPr/>
          </p:nvSpPr>
          <p:spPr>
            <a:xfrm flipH="false" flipV="false" rot="0">
              <a:off x="0" y="0"/>
              <a:ext cx="22433280" cy="682752"/>
            </a:xfrm>
            <a:custGeom>
              <a:avLst/>
              <a:gdLst/>
              <a:ahLst/>
              <a:cxnLst/>
              <a:rect r="r" b="b" t="t" l="l"/>
              <a:pathLst>
                <a:path h="682752" w="22433280">
                  <a:moveTo>
                    <a:pt x="0" y="0"/>
                  </a:moveTo>
                  <a:lnTo>
                    <a:pt x="22433280" y="0"/>
                  </a:lnTo>
                  <a:lnTo>
                    <a:pt x="22433280" y="682752"/>
                  </a:lnTo>
                  <a:lnTo>
                    <a:pt x="0" y="682752"/>
                  </a:lnTo>
                  <a:close/>
                </a:path>
              </a:pathLst>
            </a:custGeom>
            <a:blipFill>
              <a:blip r:embed="rId2">
                <a:alphaModFix amt="0"/>
              </a:blip>
              <a:stretch>
                <a:fillRect l="0" t="-590222" r="0" b="-590222"/>
              </a:stretch>
            </a:blipFill>
          </p:spPr>
        </p:sp>
        <p:sp>
          <p:nvSpPr>
            <p:cNvPr name="TextBox 13" id="13"/>
            <p:cNvSpPr txBox="true"/>
            <p:nvPr/>
          </p:nvSpPr>
          <p:spPr>
            <a:xfrm>
              <a:off x="0" y="-47625"/>
              <a:ext cx="22433280" cy="730377"/>
            </a:xfrm>
            <a:prstGeom prst="rect">
              <a:avLst/>
            </a:prstGeom>
          </p:spPr>
          <p:txBody>
            <a:bodyPr anchor="ctr" rtlCol="false" tIns="0" lIns="0" bIns="0" rIns="0"/>
            <a:lstStyle/>
            <a:p>
              <a:pPr algn="l">
                <a:lnSpc>
                  <a:spcPts val="2640"/>
                </a:lnSpc>
              </a:pPr>
              <a:r>
                <a:rPr lang="en-US" sz="2200">
                  <a:solidFill>
                    <a:srgbClr val="0D9488"/>
                  </a:solidFill>
                  <a:latin typeface="Calibri (MS)"/>
                  <a:ea typeface="Calibri (MS)"/>
                  <a:cs typeface="Calibri (MS)"/>
                  <a:sym typeface="Calibri (MS)"/>
                </a:rPr>
                <a:t>Acteurs : Utilisateur, Créateur, Admin — Système : SGBD</a:t>
              </a:r>
            </a:p>
          </p:txBody>
        </p:sp>
      </p:grpSp>
      <p:grpSp>
        <p:nvGrpSpPr>
          <p:cNvPr name="Group 14" id="14"/>
          <p:cNvGrpSpPr/>
          <p:nvPr/>
        </p:nvGrpSpPr>
        <p:grpSpPr>
          <a:xfrm rot="0">
            <a:off x="-12697" y="9817103"/>
            <a:ext cx="18313403" cy="482603"/>
            <a:chOff x="0" y="0"/>
            <a:chExt cx="24417871" cy="643471"/>
          </a:xfrm>
        </p:grpSpPr>
        <p:sp>
          <p:nvSpPr>
            <p:cNvPr name="Freeform 15" id="15"/>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16" id="16"/>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17" id="17"/>
          <p:cNvGrpSpPr/>
          <p:nvPr/>
        </p:nvGrpSpPr>
        <p:grpSpPr>
          <a:xfrm rot="0">
            <a:off x="548640" y="9829800"/>
            <a:ext cx="12801600" cy="457200"/>
            <a:chOff x="0" y="0"/>
            <a:chExt cx="17068800" cy="609600"/>
          </a:xfrm>
        </p:grpSpPr>
        <p:sp>
          <p:nvSpPr>
            <p:cNvPr name="Freeform 18" id="18"/>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19" id="19"/>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Python-Django</a:t>
              </a:r>
            </a:p>
          </p:txBody>
        </p:sp>
      </p:grpSp>
      <p:grpSp>
        <p:nvGrpSpPr>
          <p:cNvPr name="Group 20" id="20"/>
          <p:cNvGrpSpPr/>
          <p:nvPr/>
        </p:nvGrpSpPr>
        <p:grpSpPr>
          <a:xfrm rot="0">
            <a:off x="15544800" y="9829800"/>
            <a:ext cx="2194560" cy="457200"/>
            <a:chOff x="0" y="0"/>
            <a:chExt cx="2926080" cy="609600"/>
          </a:xfrm>
        </p:grpSpPr>
        <p:sp>
          <p:nvSpPr>
            <p:cNvPr name="Freeform 21" id="21"/>
            <p:cNvSpPr/>
            <p:nvPr/>
          </p:nvSpPr>
          <p:spPr>
            <a:xfrm flipH="false" flipV="false" rot="0">
              <a:off x="0" y="0"/>
              <a:ext cx="2926080" cy="609600"/>
            </a:xfrm>
            <a:custGeom>
              <a:avLst/>
              <a:gdLst/>
              <a:ahLst/>
              <a:cxnLst/>
              <a:rect r="r" b="b" t="t" l="l"/>
              <a:pathLst>
                <a:path h="609600" w="2926080">
                  <a:moveTo>
                    <a:pt x="0" y="0"/>
                  </a:moveTo>
                  <a:lnTo>
                    <a:pt x="2926080" y="0"/>
                  </a:lnTo>
                  <a:lnTo>
                    <a:pt x="2926080" y="609600"/>
                  </a:lnTo>
                  <a:lnTo>
                    <a:pt x="0" y="609600"/>
                  </a:lnTo>
                  <a:close/>
                </a:path>
              </a:pathLst>
            </a:custGeom>
            <a:blipFill>
              <a:blip r:embed="rId2">
                <a:alphaModFix amt="0"/>
              </a:blip>
              <a:stretch>
                <a:fillRect l="0" t="-43528" r="0" b="-43528"/>
              </a:stretch>
            </a:blipFill>
          </p:spPr>
        </p:sp>
        <p:sp>
          <p:nvSpPr>
            <p:cNvPr name="TextBox 22" id="22"/>
            <p:cNvSpPr txBox="true"/>
            <p:nvPr/>
          </p:nvSpPr>
          <p:spPr>
            <a:xfrm>
              <a:off x="0" y="-28575"/>
              <a:ext cx="2926080" cy="638175"/>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6</a:t>
              </a:r>
              <a:r>
                <a:rPr lang="en-US" sz="1600">
                  <a:solidFill>
                    <a:srgbClr val="AABBCC"/>
                  </a:solidFill>
                  <a:latin typeface="Calibri (MS)"/>
                  <a:ea typeface="Calibri (MS)"/>
                  <a:cs typeface="Calibri (MS)"/>
                  <a:sym typeface="Calibri (MS)"/>
                </a:rPr>
                <a:t> / 8</a:t>
              </a:r>
            </a:p>
          </p:txBody>
        </p:sp>
      </p:grpSp>
      <p:grpSp>
        <p:nvGrpSpPr>
          <p:cNvPr name="Group 23" id="23"/>
          <p:cNvGrpSpPr/>
          <p:nvPr/>
        </p:nvGrpSpPr>
        <p:grpSpPr>
          <a:xfrm rot="0">
            <a:off x="444503" y="1998983"/>
            <a:ext cx="5877563" cy="2311403"/>
            <a:chOff x="0" y="0"/>
            <a:chExt cx="7836751" cy="3081871"/>
          </a:xfrm>
        </p:grpSpPr>
        <p:sp>
          <p:nvSpPr>
            <p:cNvPr name="Freeform 24" id="24"/>
            <p:cNvSpPr/>
            <p:nvPr/>
          </p:nvSpPr>
          <p:spPr>
            <a:xfrm flipH="false" flipV="false" rot="0">
              <a:off x="16891" y="16891"/>
              <a:ext cx="7802881" cy="3048000"/>
            </a:xfrm>
            <a:custGeom>
              <a:avLst/>
              <a:gdLst/>
              <a:ahLst/>
              <a:cxnLst/>
              <a:rect r="r" b="b" t="t" l="l"/>
              <a:pathLst>
                <a:path h="3048000" w="7802881">
                  <a:moveTo>
                    <a:pt x="0" y="0"/>
                  </a:moveTo>
                  <a:lnTo>
                    <a:pt x="7802881" y="0"/>
                  </a:lnTo>
                  <a:lnTo>
                    <a:pt x="7802881" y="3048000"/>
                  </a:lnTo>
                  <a:lnTo>
                    <a:pt x="0" y="3048000"/>
                  </a:lnTo>
                  <a:close/>
                </a:path>
              </a:pathLst>
            </a:custGeom>
            <a:solidFill>
              <a:srgbClr val="FFFFFF"/>
            </a:solidFill>
          </p:spPr>
        </p:sp>
        <p:sp>
          <p:nvSpPr>
            <p:cNvPr name="Freeform 25" id="25"/>
            <p:cNvSpPr/>
            <p:nvPr/>
          </p:nvSpPr>
          <p:spPr>
            <a:xfrm flipH="false" flipV="false" rot="0">
              <a:off x="0" y="0"/>
              <a:ext cx="7836662" cy="3081782"/>
            </a:xfrm>
            <a:custGeom>
              <a:avLst/>
              <a:gdLst/>
              <a:ahLst/>
              <a:cxnLst/>
              <a:rect r="r" b="b" t="t" l="l"/>
              <a:pathLst>
                <a:path h="3081782" w="7836662">
                  <a:moveTo>
                    <a:pt x="16891" y="0"/>
                  </a:moveTo>
                  <a:lnTo>
                    <a:pt x="7819772" y="0"/>
                  </a:lnTo>
                  <a:cubicBezTo>
                    <a:pt x="7829169" y="0"/>
                    <a:pt x="7836662" y="7620"/>
                    <a:pt x="7836662" y="16891"/>
                  </a:cubicBezTo>
                  <a:lnTo>
                    <a:pt x="7836662" y="3064891"/>
                  </a:lnTo>
                  <a:cubicBezTo>
                    <a:pt x="7836662" y="3074289"/>
                    <a:pt x="7829042" y="3081782"/>
                    <a:pt x="7819772"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7819772" y="3048000"/>
                  </a:lnTo>
                  <a:lnTo>
                    <a:pt x="7819772" y="3064891"/>
                  </a:lnTo>
                  <a:lnTo>
                    <a:pt x="7802880" y="3064891"/>
                  </a:lnTo>
                  <a:lnTo>
                    <a:pt x="7802880" y="16891"/>
                  </a:lnTo>
                  <a:lnTo>
                    <a:pt x="7819772" y="16891"/>
                  </a:lnTo>
                  <a:lnTo>
                    <a:pt x="7819772" y="33909"/>
                  </a:lnTo>
                  <a:lnTo>
                    <a:pt x="16891" y="33909"/>
                  </a:lnTo>
                  <a:close/>
                </a:path>
              </a:pathLst>
            </a:custGeom>
            <a:solidFill>
              <a:srgbClr val="E2E8F0"/>
            </a:solidFill>
          </p:spPr>
        </p:sp>
      </p:grpSp>
      <p:grpSp>
        <p:nvGrpSpPr>
          <p:cNvPr name="Group 26" id="26"/>
          <p:cNvGrpSpPr/>
          <p:nvPr/>
        </p:nvGrpSpPr>
        <p:grpSpPr>
          <a:xfrm rot="0">
            <a:off x="444503" y="1998983"/>
            <a:ext cx="354587" cy="2311403"/>
            <a:chOff x="0" y="0"/>
            <a:chExt cx="472783" cy="3081871"/>
          </a:xfrm>
        </p:grpSpPr>
        <p:sp>
          <p:nvSpPr>
            <p:cNvPr name="Freeform 27" id="27"/>
            <p:cNvSpPr/>
            <p:nvPr/>
          </p:nvSpPr>
          <p:spPr>
            <a:xfrm flipH="false" flipV="false" rot="0">
              <a:off x="16891" y="16891"/>
              <a:ext cx="438912" cy="3048000"/>
            </a:xfrm>
            <a:custGeom>
              <a:avLst/>
              <a:gdLst/>
              <a:ahLst/>
              <a:cxnLst/>
              <a:rect r="r" b="b" t="t" l="l"/>
              <a:pathLst>
                <a:path h="3048000" w="438912">
                  <a:moveTo>
                    <a:pt x="0" y="0"/>
                  </a:moveTo>
                  <a:lnTo>
                    <a:pt x="438912" y="0"/>
                  </a:lnTo>
                  <a:lnTo>
                    <a:pt x="438912" y="3048000"/>
                  </a:lnTo>
                  <a:lnTo>
                    <a:pt x="0" y="3048000"/>
                  </a:lnTo>
                  <a:close/>
                </a:path>
              </a:pathLst>
            </a:custGeom>
            <a:solidFill>
              <a:srgbClr val="0D9488"/>
            </a:solidFill>
          </p:spPr>
        </p:sp>
        <p:sp>
          <p:nvSpPr>
            <p:cNvPr name="Freeform 28" id="28"/>
            <p:cNvSpPr/>
            <p:nvPr/>
          </p:nvSpPr>
          <p:spPr>
            <a:xfrm flipH="false" flipV="false" rot="0">
              <a:off x="0" y="0"/>
              <a:ext cx="472694" cy="3081782"/>
            </a:xfrm>
            <a:custGeom>
              <a:avLst/>
              <a:gdLst/>
              <a:ahLst/>
              <a:cxnLst/>
              <a:rect r="r" b="b" t="t" l="l"/>
              <a:pathLst>
                <a:path h="3081782" w="472694">
                  <a:moveTo>
                    <a:pt x="16891" y="0"/>
                  </a:moveTo>
                  <a:lnTo>
                    <a:pt x="455803" y="0"/>
                  </a:lnTo>
                  <a:cubicBezTo>
                    <a:pt x="465201" y="0"/>
                    <a:pt x="472694" y="7620"/>
                    <a:pt x="472694" y="16891"/>
                  </a:cubicBezTo>
                  <a:lnTo>
                    <a:pt x="472694" y="3064891"/>
                  </a:lnTo>
                  <a:cubicBezTo>
                    <a:pt x="472694" y="3074289"/>
                    <a:pt x="465074" y="3081782"/>
                    <a:pt x="455803"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455803" y="3048000"/>
                  </a:lnTo>
                  <a:lnTo>
                    <a:pt x="455803" y="3064891"/>
                  </a:lnTo>
                  <a:lnTo>
                    <a:pt x="438912" y="3064891"/>
                  </a:lnTo>
                  <a:lnTo>
                    <a:pt x="438912" y="16891"/>
                  </a:lnTo>
                  <a:lnTo>
                    <a:pt x="455803" y="16891"/>
                  </a:lnTo>
                  <a:lnTo>
                    <a:pt x="455803" y="33909"/>
                  </a:lnTo>
                  <a:lnTo>
                    <a:pt x="16891" y="33909"/>
                  </a:lnTo>
                  <a:close/>
                </a:path>
              </a:pathLst>
            </a:custGeom>
            <a:solidFill>
              <a:srgbClr val="0D9488"/>
            </a:solidFill>
          </p:spPr>
        </p:sp>
      </p:grpSp>
      <p:grpSp>
        <p:nvGrpSpPr>
          <p:cNvPr name="Group 29" id="29"/>
          <p:cNvGrpSpPr/>
          <p:nvPr/>
        </p:nvGrpSpPr>
        <p:grpSpPr>
          <a:xfrm rot="0">
            <a:off x="914400" y="2157984"/>
            <a:ext cx="5120640" cy="548640"/>
            <a:chOff x="0" y="0"/>
            <a:chExt cx="6827520" cy="731520"/>
          </a:xfrm>
        </p:grpSpPr>
        <p:sp>
          <p:nvSpPr>
            <p:cNvPr name="Freeform 30" id="30"/>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31" id="31"/>
            <p:cNvSpPr txBox="true"/>
            <p:nvPr/>
          </p:nvSpPr>
          <p:spPr>
            <a:xfrm>
              <a:off x="0" y="-38100"/>
              <a:ext cx="6827520" cy="769620"/>
            </a:xfrm>
            <a:prstGeom prst="rect">
              <a:avLst/>
            </a:prstGeom>
          </p:spPr>
          <p:txBody>
            <a:bodyPr anchor="ctr" rtlCol="false" tIns="0" lIns="0" bIns="0" rIns="0"/>
            <a:lstStyle/>
            <a:p>
              <a:pPr algn="l">
                <a:lnSpc>
                  <a:spcPts val="2879"/>
                </a:lnSpc>
              </a:pPr>
              <a:r>
                <a:rPr lang="en-US" sz="2400" b="true">
                  <a:solidFill>
                    <a:srgbClr val="0D9488"/>
                  </a:solidFill>
                  <a:latin typeface="Calibri (MS) Bold"/>
                  <a:ea typeface="Calibri (MS) Bold"/>
                  <a:cs typeface="Calibri (MS) Bold"/>
                  <a:sym typeface="Calibri (MS) Bold"/>
                </a:rPr>
                <a:t>Utilisateur</a:t>
              </a:r>
            </a:p>
          </p:txBody>
        </p:sp>
      </p:grpSp>
      <p:grpSp>
        <p:nvGrpSpPr>
          <p:cNvPr name="Group 32" id="32"/>
          <p:cNvGrpSpPr/>
          <p:nvPr/>
        </p:nvGrpSpPr>
        <p:grpSpPr>
          <a:xfrm rot="0">
            <a:off x="914400" y="2779776"/>
            <a:ext cx="5212080" cy="1371600"/>
            <a:chOff x="0" y="0"/>
            <a:chExt cx="6949440" cy="1828800"/>
          </a:xfrm>
        </p:grpSpPr>
        <p:sp>
          <p:nvSpPr>
            <p:cNvPr name="Freeform 33" id="33"/>
            <p:cNvSpPr/>
            <p:nvPr/>
          </p:nvSpPr>
          <p:spPr>
            <a:xfrm flipH="false" flipV="false" rot="0">
              <a:off x="0" y="0"/>
              <a:ext cx="6949440" cy="1828800"/>
            </a:xfrm>
            <a:custGeom>
              <a:avLst/>
              <a:gdLst/>
              <a:ahLst/>
              <a:cxnLst/>
              <a:rect r="r" b="b" t="t" l="l"/>
              <a:pathLst>
                <a:path h="1828800" w="6949440">
                  <a:moveTo>
                    <a:pt x="0" y="0"/>
                  </a:moveTo>
                  <a:lnTo>
                    <a:pt x="6949440" y="0"/>
                  </a:lnTo>
                  <a:lnTo>
                    <a:pt x="6949440" y="1828800"/>
                  </a:lnTo>
                  <a:lnTo>
                    <a:pt x="0" y="1828800"/>
                  </a:lnTo>
                  <a:close/>
                </a:path>
              </a:pathLst>
            </a:custGeom>
            <a:blipFill>
              <a:blip r:embed="rId2">
                <a:alphaModFix amt="0"/>
              </a:blip>
              <a:stretch>
                <a:fillRect l="0" t="-24043" r="0" b="-24043"/>
              </a:stretch>
            </a:blipFill>
          </p:spPr>
        </p:sp>
        <p:sp>
          <p:nvSpPr>
            <p:cNvPr name="TextBox 34" id="34"/>
            <p:cNvSpPr txBox="true"/>
            <p:nvPr/>
          </p:nvSpPr>
          <p:spPr>
            <a:xfrm>
              <a:off x="0" y="-38100"/>
              <a:ext cx="6949440" cy="1866900"/>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Répond aux sondages, voit la confirmation, s'authentifie.</a:t>
              </a:r>
            </a:p>
          </p:txBody>
        </p:sp>
      </p:grpSp>
      <p:grpSp>
        <p:nvGrpSpPr>
          <p:cNvPr name="Group 35" id="35"/>
          <p:cNvGrpSpPr/>
          <p:nvPr/>
        </p:nvGrpSpPr>
        <p:grpSpPr>
          <a:xfrm rot="0">
            <a:off x="444503" y="4650743"/>
            <a:ext cx="5877563" cy="2311403"/>
            <a:chOff x="0" y="0"/>
            <a:chExt cx="7836751" cy="3081871"/>
          </a:xfrm>
        </p:grpSpPr>
        <p:sp>
          <p:nvSpPr>
            <p:cNvPr name="Freeform 36" id="36"/>
            <p:cNvSpPr/>
            <p:nvPr/>
          </p:nvSpPr>
          <p:spPr>
            <a:xfrm flipH="false" flipV="false" rot="0">
              <a:off x="16891" y="16891"/>
              <a:ext cx="7802881" cy="3048000"/>
            </a:xfrm>
            <a:custGeom>
              <a:avLst/>
              <a:gdLst/>
              <a:ahLst/>
              <a:cxnLst/>
              <a:rect r="r" b="b" t="t" l="l"/>
              <a:pathLst>
                <a:path h="3048000" w="7802881">
                  <a:moveTo>
                    <a:pt x="0" y="0"/>
                  </a:moveTo>
                  <a:lnTo>
                    <a:pt x="7802881" y="0"/>
                  </a:lnTo>
                  <a:lnTo>
                    <a:pt x="7802881" y="3048000"/>
                  </a:lnTo>
                  <a:lnTo>
                    <a:pt x="0" y="3048000"/>
                  </a:lnTo>
                  <a:close/>
                </a:path>
              </a:pathLst>
            </a:custGeom>
            <a:solidFill>
              <a:srgbClr val="FFFFFF"/>
            </a:solidFill>
          </p:spPr>
        </p:sp>
        <p:sp>
          <p:nvSpPr>
            <p:cNvPr name="Freeform 37" id="37"/>
            <p:cNvSpPr/>
            <p:nvPr/>
          </p:nvSpPr>
          <p:spPr>
            <a:xfrm flipH="false" flipV="false" rot="0">
              <a:off x="0" y="0"/>
              <a:ext cx="7836662" cy="3081782"/>
            </a:xfrm>
            <a:custGeom>
              <a:avLst/>
              <a:gdLst/>
              <a:ahLst/>
              <a:cxnLst/>
              <a:rect r="r" b="b" t="t" l="l"/>
              <a:pathLst>
                <a:path h="3081782" w="7836662">
                  <a:moveTo>
                    <a:pt x="16891" y="0"/>
                  </a:moveTo>
                  <a:lnTo>
                    <a:pt x="7819772" y="0"/>
                  </a:lnTo>
                  <a:cubicBezTo>
                    <a:pt x="7829169" y="0"/>
                    <a:pt x="7836662" y="7620"/>
                    <a:pt x="7836662" y="16891"/>
                  </a:cubicBezTo>
                  <a:lnTo>
                    <a:pt x="7836662" y="3064891"/>
                  </a:lnTo>
                  <a:cubicBezTo>
                    <a:pt x="7836662" y="3074289"/>
                    <a:pt x="7829042" y="3081782"/>
                    <a:pt x="7819772"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7819772" y="3048000"/>
                  </a:lnTo>
                  <a:lnTo>
                    <a:pt x="7819772" y="3064891"/>
                  </a:lnTo>
                  <a:lnTo>
                    <a:pt x="7802880" y="3064891"/>
                  </a:lnTo>
                  <a:lnTo>
                    <a:pt x="7802880" y="16891"/>
                  </a:lnTo>
                  <a:lnTo>
                    <a:pt x="7819772" y="16891"/>
                  </a:lnTo>
                  <a:lnTo>
                    <a:pt x="7819772" y="33909"/>
                  </a:lnTo>
                  <a:lnTo>
                    <a:pt x="16891" y="33909"/>
                  </a:lnTo>
                  <a:close/>
                </a:path>
              </a:pathLst>
            </a:custGeom>
            <a:solidFill>
              <a:srgbClr val="E2E8F0"/>
            </a:solidFill>
          </p:spPr>
        </p:sp>
      </p:grpSp>
      <p:grpSp>
        <p:nvGrpSpPr>
          <p:cNvPr name="Group 38" id="38"/>
          <p:cNvGrpSpPr/>
          <p:nvPr/>
        </p:nvGrpSpPr>
        <p:grpSpPr>
          <a:xfrm rot="0">
            <a:off x="444503" y="4650743"/>
            <a:ext cx="354587" cy="2311403"/>
            <a:chOff x="0" y="0"/>
            <a:chExt cx="472783" cy="3081871"/>
          </a:xfrm>
        </p:grpSpPr>
        <p:sp>
          <p:nvSpPr>
            <p:cNvPr name="Freeform 39" id="39"/>
            <p:cNvSpPr/>
            <p:nvPr/>
          </p:nvSpPr>
          <p:spPr>
            <a:xfrm flipH="false" flipV="false" rot="0">
              <a:off x="16891" y="16891"/>
              <a:ext cx="438912" cy="3048000"/>
            </a:xfrm>
            <a:custGeom>
              <a:avLst/>
              <a:gdLst/>
              <a:ahLst/>
              <a:cxnLst/>
              <a:rect r="r" b="b" t="t" l="l"/>
              <a:pathLst>
                <a:path h="3048000" w="438912">
                  <a:moveTo>
                    <a:pt x="0" y="0"/>
                  </a:moveTo>
                  <a:lnTo>
                    <a:pt x="438912" y="0"/>
                  </a:lnTo>
                  <a:lnTo>
                    <a:pt x="438912" y="3048000"/>
                  </a:lnTo>
                  <a:lnTo>
                    <a:pt x="0" y="3048000"/>
                  </a:lnTo>
                  <a:close/>
                </a:path>
              </a:pathLst>
            </a:custGeom>
            <a:solidFill>
              <a:srgbClr val="1A2B4A"/>
            </a:solidFill>
          </p:spPr>
        </p:sp>
        <p:sp>
          <p:nvSpPr>
            <p:cNvPr name="Freeform 40" id="40"/>
            <p:cNvSpPr/>
            <p:nvPr/>
          </p:nvSpPr>
          <p:spPr>
            <a:xfrm flipH="false" flipV="false" rot="0">
              <a:off x="0" y="0"/>
              <a:ext cx="472694" cy="3081782"/>
            </a:xfrm>
            <a:custGeom>
              <a:avLst/>
              <a:gdLst/>
              <a:ahLst/>
              <a:cxnLst/>
              <a:rect r="r" b="b" t="t" l="l"/>
              <a:pathLst>
                <a:path h="3081782" w="472694">
                  <a:moveTo>
                    <a:pt x="16891" y="0"/>
                  </a:moveTo>
                  <a:lnTo>
                    <a:pt x="455803" y="0"/>
                  </a:lnTo>
                  <a:cubicBezTo>
                    <a:pt x="465201" y="0"/>
                    <a:pt x="472694" y="7620"/>
                    <a:pt x="472694" y="16891"/>
                  </a:cubicBezTo>
                  <a:lnTo>
                    <a:pt x="472694" y="3064891"/>
                  </a:lnTo>
                  <a:cubicBezTo>
                    <a:pt x="472694" y="3074289"/>
                    <a:pt x="465074" y="3081782"/>
                    <a:pt x="455803"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455803" y="3048000"/>
                  </a:lnTo>
                  <a:lnTo>
                    <a:pt x="455803" y="3064891"/>
                  </a:lnTo>
                  <a:lnTo>
                    <a:pt x="438912" y="3064891"/>
                  </a:lnTo>
                  <a:lnTo>
                    <a:pt x="438912" y="16891"/>
                  </a:lnTo>
                  <a:lnTo>
                    <a:pt x="455803" y="16891"/>
                  </a:lnTo>
                  <a:lnTo>
                    <a:pt x="455803" y="33909"/>
                  </a:lnTo>
                  <a:lnTo>
                    <a:pt x="16891" y="33909"/>
                  </a:lnTo>
                  <a:close/>
                </a:path>
              </a:pathLst>
            </a:custGeom>
            <a:solidFill>
              <a:srgbClr val="1A2B4A"/>
            </a:solidFill>
          </p:spPr>
        </p:sp>
      </p:grpSp>
      <p:grpSp>
        <p:nvGrpSpPr>
          <p:cNvPr name="Group 41" id="41"/>
          <p:cNvGrpSpPr/>
          <p:nvPr/>
        </p:nvGrpSpPr>
        <p:grpSpPr>
          <a:xfrm rot="0">
            <a:off x="914400" y="4809744"/>
            <a:ext cx="5120640" cy="548640"/>
            <a:chOff x="0" y="0"/>
            <a:chExt cx="6827520" cy="731520"/>
          </a:xfrm>
        </p:grpSpPr>
        <p:sp>
          <p:nvSpPr>
            <p:cNvPr name="Freeform 42" id="42"/>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43" id="43"/>
            <p:cNvSpPr txBox="true"/>
            <p:nvPr/>
          </p:nvSpPr>
          <p:spPr>
            <a:xfrm>
              <a:off x="0" y="-38100"/>
              <a:ext cx="6827520" cy="769620"/>
            </a:xfrm>
            <a:prstGeom prst="rect">
              <a:avLst/>
            </a:prstGeom>
          </p:spPr>
          <p:txBody>
            <a:bodyPr anchor="ctr" rtlCol="false" tIns="0" lIns="0" bIns="0" rIns="0"/>
            <a:lstStyle/>
            <a:p>
              <a:pPr algn="l">
                <a:lnSpc>
                  <a:spcPts val="2879"/>
                </a:lnSpc>
              </a:pPr>
              <a:r>
                <a:rPr lang="en-US" sz="2400" b="true">
                  <a:solidFill>
                    <a:srgbClr val="1A2B4A"/>
                  </a:solidFill>
                  <a:latin typeface="Calibri (MS) Bold"/>
                  <a:ea typeface="Calibri (MS) Bold"/>
                  <a:cs typeface="Calibri (MS) Bold"/>
                  <a:sym typeface="Calibri (MS) Bold"/>
                </a:rPr>
                <a:t>Créateur</a:t>
              </a:r>
            </a:p>
          </p:txBody>
        </p:sp>
      </p:grpSp>
      <p:grpSp>
        <p:nvGrpSpPr>
          <p:cNvPr name="Group 44" id="44"/>
          <p:cNvGrpSpPr/>
          <p:nvPr/>
        </p:nvGrpSpPr>
        <p:grpSpPr>
          <a:xfrm rot="0">
            <a:off x="914400" y="5431536"/>
            <a:ext cx="5212080" cy="1371600"/>
            <a:chOff x="0" y="0"/>
            <a:chExt cx="6949440" cy="1828800"/>
          </a:xfrm>
        </p:grpSpPr>
        <p:sp>
          <p:nvSpPr>
            <p:cNvPr name="Freeform 45" id="45"/>
            <p:cNvSpPr/>
            <p:nvPr/>
          </p:nvSpPr>
          <p:spPr>
            <a:xfrm flipH="false" flipV="false" rot="0">
              <a:off x="0" y="0"/>
              <a:ext cx="6949440" cy="1828800"/>
            </a:xfrm>
            <a:custGeom>
              <a:avLst/>
              <a:gdLst/>
              <a:ahLst/>
              <a:cxnLst/>
              <a:rect r="r" b="b" t="t" l="l"/>
              <a:pathLst>
                <a:path h="1828800" w="6949440">
                  <a:moveTo>
                    <a:pt x="0" y="0"/>
                  </a:moveTo>
                  <a:lnTo>
                    <a:pt x="6949440" y="0"/>
                  </a:lnTo>
                  <a:lnTo>
                    <a:pt x="6949440" y="1828800"/>
                  </a:lnTo>
                  <a:lnTo>
                    <a:pt x="0" y="1828800"/>
                  </a:lnTo>
                  <a:close/>
                </a:path>
              </a:pathLst>
            </a:custGeom>
            <a:blipFill>
              <a:blip r:embed="rId2">
                <a:alphaModFix amt="0"/>
              </a:blip>
              <a:stretch>
                <a:fillRect l="0" t="-24043" r="0" b="-24043"/>
              </a:stretch>
            </a:blipFill>
          </p:spPr>
        </p:sp>
        <p:sp>
          <p:nvSpPr>
            <p:cNvPr name="TextBox 46" id="46"/>
            <p:cNvSpPr txBox="true"/>
            <p:nvPr/>
          </p:nvSpPr>
          <p:spPr>
            <a:xfrm>
              <a:off x="0" y="-38100"/>
              <a:ext cx="6949440" cy="1866900"/>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Gère les sondages, ajoute des questions, configure, diffuse, voit et exporte les résultats.</a:t>
              </a:r>
            </a:p>
          </p:txBody>
        </p:sp>
      </p:grpSp>
      <p:grpSp>
        <p:nvGrpSpPr>
          <p:cNvPr name="Group 47" id="47"/>
          <p:cNvGrpSpPr/>
          <p:nvPr/>
        </p:nvGrpSpPr>
        <p:grpSpPr>
          <a:xfrm rot="0">
            <a:off x="444503" y="7302503"/>
            <a:ext cx="5877563" cy="2311403"/>
            <a:chOff x="0" y="0"/>
            <a:chExt cx="7836751" cy="3081871"/>
          </a:xfrm>
        </p:grpSpPr>
        <p:sp>
          <p:nvSpPr>
            <p:cNvPr name="Freeform 48" id="48"/>
            <p:cNvSpPr/>
            <p:nvPr/>
          </p:nvSpPr>
          <p:spPr>
            <a:xfrm flipH="false" flipV="false" rot="0">
              <a:off x="16891" y="16891"/>
              <a:ext cx="7802881" cy="3048000"/>
            </a:xfrm>
            <a:custGeom>
              <a:avLst/>
              <a:gdLst/>
              <a:ahLst/>
              <a:cxnLst/>
              <a:rect r="r" b="b" t="t" l="l"/>
              <a:pathLst>
                <a:path h="3048000" w="7802881">
                  <a:moveTo>
                    <a:pt x="0" y="0"/>
                  </a:moveTo>
                  <a:lnTo>
                    <a:pt x="7802881" y="0"/>
                  </a:lnTo>
                  <a:lnTo>
                    <a:pt x="7802881" y="3048000"/>
                  </a:lnTo>
                  <a:lnTo>
                    <a:pt x="0" y="3048000"/>
                  </a:lnTo>
                  <a:close/>
                </a:path>
              </a:pathLst>
            </a:custGeom>
            <a:solidFill>
              <a:srgbClr val="FFFFFF"/>
            </a:solidFill>
          </p:spPr>
        </p:sp>
        <p:sp>
          <p:nvSpPr>
            <p:cNvPr name="Freeform 49" id="49"/>
            <p:cNvSpPr/>
            <p:nvPr/>
          </p:nvSpPr>
          <p:spPr>
            <a:xfrm flipH="false" flipV="false" rot="0">
              <a:off x="0" y="0"/>
              <a:ext cx="7836662" cy="3081782"/>
            </a:xfrm>
            <a:custGeom>
              <a:avLst/>
              <a:gdLst/>
              <a:ahLst/>
              <a:cxnLst/>
              <a:rect r="r" b="b" t="t" l="l"/>
              <a:pathLst>
                <a:path h="3081782" w="7836662">
                  <a:moveTo>
                    <a:pt x="16891" y="0"/>
                  </a:moveTo>
                  <a:lnTo>
                    <a:pt x="7819772" y="0"/>
                  </a:lnTo>
                  <a:cubicBezTo>
                    <a:pt x="7829169" y="0"/>
                    <a:pt x="7836662" y="7620"/>
                    <a:pt x="7836662" y="16891"/>
                  </a:cubicBezTo>
                  <a:lnTo>
                    <a:pt x="7836662" y="3064891"/>
                  </a:lnTo>
                  <a:cubicBezTo>
                    <a:pt x="7836662" y="3074289"/>
                    <a:pt x="7829042" y="3081782"/>
                    <a:pt x="7819772"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7819772" y="3048000"/>
                  </a:lnTo>
                  <a:lnTo>
                    <a:pt x="7819772" y="3064891"/>
                  </a:lnTo>
                  <a:lnTo>
                    <a:pt x="7802880" y="3064891"/>
                  </a:lnTo>
                  <a:lnTo>
                    <a:pt x="7802880" y="16891"/>
                  </a:lnTo>
                  <a:lnTo>
                    <a:pt x="7819772" y="16891"/>
                  </a:lnTo>
                  <a:lnTo>
                    <a:pt x="7819772" y="33909"/>
                  </a:lnTo>
                  <a:lnTo>
                    <a:pt x="16891" y="33909"/>
                  </a:lnTo>
                  <a:close/>
                </a:path>
              </a:pathLst>
            </a:custGeom>
            <a:solidFill>
              <a:srgbClr val="E2E8F0"/>
            </a:solidFill>
          </p:spPr>
        </p:sp>
      </p:grpSp>
      <p:grpSp>
        <p:nvGrpSpPr>
          <p:cNvPr name="Group 50" id="50"/>
          <p:cNvGrpSpPr/>
          <p:nvPr/>
        </p:nvGrpSpPr>
        <p:grpSpPr>
          <a:xfrm rot="0">
            <a:off x="444503" y="7302503"/>
            <a:ext cx="354587" cy="2311403"/>
            <a:chOff x="0" y="0"/>
            <a:chExt cx="472783" cy="3081871"/>
          </a:xfrm>
        </p:grpSpPr>
        <p:sp>
          <p:nvSpPr>
            <p:cNvPr name="Freeform 51" id="51"/>
            <p:cNvSpPr/>
            <p:nvPr/>
          </p:nvSpPr>
          <p:spPr>
            <a:xfrm flipH="false" flipV="false" rot="0">
              <a:off x="16891" y="16891"/>
              <a:ext cx="438912" cy="3048000"/>
            </a:xfrm>
            <a:custGeom>
              <a:avLst/>
              <a:gdLst/>
              <a:ahLst/>
              <a:cxnLst/>
              <a:rect r="r" b="b" t="t" l="l"/>
              <a:pathLst>
                <a:path h="3048000" w="438912">
                  <a:moveTo>
                    <a:pt x="0" y="0"/>
                  </a:moveTo>
                  <a:lnTo>
                    <a:pt x="438912" y="0"/>
                  </a:lnTo>
                  <a:lnTo>
                    <a:pt x="438912" y="3048000"/>
                  </a:lnTo>
                  <a:lnTo>
                    <a:pt x="0" y="3048000"/>
                  </a:lnTo>
                  <a:close/>
                </a:path>
              </a:pathLst>
            </a:custGeom>
            <a:solidFill>
              <a:srgbClr val="6D2E46"/>
            </a:solidFill>
          </p:spPr>
        </p:sp>
        <p:sp>
          <p:nvSpPr>
            <p:cNvPr name="Freeform 52" id="52"/>
            <p:cNvSpPr/>
            <p:nvPr/>
          </p:nvSpPr>
          <p:spPr>
            <a:xfrm flipH="false" flipV="false" rot="0">
              <a:off x="0" y="0"/>
              <a:ext cx="472694" cy="3081782"/>
            </a:xfrm>
            <a:custGeom>
              <a:avLst/>
              <a:gdLst/>
              <a:ahLst/>
              <a:cxnLst/>
              <a:rect r="r" b="b" t="t" l="l"/>
              <a:pathLst>
                <a:path h="3081782" w="472694">
                  <a:moveTo>
                    <a:pt x="16891" y="0"/>
                  </a:moveTo>
                  <a:lnTo>
                    <a:pt x="455803" y="0"/>
                  </a:lnTo>
                  <a:cubicBezTo>
                    <a:pt x="465201" y="0"/>
                    <a:pt x="472694" y="7620"/>
                    <a:pt x="472694" y="16891"/>
                  </a:cubicBezTo>
                  <a:lnTo>
                    <a:pt x="472694" y="3064891"/>
                  </a:lnTo>
                  <a:cubicBezTo>
                    <a:pt x="472694" y="3074289"/>
                    <a:pt x="465074" y="3081782"/>
                    <a:pt x="455803"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455803" y="3048000"/>
                  </a:lnTo>
                  <a:lnTo>
                    <a:pt x="455803" y="3064891"/>
                  </a:lnTo>
                  <a:lnTo>
                    <a:pt x="438912" y="3064891"/>
                  </a:lnTo>
                  <a:lnTo>
                    <a:pt x="438912" y="16891"/>
                  </a:lnTo>
                  <a:lnTo>
                    <a:pt x="455803" y="16891"/>
                  </a:lnTo>
                  <a:lnTo>
                    <a:pt x="455803" y="33909"/>
                  </a:lnTo>
                  <a:lnTo>
                    <a:pt x="16891" y="33909"/>
                  </a:lnTo>
                  <a:close/>
                </a:path>
              </a:pathLst>
            </a:custGeom>
            <a:solidFill>
              <a:srgbClr val="6D2E46"/>
            </a:solidFill>
          </p:spPr>
        </p:sp>
      </p:grpSp>
      <p:grpSp>
        <p:nvGrpSpPr>
          <p:cNvPr name="Group 53" id="53"/>
          <p:cNvGrpSpPr/>
          <p:nvPr/>
        </p:nvGrpSpPr>
        <p:grpSpPr>
          <a:xfrm rot="0">
            <a:off x="914400" y="7461504"/>
            <a:ext cx="5120640" cy="548640"/>
            <a:chOff x="0" y="0"/>
            <a:chExt cx="6827520" cy="731520"/>
          </a:xfrm>
        </p:grpSpPr>
        <p:sp>
          <p:nvSpPr>
            <p:cNvPr name="Freeform 54" id="54"/>
            <p:cNvSpPr/>
            <p:nvPr/>
          </p:nvSpPr>
          <p:spPr>
            <a:xfrm flipH="false" flipV="false" rot="0">
              <a:off x="0" y="0"/>
              <a:ext cx="6827520" cy="731520"/>
            </a:xfrm>
            <a:custGeom>
              <a:avLst/>
              <a:gdLst/>
              <a:ahLst/>
              <a:cxnLst/>
              <a:rect r="r" b="b" t="t" l="l"/>
              <a:pathLst>
                <a:path h="731520" w="6827520">
                  <a:moveTo>
                    <a:pt x="0" y="0"/>
                  </a:moveTo>
                  <a:lnTo>
                    <a:pt x="6827520" y="0"/>
                  </a:lnTo>
                  <a:lnTo>
                    <a:pt x="6827520" y="731520"/>
                  </a:lnTo>
                  <a:lnTo>
                    <a:pt x="0" y="731520"/>
                  </a:lnTo>
                  <a:close/>
                </a:path>
              </a:pathLst>
            </a:custGeom>
            <a:blipFill>
              <a:blip r:embed="rId2">
                <a:alphaModFix amt="0"/>
              </a:blip>
              <a:stretch>
                <a:fillRect l="0" t="-131860" r="0" b="-131860"/>
              </a:stretch>
            </a:blipFill>
          </p:spPr>
        </p:sp>
        <p:sp>
          <p:nvSpPr>
            <p:cNvPr name="TextBox 55" id="55"/>
            <p:cNvSpPr txBox="true"/>
            <p:nvPr/>
          </p:nvSpPr>
          <p:spPr>
            <a:xfrm>
              <a:off x="0" y="-38100"/>
              <a:ext cx="6827520" cy="769620"/>
            </a:xfrm>
            <a:prstGeom prst="rect">
              <a:avLst/>
            </a:prstGeom>
          </p:spPr>
          <p:txBody>
            <a:bodyPr anchor="ctr" rtlCol="false" tIns="0" lIns="0" bIns="0" rIns="0"/>
            <a:lstStyle/>
            <a:p>
              <a:pPr algn="l">
                <a:lnSpc>
                  <a:spcPts val="2879"/>
                </a:lnSpc>
              </a:pPr>
              <a:r>
                <a:rPr lang="en-US" sz="2400" b="true">
                  <a:solidFill>
                    <a:srgbClr val="6D2E46"/>
                  </a:solidFill>
                  <a:latin typeface="Calibri (MS) Bold"/>
                  <a:ea typeface="Calibri (MS) Bold"/>
                  <a:cs typeface="Calibri (MS) Bold"/>
                  <a:sym typeface="Calibri (MS) Bold"/>
                </a:rPr>
                <a:t>Admin</a:t>
              </a:r>
            </a:p>
          </p:txBody>
        </p:sp>
      </p:grpSp>
      <p:grpSp>
        <p:nvGrpSpPr>
          <p:cNvPr name="Group 56" id="56"/>
          <p:cNvGrpSpPr/>
          <p:nvPr/>
        </p:nvGrpSpPr>
        <p:grpSpPr>
          <a:xfrm rot="0">
            <a:off x="914400" y="8083296"/>
            <a:ext cx="5212080" cy="1371600"/>
            <a:chOff x="0" y="0"/>
            <a:chExt cx="6949440" cy="1828800"/>
          </a:xfrm>
        </p:grpSpPr>
        <p:sp>
          <p:nvSpPr>
            <p:cNvPr name="Freeform 57" id="57"/>
            <p:cNvSpPr/>
            <p:nvPr/>
          </p:nvSpPr>
          <p:spPr>
            <a:xfrm flipH="false" flipV="false" rot="0">
              <a:off x="0" y="0"/>
              <a:ext cx="6949440" cy="1828800"/>
            </a:xfrm>
            <a:custGeom>
              <a:avLst/>
              <a:gdLst/>
              <a:ahLst/>
              <a:cxnLst/>
              <a:rect r="r" b="b" t="t" l="l"/>
              <a:pathLst>
                <a:path h="1828800" w="6949440">
                  <a:moveTo>
                    <a:pt x="0" y="0"/>
                  </a:moveTo>
                  <a:lnTo>
                    <a:pt x="6949440" y="0"/>
                  </a:lnTo>
                  <a:lnTo>
                    <a:pt x="6949440" y="1828800"/>
                  </a:lnTo>
                  <a:lnTo>
                    <a:pt x="0" y="1828800"/>
                  </a:lnTo>
                  <a:close/>
                </a:path>
              </a:pathLst>
            </a:custGeom>
            <a:blipFill>
              <a:blip r:embed="rId2">
                <a:alphaModFix amt="0"/>
              </a:blip>
              <a:stretch>
                <a:fillRect l="0" t="-24043" r="0" b="-24043"/>
              </a:stretch>
            </a:blipFill>
          </p:spPr>
        </p:sp>
        <p:sp>
          <p:nvSpPr>
            <p:cNvPr name="TextBox 58" id="58"/>
            <p:cNvSpPr txBox="true"/>
            <p:nvPr/>
          </p:nvSpPr>
          <p:spPr>
            <a:xfrm>
              <a:off x="0" y="-38100"/>
              <a:ext cx="6949440" cy="1866900"/>
            </a:xfrm>
            <a:prstGeom prst="rect">
              <a:avLst/>
            </a:prstGeom>
          </p:spPr>
          <p:txBody>
            <a:bodyPr anchor="ctr" rtlCol="false" tIns="0" lIns="0" bIns="0" rIns="0"/>
            <a:lstStyle/>
            <a:p>
              <a:pPr algn="l">
                <a:lnSpc>
                  <a:spcPts val="2280"/>
                </a:lnSpc>
              </a:pPr>
              <a:r>
                <a:rPr lang="en-US" sz="1900">
                  <a:solidFill>
                    <a:srgbClr val="64748B"/>
                  </a:solidFill>
                  <a:latin typeface="Calibri (MS)"/>
                  <a:ea typeface="Calibri (MS)"/>
                  <a:cs typeface="Calibri (MS)"/>
                  <a:sym typeface="Calibri (MS)"/>
                </a:rPr>
                <a:t>Gère tous les sondages, les utilisateurs et la maintenance du système.</a:t>
              </a:r>
            </a:p>
          </p:txBody>
        </p:sp>
      </p:grpSp>
      <p:grpSp>
        <p:nvGrpSpPr>
          <p:cNvPr name="Group 59" id="59"/>
          <p:cNvGrpSpPr/>
          <p:nvPr/>
        </p:nvGrpSpPr>
        <p:grpSpPr>
          <a:xfrm rot="0">
            <a:off x="6949440" y="1896370"/>
            <a:ext cx="11127610" cy="7717536"/>
            <a:chOff x="0" y="0"/>
            <a:chExt cx="15118080" cy="10485120"/>
          </a:xfrm>
        </p:grpSpPr>
        <p:sp>
          <p:nvSpPr>
            <p:cNvPr name="Freeform 60" id="60" descr="preencoded.png"/>
            <p:cNvSpPr/>
            <p:nvPr/>
          </p:nvSpPr>
          <p:spPr>
            <a:xfrm flipH="false" flipV="false" rot="0">
              <a:off x="0" y="0"/>
              <a:ext cx="15118080" cy="10485120"/>
            </a:xfrm>
            <a:custGeom>
              <a:avLst/>
              <a:gdLst/>
              <a:ahLst/>
              <a:cxnLst/>
              <a:rect r="r" b="b" t="t" l="l"/>
              <a:pathLst>
                <a:path h="10485120" w="15118080">
                  <a:moveTo>
                    <a:pt x="0" y="0"/>
                  </a:moveTo>
                  <a:lnTo>
                    <a:pt x="15118080" y="0"/>
                  </a:lnTo>
                  <a:lnTo>
                    <a:pt x="15118080" y="10485120"/>
                  </a:lnTo>
                  <a:lnTo>
                    <a:pt x="0" y="10485120"/>
                  </a:lnTo>
                  <a:lnTo>
                    <a:pt x="0" y="0"/>
                  </a:lnTo>
                  <a:close/>
                </a:path>
              </a:pathLst>
            </a:custGeom>
            <a:blipFill>
              <a:blip r:embed="rId3"/>
              <a:stretch>
                <a:fillRect l="0" t="-90" r="0" b="-9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97003"/>
            <a:chOff x="0" y="0"/>
            <a:chExt cx="24417871" cy="1862671"/>
          </a:xfrm>
        </p:grpSpPr>
        <p:sp>
          <p:nvSpPr>
            <p:cNvPr name="Freeform 3" id="3"/>
            <p:cNvSpPr/>
            <p:nvPr/>
          </p:nvSpPr>
          <p:spPr>
            <a:xfrm flipH="false" flipV="false" rot="0">
              <a:off x="16891" y="16891"/>
              <a:ext cx="24383999" cy="1828800"/>
            </a:xfrm>
            <a:custGeom>
              <a:avLst/>
              <a:gdLst/>
              <a:ahLst/>
              <a:cxnLst/>
              <a:rect r="r" b="b" t="t" l="l"/>
              <a:pathLst>
                <a:path h="1828800" w="24383999">
                  <a:moveTo>
                    <a:pt x="0" y="0"/>
                  </a:moveTo>
                  <a:lnTo>
                    <a:pt x="24383999" y="0"/>
                  </a:lnTo>
                  <a:lnTo>
                    <a:pt x="24383999" y="1828800"/>
                  </a:lnTo>
                  <a:lnTo>
                    <a:pt x="0" y="1828800"/>
                  </a:lnTo>
                  <a:close/>
                </a:path>
              </a:pathLst>
            </a:custGeom>
            <a:solidFill>
              <a:srgbClr val="1A2B4A"/>
            </a:solidFill>
          </p:spPr>
        </p:sp>
        <p:sp>
          <p:nvSpPr>
            <p:cNvPr name="Freeform 4" id="4"/>
            <p:cNvSpPr/>
            <p:nvPr/>
          </p:nvSpPr>
          <p:spPr>
            <a:xfrm flipH="false" flipV="false" rot="0">
              <a:off x="0" y="0"/>
              <a:ext cx="24417782" cy="1862582"/>
            </a:xfrm>
            <a:custGeom>
              <a:avLst/>
              <a:gdLst/>
              <a:ahLst/>
              <a:cxnLst/>
              <a:rect r="r" b="b" t="t" l="l"/>
              <a:pathLst>
                <a:path h="1862582" w="24417782">
                  <a:moveTo>
                    <a:pt x="16891" y="0"/>
                  </a:moveTo>
                  <a:lnTo>
                    <a:pt x="24400890" y="0"/>
                  </a:lnTo>
                  <a:cubicBezTo>
                    <a:pt x="24410290" y="0"/>
                    <a:pt x="24417782" y="7620"/>
                    <a:pt x="24417782" y="16891"/>
                  </a:cubicBezTo>
                  <a:lnTo>
                    <a:pt x="24417782" y="1845691"/>
                  </a:lnTo>
                  <a:cubicBezTo>
                    <a:pt x="24417782" y="1855089"/>
                    <a:pt x="24410163" y="1862582"/>
                    <a:pt x="24400890"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24400890" y="1828800"/>
                  </a:lnTo>
                  <a:lnTo>
                    <a:pt x="24400890" y="1845691"/>
                  </a:lnTo>
                  <a:lnTo>
                    <a:pt x="24384000" y="1845691"/>
                  </a:lnTo>
                  <a:lnTo>
                    <a:pt x="24384000" y="16891"/>
                  </a:lnTo>
                  <a:lnTo>
                    <a:pt x="24400890" y="16891"/>
                  </a:lnTo>
                  <a:lnTo>
                    <a:pt x="24400890" y="33909"/>
                  </a:lnTo>
                  <a:lnTo>
                    <a:pt x="16891" y="33909"/>
                  </a:lnTo>
                  <a:close/>
                </a:path>
              </a:pathLst>
            </a:custGeom>
            <a:solidFill>
              <a:srgbClr val="1A2B4A"/>
            </a:solidFill>
          </p:spPr>
        </p:sp>
      </p:grpSp>
      <p:grpSp>
        <p:nvGrpSpPr>
          <p:cNvPr name="Group 5" id="5"/>
          <p:cNvGrpSpPr/>
          <p:nvPr/>
        </p:nvGrpSpPr>
        <p:grpSpPr>
          <a:xfrm rot="0">
            <a:off x="-12697" y="1358903"/>
            <a:ext cx="18313403" cy="135131"/>
            <a:chOff x="0" y="0"/>
            <a:chExt cx="24417871" cy="180175"/>
          </a:xfrm>
        </p:grpSpPr>
        <p:sp>
          <p:nvSpPr>
            <p:cNvPr name="Freeform 6" id="6"/>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0D9488"/>
            </a:solidFill>
          </p:spPr>
        </p:sp>
        <p:sp>
          <p:nvSpPr>
            <p:cNvPr name="Freeform 7" id="7"/>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0D9488"/>
            </a:solidFill>
          </p:spPr>
        </p:sp>
      </p:grpSp>
      <p:grpSp>
        <p:nvGrpSpPr>
          <p:cNvPr name="Group 8" id="8"/>
          <p:cNvGrpSpPr/>
          <p:nvPr/>
        </p:nvGrpSpPr>
        <p:grpSpPr>
          <a:xfrm rot="0">
            <a:off x="731520" y="0"/>
            <a:ext cx="14630400" cy="1371600"/>
            <a:chOff x="0" y="0"/>
            <a:chExt cx="19507200" cy="1828800"/>
          </a:xfrm>
        </p:grpSpPr>
        <p:sp>
          <p:nvSpPr>
            <p:cNvPr name="Freeform 9" id="9"/>
            <p:cNvSpPr/>
            <p:nvPr/>
          </p:nvSpPr>
          <p:spPr>
            <a:xfrm flipH="false" flipV="false" rot="0">
              <a:off x="0" y="0"/>
              <a:ext cx="19507200" cy="1828800"/>
            </a:xfrm>
            <a:custGeom>
              <a:avLst/>
              <a:gdLst/>
              <a:ahLst/>
              <a:cxnLst/>
              <a:rect r="r" b="b" t="t" l="l"/>
              <a:pathLst>
                <a:path h="1828800" w="19507200">
                  <a:moveTo>
                    <a:pt x="0" y="0"/>
                  </a:moveTo>
                  <a:lnTo>
                    <a:pt x="19507200" y="0"/>
                  </a:lnTo>
                  <a:lnTo>
                    <a:pt x="19507200" y="1828800"/>
                  </a:lnTo>
                  <a:lnTo>
                    <a:pt x="0" y="1828800"/>
                  </a:lnTo>
                  <a:close/>
                </a:path>
              </a:pathLst>
            </a:custGeom>
            <a:blipFill>
              <a:blip r:embed="rId2">
                <a:alphaModFix amt="0"/>
              </a:blip>
              <a:stretch>
                <a:fillRect l="0" t="-157840" r="0" b="-157840"/>
              </a:stretch>
            </a:blipFill>
          </p:spPr>
        </p:sp>
        <p:sp>
          <p:nvSpPr>
            <p:cNvPr name="TextBox 10" id="10"/>
            <p:cNvSpPr txBox="true"/>
            <p:nvPr/>
          </p:nvSpPr>
          <p:spPr>
            <a:xfrm>
              <a:off x="0" y="-76200"/>
              <a:ext cx="19507200" cy="190500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Diagrammes UML — Class &amp; Sequence Diagram</a:t>
              </a:r>
            </a:p>
          </p:txBody>
        </p:sp>
      </p:grpSp>
      <p:grpSp>
        <p:nvGrpSpPr>
          <p:cNvPr name="Group 11" id="11"/>
          <p:cNvGrpSpPr/>
          <p:nvPr/>
        </p:nvGrpSpPr>
        <p:grpSpPr>
          <a:xfrm rot="0">
            <a:off x="-12697" y="9817103"/>
            <a:ext cx="18313403" cy="482603"/>
            <a:chOff x="0" y="0"/>
            <a:chExt cx="24417871" cy="643471"/>
          </a:xfrm>
        </p:grpSpPr>
        <p:sp>
          <p:nvSpPr>
            <p:cNvPr name="Freeform 12" id="12"/>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13" id="13"/>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14" id="14"/>
          <p:cNvGrpSpPr/>
          <p:nvPr/>
        </p:nvGrpSpPr>
        <p:grpSpPr>
          <a:xfrm rot="0">
            <a:off x="548640" y="9829800"/>
            <a:ext cx="12801600" cy="457200"/>
            <a:chOff x="0" y="0"/>
            <a:chExt cx="17068800" cy="609600"/>
          </a:xfrm>
        </p:grpSpPr>
        <p:sp>
          <p:nvSpPr>
            <p:cNvPr name="Freeform 15" id="15"/>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16" id="16"/>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Python-Django</a:t>
              </a:r>
            </a:p>
          </p:txBody>
        </p:sp>
      </p:grpSp>
      <p:grpSp>
        <p:nvGrpSpPr>
          <p:cNvPr name="Group 17" id="17"/>
          <p:cNvGrpSpPr/>
          <p:nvPr/>
        </p:nvGrpSpPr>
        <p:grpSpPr>
          <a:xfrm rot="0">
            <a:off x="15544800" y="9829800"/>
            <a:ext cx="2194560" cy="457200"/>
            <a:chOff x="0" y="0"/>
            <a:chExt cx="2926080" cy="609600"/>
          </a:xfrm>
        </p:grpSpPr>
        <p:sp>
          <p:nvSpPr>
            <p:cNvPr name="Freeform 18" id="18"/>
            <p:cNvSpPr/>
            <p:nvPr/>
          </p:nvSpPr>
          <p:spPr>
            <a:xfrm flipH="false" flipV="false" rot="0">
              <a:off x="0" y="0"/>
              <a:ext cx="2926080" cy="609600"/>
            </a:xfrm>
            <a:custGeom>
              <a:avLst/>
              <a:gdLst/>
              <a:ahLst/>
              <a:cxnLst/>
              <a:rect r="r" b="b" t="t" l="l"/>
              <a:pathLst>
                <a:path h="609600" w="2926080">
                  <a:moveTo>
                    <a:pt x="0" y="0"/>
                  </a:moveTo>
                  <a:lnTo>
                    <a:pt x="2926080" y="0"/>
                  </a:lnTo>
                  <a:lnTo>
                    <a:pt x="2926080" y="609600"/>
                  </a:lnTo>
                  <a:lnTo>
                    <a:pt x="0" y="609600"/>
                  </a:lnTo>
                  <a:close/>
                </a:path>
              </a:pathLst>
            </a:custGeom>
            <a:blipFill>
              <a:blip r:embed="rId2">
                <a:alphaModFix amt="0"/>
              </a:blip>
              <a:stretch>
                <a:fillRect l="0" t="-43528" r="0" b="-43528"/>
              </a:stretch>
            </a:blipFill>
          </p:spPr>
        </p:sp>
        <p:sp>
          <p:nvSpPr>
            <p:cNvPr name="TextBox 19" id="19"/>
            <p:cNvSpPr txBox="true"/>
            <p:nvPr/>
          </p:nvSpPr>
          <p:spPr>
            <a:xfrm>
              <a:off x="0" y="-28575"/>
              <a:ext cx="2926080" cy="638175"/>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6 / 8</a:t>
              </a:r>
            </a:p>
          </p:txBody>
        </p:sp>
      </p:grpSp>
      <p:grpSp>
        <p:nvGrpSpPr>
          <p:cNvPr name="Group 20" id="20"/>
          <p:cNvGrpSpPr/>
          <p:nvPr/>
        </p:nvGrpSpPr>
        <p:grpSpPr>
          <a:xfrm rot="0">
            <a:off x="353063" y="1998983"/>
            <a:ext cx="8895083" cy="7889243"/>
            <a:chOff x="0" y="0"/>
            <a:chExt cx="11860111" cy="10518991"/>
          </a:xfrm>
        </p:grpSpPr>
        <p:sp>
          <p:nvSpPr>
            <p:cNvPr name="Freeform 21" id="21"/>
            <p:cNvSpPr/>
            <p:nvPr/>
          </p:nvSpPr>
          <p:spPr>
            <a:xfrm flipH="false" flipV="false" rot="0">
              <a:off x="16891" y="16891"/>
              <a:ext cx="11826240" cy="10485120"/>
            </a:xfrm>
            <a:custGeom>
              <a:avLst/>
              <a:gdLst/>
              <a:ahLst/>
              <a:cxnLst/>
              <a:rect r="r" b="b" t="t" l="l"/>
              <a:pathLst>
                <a:path h="10485120" w="11826240">
                  <a:moveTo>
                    <a:pt x="0" y="0"/>
                  </a:moveTo>
                  <a:lnTo>
                    <a:pt x="11826240" y="0"/>
                  </a:lnTo>
                  <a:lnTo>
                    <a:pt x="11826240" y="10485120"/>
                  </a:lnTo>
                  <a:lnTo>
                    <a:pt x="0" y="10485120"/>
                  </a:lnTo>
                  <a:close/>
                </a:path>
              </a:pathLst>
            </a:custGeom>
            <a:solidFill>
              <a:srgbClr val="FFFFFF"/>
            </a:solidFill>
          </p:spPr>
        </p:sp>
        <p:sp>
          <p:nvSpPr>
            <p:cNvPr name="Freeform 22" id="22"/>
            <p:cNvSpPr/>
            <p:nvPr/>
          </p:nvSpPr>
          <p:spPr>
            <a:xfrm flipH="false" flipV="false" rot="0">
              <a:off x="0" y="0"/>
              <a:ext cx="11860022" cy="10518901"/>
            </a:xfrm>
            <a:custGeom>
              <a:avLst/>
              <a:gdLst/>
              <a:ahLst/>
              <a:cxnLst/>
              <a:rect r="r" b="b" t="t" l="l"/>
              <a:pathLst>
                <a:path h="10518901" w="11860022">
                  <a:moveTo>
                    <a:pt x="16891" y="0"/>
                  </a:moveTo>
                  <a:lnTo>
                    <a:pt x="11843131" y="0"/>
                  </a:lnTo>
                  <a:cubicBezTo>
                    <a:pt x="11852529" y="0"/>
                    <a:pt x="11860022" y="7620"/>
                    <a:pt x="11860022" y="16891"/>
                  </a:cubicBezTo>
                  <a:lnTo>
                    <a:pt x="11860022" y="10502011"/>
                  </a:lnTo>
                  <a:cubicBezTo>
                    <a:pt x="11860022" y="10511409"/>
                    <a:pt x="11852402" y="10518901"/>
                    <a:pt x="11843131" y="10518901"/>
                  </a:cubicBezTo>
                  <a:lnTo>
                    <a:pt x="16891" y="10518901"/>
                  </a:lnTo>
                  <a:cubicBezTo>
                    <a:pt x="7493" y="10518901"/>
                    <a:pt x="0" y="10511282"/>
                    <a:pt x="0" y="10502011"/>
                  </a:cubicBezTo>
                  <a:lnTo>
                    <a:pt x="0" y="16891"/>
                  </a:lnTo>
                  <a:cubicBezTo>
                    <a:pt x="0" y="7620"/>
                    <a:pt x="7620" y="0"/>
                    <a:pt x="16891" y="0"/>
                  </a:cubicBezTo>
                  <a:moveTo>
                    <a:pt x="16891" y="33909"/>
                  </a:moveTo>
                  <a:lnTo>
                    <a:pt x="16891" y="16891"/>
                  </a:lnTo>
                  <a:lnTo>
                    <a:pt x="33909" y="16891"/>
                  </a:lnTo>
                  <a:lnTo>
                    <a:pt x="33909" y="10502011"/>
                  </a:lnTo>
                  <a:lnTo>
                    <a:pt x="16891" y="10502011"/>
                  </a:lnTo>
                  <a:lnTo>
                    <a:pt x="16891" y="10485120"/>
                  </a:lnTo>
                  <a:lnTo>
                    <a:pt x="11843131" y="10485120"/>
                  </a:lnTo>
                  <a:lnTo>
                    <a:pt x="11843131" y="10502011"/>
                  </a:lnTo>
                  <a:lnTo>
                    <a:pt x="11826240" y="10502011"/>
                  </a:lnTo>
                  <a:lnTo>
                    <a:pt x="11826240" y="16891"/>
                  </a:lnTo>
                  <a:lnTo>
                    <a:pt x="11843131" y="16891"/>
                  </a:lnTo>
                  <a:lnTo>
                    <a:pt x="11843131" y="33909"/>
                  </a:lnTo>
                  <a:lnTo>
                    <a:pt x="16891" y="33909"/>
                  </a:lnTo>
                  <a:close/>
                </a:path>
              </a:pathLst>
            </a:custGeom>
            <a:solidFill>
              <a:srgbClr val="E2E8F0"/>
            </a:solidFill>
          </p:spPr>
        </p:sp>
      </p:grpSp>
      <p:grpSp>
        <p:nvGrpSpPr>
          <p:cNvPr name="Group 23" id="23"/>
          <p:cNvGrpSpPr/>
          <p:nvPr/>
        </p:nvGrpSpPr>
        <p:grpSpPr>
          <a:xfrm rot="0">
            <a:off x="353063" y="1998983"/>
            <a:ext cx="8895083" cy="610619"/>
            <a:chOff x="0" y="0"/>
            <a:chExt cx="11860111" cy="814159"/>
          </a:xfrm>
        </p:grpSpPr>
        <p:sp>
          <p:nvSpPr>
            <p:cNvPr name="Freeform 24" id="24"/>
            <p:cNvSpPr/>
            <p:nvPr/>
          </p:nvSpPr>
          <p:spPr>
            <a:xfrm flipH="false" flipV="false" rot="0">
              <a:off x="16891" y="16891"/>
              <a:ext cx="11826240" cy="780288"/>
            </a:xfrm>
            <a:custGeom>
              <a:avLst/>
              <a:gdLst/>
              <a:ahLst/>
              <a:cxnLst/>
              <a:rect r="r" b="b" t="t" l="l"/>
              <a:pathLst>
                <a:path h="780288" w="11826240">
                  <a:moveTo>
                    <a:pt x="0" y="0"/>
                  </a:moveTo>
                  <a:lnTo>
                    <a:pt x="11826240" y="0"/>
                  </a:lnTo>
                  <a:lnTo>
                    <a:pt x="11826240" y="780288"/>
                  </a:lnTo>
                  <a:lnTo>
                    <a:pt x="0" y="780288"/>
                  </a:lnTo>
                  <a:close/>
                </a:path>
              </a:pathLst>
            </a:custGeom>
            <a:solidFill>
              <a:srgbClr val="0D9488"/>
            </a:solidFill>
          </p:spPr>
        </p:sp>
        <p:sp>
          <p:nvSpPr>
            <p:cNvPr name="Freeform 25" id="25"/>
            <p:cNvSpPr/>
            <p:nvPr/>
          </p:nvSpPr>
          <p:spPr>
            <a:xfrm flipH="false" flipV="false" rot="0">
              <a:off x="0" y="0"/>
              <a:ext cx="11860022" cy="814072"/>
            </a:xfrm>
            <a:custGeom>
              <a:avLst/>
              <a:gdLst/>
              <a:ahLst/>
              <a:cxnLst/>
              <a:rect r="r" b="b" t="t" l="l"/>
              <a:pathLst>
                <a:path h="814072" w="11860022">
                  <a:moveTo>
                    <a:pt x="16891" y="0"/>
                  </a:moveTo>
                  <a:lnTo>
                    <a:pt x="11843131" y="0"/>
                  </a:lnTo>
                  <a:cubicBezTo>
                    <a:pt x="11852529" y="0"/>
                    <a:pt x="11860022" y="7620"/>
                    <a:pt x="11860022" y="16891"/>
                  </a:cubicBezTo>
                  <a:lnTo>
                    <a:pt x="11860022" y="797179"/>
                  </a:lnTo>
                  <a:cubicBezTo>
                    <a:pt x="11860022" y="806577"/>
                    <a:pt x="11852402" y="814070"/>
                    <a:pt x="1184313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11843131" y="780288"/>
                  </a:lnTo>
                  <a:lnTo>
                    <a:pt x="11843131" y="797179"/>
                  </a:lnTo>
                  <a:lnTo>
                    <a:pt x="11826240" y="797179"/>
                  </a:lnTo>
                  <a:lnTo>
                    <a:pt x="11826240" y="16891"/>
                  </a:lnTo>
                  <a:lnTo>
                    <a:pt x="11843131" y="16891"/>
                  </a:lnTo>
                  <a:lnTo>
                    <a:pt x="11843131" y="33909"/>
                  </a:lnTo>
                  <a:lnTo>
                    <a:pt x="16891" y="33909"/>
                  </a:lnTo>
                  <a:close/>
                </a:path>
              </a:pathLst>
            </a:custGeom>
            <a:solidFill>
              <a:srgbClr val="0D9488"/>
            </a:solidFill>
          </p:spPr>
        </p:sp>
      </p:grpSp>
      <p:grpSp>
        <p:nvGrpSpPr>
          <p:cNvPr name="Group 26" id="26"/>
          <p:cNvGrpSpPr/>
          <p:nvPr/>
        </p:nvGrpSpPr>
        <p:grpSpPr>
          <a:xfrm rot="0">
            <a:off x="548640" y="2011680"/>
            <a:ext cx="8412480" cy="585216"/>
            <a:chOff x="0" y="0"/>
            <a:chExt cx="11216640" cy="780288"/>
          </a:xfrm>
        </p:grpSpPr>
        <p:sp>
          <p:nvSpPr>
            <p:cNvPr name="Freeform 27" id="27"/>
            <p:cNvSpPr/>
            <p:nvPr/>
          </p:nvSpPr>
          <p:spPr>
            <a:xfrm flipH="false" flipV="false" rot="0">
              <a:off x="0" y="0"/>
              <a:ext cx="11216640" cy="780288"/>
            </a:xfrm>
            <a:custGeom>
              <a:avLst/>
              <a:gdLst/>
              <a:ahLst/>
              <a:cxnLst/>
              <a:rect r="r" b="b" t="t" l="l"/>
              <a:pathLst>
                <a:path h="780288" w="11216640">
                  <a:moveTo>
                    <a:pt x="0" y="0"/>
                  </a:moveTo>
                  <a:lnTo>
                    <a:pt x="11216640" y="0"/>
                  </a:lnTo>
                  <a:lnTo>
                    <a:pt x="11216640" y="780288"/>
                  </a:lnTo>
                  <a:lnTo>
                    <a:pt x="0" y="780288"/>
                  </a:lnTo>
                  <a:close/>
                </a:path>
              </a:pathLst>
            </a:custGeom>
            <a:blipFill>
              <a:blip r:embed="rId2">
                <a:alphaModFix amt="0"/>
              </a:blip>
              <a:stretch>
                <a:fillRect l="0" t="-230097" r="0" b="-230097"/>
              </a:stretch>
            </a:blipFill>
          </p:spPr>
        </p:sp>
        <p:sp>
          <p:nvSpPr>
            <p:cNvPr name="TextBox 28" id="28"/>
            <p:cNvSpPr txBox="true"/>
            <p:nvPr/>
          </p:nvSpPr>
          <p:spPr>
            <a:xfrm>
              <a:off x="0" y="-47625"/>
              <a:ext cx="11216640" cy="827913"/>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Diagramme de Classe</a:t>
              </a:r>
            </a:p>
          </p:txBody>
        </p:sp>
      </p:grpSp>
      <p:grpSp>
        <p:nvGrpSpPr>
          <p:cNvPr name="Group 29" id="29"/>
          <p:cNvGrpSpPr/>
          <p:nvPr/>
        </p:nvGrpSpPr>
        <p:grpSpPr>
          <a:xfrm rot="0">
            <a:off x="254278" y="2707587"/>
            <a:ext cx="9438367" cy="6550713"/>
            <a:chOff x="0" y="0"/>
            <a:chExt cx="13526141" cy="9387840"/>
          </a:xfrm>
        </p:grpSpPr>
        <p:sp>
          <p:nvSpPr>
            <p:cNvPr name="Freeform 30" id="30" descr="preencoded.png"/>
            <p:cNvSpPr/>
            <p:nvPr/>
          </p:nvSpPr>
          <p:spPr>
            <a:xfrm flipH="false" flipV="false" rot="0">
              <a:off x="0" y="0"/>
              <a:ext cx="13526142" cy="9387840"/>
            </a:xfrm>
            <a:custGeom>
              <a:avLst/>
              <a:gdLst/>
              <a:ahLst/>
              <a:cxnLst/>
              <a:rect r="r" b="b" t="t" l="l"/>
              <a:pathLst>
                <a:path h="9387840" w="13526142">
                  <a:moveTo>
                    <a:pt x="0" y="0"/>
                  </a:moveTo>
                  <a:lnTo>
                    <a:pt x="13526142" y="0"/>
                  </a:lnTo>
                  <a:lnTo>
                    <a:pt x="13526142" y="9387840"/>
                  </a:lnTo>
                  <a:lnTo>
                    <a:pt x="0" y="9387840"/>
                  </a:lnTo>
                  <a:lnTo>
                    <a:pt x="0" y="0"/>
                  </a:lnTo>
                  <a:close/>
                </a:path>
              </a:pathLst>
            </a:custGeom>
            <a:blipFill>
              <a:blip r:embed="rId3"/>
              <a:stretch>
                <a:fillRect l="0" t="-210" r="0" b="-210"/>
              </a:stretch>
            </a:blipFill>
          </p:spPr>
        </p:sp>
      </p:grpSp>
      <p:grpSp>
        <p:nvGrpSpPr>
          <p:cNvPr name="Group 31" id="31"/>
          <p:cNvGrpSpPr/>
          <p:nvPr/>
        </p:nvGrpSpPr>
        <p:grpSpPr>
          <a:xfrm rot="0">
            <a:off x="9588503" y="1998983"/>
            <a:ext cx="8346443" cy="7889243"/>
            <a:chOff x="0" y="0"/>
            <a:chExt cx="11128591" cy="10518991"/>
          </a:xfrm>
        </p:grpSpPr>
        <p:sp>
          <p:nvSpPr>
            <p:cNvPr name="Freeform 32" id="32"/>
            <p:cNvSpPr/>
            <p:nvPr/>
          </p:nvSpPr>
          <p:spPr>
            <a:xfrm flipH="false" flipV="false" rot="0">
              <a:off x="16891" y="16891"/>
              <a:ext cx="11094720" cy="10485120"/>
            </a:xfrm>
            <a:custGeom>
              <a:avLst/>
              <a:gdLst/>
              <a:ahLst/>
              <a:cxnLst/>
              <a:rect r="r" b="b" t="t" l="l"/>
              <a:pathLst>
                <a:path h="10485120" w="11094720">
                  <a:moveTo>
                    <a:pt x="0" y="0"/>
                  </a:moveTo>
                  <a:lnTo>
                    <a:pt x="11094720" y="0"/>
                  </a:lnTo>
                  <a:lnTo>
                    <a:pt x="11094720" y="10485120"/>
                  </a:lnTo>
                  <a:lnTo>
                    <a:pt x="0" y="10485120"/>
                  </a:lnTo>
                  <a:close/>
                </a:path>
              </a:pathLst>
            </a:custGeom>
            <a:solidFill>
              <a:srgbClr val="FFFFFF"/>
            </a:solidFill>
          </p:spPr>
        </p:sp>
        <p:sp>
          <p:nvSpPr>
            <p:cNvPr name="Freeform 33" id="33"/>
            <p:cNvSpPr/>
            <p:nvPr/>
          </p:nvSpPr>
          <p:spPr>
            <a:xfrm flipH="false" flipV="false" rot="0">
              <a:off x="0" y="0"/>
              <a:ext cx="11128501" cy="10518901"/>
            </a:xfrm>
            <a:custGeom>
              <a:avLst/>
              <a:gdLst/>
              <a:ahLst/>
              <a:cxnLst/>
              <a:rect r="r" b="b" t="t" l="l"/>
              <a:pathLst>
                <a:path h="10518901" w="11128501">
                  <a:moveTo>
                    <a:pt x="16891" y="0"/>
                  </a:moveTo>
                  <a:lnTo>
                    <a:pt x="11111611" y="0"/>
                  </a:lnTo>
                  <a:cubicBezTo>
                    <a:pt x="11121009" y="0"/>
                    <a:pt x="11128501" y="7620"/>
                    <a:pt x="11128501" y="16891"/>
                  </a:cubicBezTo>
                  <a:lnTo>
                    <a:pt x="11128501" y="10502011"/>
                  </a:lnTo>
                  <a:cubicBezTo>
                    <a:pt x="11128501" y="10511409"/>
                    <a:pt x="11120882" y="10518901"/>
                    <a:pt x="11111611" y="10518901"/>
                  </a:cubicBezTo>
                  <a:lnTo>
                    <a:pt x="16891" y="10518901"/>
                  </a:lnTo>
                  <a:cubicBezTo>
                    <a:pt x="7493" y="10518901"/>
                    <a:pt x="0" y="10511282"/>
                    <a:pt x="0" y="10502011"/>
                  </a:cubicBezTo>
                  <a:lnTo>
                    <a:pt x="0" y="16891"/>
                  </a:lnTo>
                  <a:cubicBezTo>
                    <a:pt x="0" y="7620"/>
                    <a:pt x="7620" y="0"/>
                    <a:pt x="16891" y="0"/>
                  </a:cubicBezTo>
                  <a:moveTo>
                    <a:pt x="16891" y="33909"/>
                  </a:moveTo>
                  <a:lnTo>
                    <a:pt x="16891" y="16891"/>
                  </a:lnTo>
                  <a:lnTo>
                    <a:pt x="33909" y="16891"/>
                  </a:lnTo>
                  <a:lnTo>
                    <a:pt x="33909" y="10502011"/>
                  </a:lnTo>
                  <a:lnTo>
                    <a:pt x="16891" y="10502011"/>
                  </a:lnTo>
                  <a:lnTo>
                    <a:pt x="16891" y="10485120"/>
                  </a:lnTo>
                  <a:lnTo>
                    <a:pt x="11111611" y="10485120"/>
                  </a:lnTo>
                  <a:lnTo>
                    <a:pt x="11111611" y="10502011"/>
                  </a:lnTo>
                  <a:lnTo>
                    <a:pt x="11094720" y="10502011"/>
                  </a:lnTo>
                  <a:lnTo>
                    <a:pt x="11094720" y="16891"/>
                  </a:lnTo>
                  <a:lnTo>
                    <a:pt x="11111611" y="16891"/>
                  </a:lnTo>
                  <a:lnTo>
                    <a:pt x="11111611" y="33909"/>
                  </a:lnTo>
                  <a:lnTo>
                    <a:pt x="16891" y="33909"/>
                  </a:lnTo>
                  <a:close/>
                </a:path>
              </a:pathLst>
            </a:custGeom>
            <a:solidFill>
              <a:srgbClr val="E2E8F0"/>
            </a:solidFill>
          </p:spPr>
        </p:sp>
      </p:grpSp>
      <p:grpSp>
        <p:nvGrpSpPr>
          <p:cNvPr name="Group 34" id="34"/>
          <p:cNvGrpSpPr/>
          <p:nvPr/>
        </p:nvGrpSpPr>
        <p:grpSpPr>
          <a:xfrm rot="0">
            <a:off x="9692645" y="1998983"/>
            <a:ext cx="8346443" cy="610619"/>
            <a:chOff x="0" y="0"/>
            <a:chExt cx="11128591" cy="814159"/>
          </a:xfrm>
        </p:grpSpPr>
        <p:sp>
          <p:nvSpPr>
            <p:cNvPr name="Freeform 35" id="35"/>
            <p:cNvSpPr/>
            <p:nvPr/>
          </p:nvSpPr>
          <p:spPr>
            <a:xfrm flipH="false" flipV="false" rot="0">
              <a:off x="16891" y="16891"/>
              <a:ext cx="11094720" cy="780288"/>
            </a:xfrm>
            <a:custGeom>
              <a:avLst/>
              <a:gdLst/>
              <a:ahLst/>
              <a:cxnLst/>
              <a:rect r="r" b="b" t="t" l="l"/>
              <a:pathLst>
                <a:path h="780288" w="11094720">
                  <a:moveTo>
                    <a:pt x="0" y="0"/>
                  </a:moveTo>
                  <a:lnTo>
                    <a:pt x="11094720" y="0"/>
                  </a:lnTo>
                  <a:lnTo>
                    <a:pt x="11094720" y="780288"/>
                  </a:lnTo>
                  <a:lnTo>
                    <a:pt x="0" y="780288"/>
                  </a:lnTo>
                  <a:close/>
                </a:path>
              </a:pathLst>
            </a:custGeom>
            <a:solidFill>
              <a:srgbClr val="1A2B4A"/>
            </a:solidFill>
          </p:spPr>
        </p:sp>
        <p:sp>
          <p:nvSpPr>
            <p:cNvPr name="Freeform 36" id="36"/>
            <p:cNvSpPr/>
            <p:nvPr/>
          </p:nvSpPr>
          <p:spPr>
            <a:xfrm flipH="false" flipV="false" rot="0">
              <a:off x="0" y="0"/>
              <a:ext cx="11128501" cy="814072"/>
            </a:xfrm>
            <a:custGeom>
              <a:avLst/>
              <a:gdLst/>
              <a:ahLst/>
              <a:cxnLst/>
              <a:rect r="r" b="b" t="t" l="l"/>
              <a:pathLst>
                <a:path h="814072" w="11128501">
                  <a:moveTo>
                    <a:pt x="16891" y="0"/>
                  </a:moveTo>
                  <a:lnTo>
                    <a:pt x="11111611" y="0"/>
                  </a:lnTo>
                  <a:cubicBezTo>
                    <a:pt x="11121009" y="0"/>
                    <a:pt x="11128501" y="7620"/>
                    <a:pt x="11128501" y="16891"/>
                  </a:cubicBezTo>
                  <a:lnTo>
                    <a:pt x="11128501" y="797179"/>
                  </a:lnTo>
                  <a:cubicBezTo>
                    <a:pt x="11128501" y="806577"/>
                    <a:pt x="11120882" y="814070"/>
                    <a:pt x="11111611" y="814070"/>
                  </a:cubicBezTo>
                  <a:lnTo>
                    <a:pt x="16891" y="814070"/>
                  </a:lnTo>
                  <a:cubicBezTo>
                    <a:pt x="7620" y="814197"/>
                    <a:pt x="0" y="806577"/>
                    <a:pt x="0" y="797179"/>
                  </a:cubicBezTo>
                  <a:lnTo>
                    <a:pt x="0" y="16891"/>
                  </a:lnTo>
                  <a:cubicBezTo>
                    <a:pt x="0" y="7620"/>
                    <a:pt x="7620" y="0"/>
                    <a:pt x="16891" y="0"/>
                  </a:cubicBezTo>
                  <a:moveTo>
                    <a:pt x="16891" y="33909"/>
                  </a:moveTo>
                  <a:lnTo>
                    <a:pt x="16891" y="16891"/>
                  </a:lnTo>
                  <a:lnTo>
                    <a:pt x="33909" y="16891"/>
                  </a:lnTo>
                  <a:lnTo>
                    <a:pt x="33909" y="797179"/>
                  </a:lnTo>
                  <a:lnTo>
                    <a:pt x="16891" y="797179"/>
                  </a:lnTo>
                  <a:lnTo>
                    <a:pt x="16891" y="780288"/>
                  </a:lnTo>
                  <a:lnTo>
                    <a:pt x="11111611" y="780288"/>
                  </a:lnTo>
                  <a:lnTo>
                    <a:pt x="11111611" y="797179"/>
                  </a:lnTo>
                  <a:lnTo>
                    <a:pt x="11094720" y="797179"/>
                  </a:lnTo>
                  <a:lnTo>
                    <a:pt x="11094720" y="16891"/>
                  </a:lnTo>
                  <a:lnTo>
                    <a:pt x="11111611" y="16891"/>
                  </a:lnTo>
                  <a:lnTo>
                    <a:pt x="11111611" y="33909"/>
                  </a:lnTo>
                  <a:lnTo>
                    <a:pt x="16891" y="33909"/>
                  </a:lnTo>
                  <a:close/>
                </a:path>
              </a:pathLst>
            </a:custGeom>
            <a:solidFill>
              <a:srgbClr val="1A2B4A"/>
            </a:solidFill>
          </p:spPr>
        </p:sp>
      </p:grpSp>
      <p:grpSp>
        <p:nvGrpSpPr>
          <p:cNvPr name="Group 37" id="37"/>
          <p:cNvGrpSpPr/>
          <p:nvPr/>
        </p:nvGrpSpPr>
        <p:grpSpPr>
          <a:xfrm rot="0">
            <a:off x="9875520" y="2011680"/>
            <a:ext cx="7863840" cy="585216"/>
            <a:chOff x="0" y="0"/>
            <a:chExt cx="10485120" cy="780288"/>
          </a:xfrm>
        </p:grpSpPr>
        <p:sp>
          <p:nvSpPr>
            <p:cNvPr name="Freeform 38" id="38"/>
            <p:cNvSpPr/>
            <p:nvPr/>
          </p:nvSpPr>
          <p:spPr>
            <a:xfrm flipH="false" flipV="false" rot="0">
              <a:off x="0" y="0"/>
              <a:ext cx="10485120" cy="780288"/>
            </a:xfrm>
            <a:custGeom>
              <a:avLst/>
              <a:gdLst/>
              <a:ahLst/>
              <a:cxnLst/>
              <a:rect r="r" b="b" t="t" l="l"/>
              <a:pathLst>
                <a:path h="780288" w="10485120">
                  <a:moveTo>
                    <a:pt x="0" y="0"/>
                  </a:moveTo>
                  <a:lnTo>
                    <a:pt x="10485120" y="0"/>
                  </a:lnTo>
                  <a:lnTo>
                    <a:pt x="10485120" y="780288"/>
                  </a:lnTo>
                  <a:lnTo>
                    <a:pt x="0" y="780288"/>
                  </a:lnTo>
                  <a:close/>
                </a:path>
              </a:pathLst>
            </a:custGeom>
            <a:blipFill>
              <a:blip r:embed="rId2">
                <a:alphaModFix amt="0"/>
              </a:blip>
              <a:stretch>
                <a:fillRect l="0" t="-211830" r="0" b="-211830"/>
              </a:stretch>
            </a:blipFill>
          </p:spPr>
        </p:sp>
        <p:sp>
          <p:nvSpPr>
            <p:cNvPr name="TextBox 39" id="39"/>
            <p:cNvSpPr txBox="true"/>
            <p:nvPr/>
          </p:nvSpPr>
          <p:spPr>
            <a:xfrm>
              <a:off x="0" y="-47625"/>
              <a:ext cx="10485120" cy="827913"/>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Diagramme de Séquence</a:t>
              </a:r>
            </a:p>
          </p:txBody>
        </p:sp>
      </p:grpSp>
      <p:grpSp>
        <p:nvGrpSpPr>
          <p:cNvPr name="Group 40" id="40"/>
          <p:cNvGrpSpPr/>
          <p:nvPr/>
        </p:nvGrpSpPr>
        <p:grpSpPr>
          <a:xfrm rot="0">
            <a:off x="9900928" y="2609602"/>
            <a:ext cx="8138160" cy="7040880"/>
            <a:chOff x="0" y="0"/>
            <a:chExt cx="10850880" cy="9387840"/>
          </a:xfrm>
        </p:grpSpPr>
        <p:sp>
          <p:nvSpPr>
            <p:cNvPr name="Freeform 41" id="41" descr="preencoded.png"/>
            <p:cNvSpPr/>
            <p:nvPr/>
          </p:nvSpPr>
          <p:spPr>
            <a:xfrm flipH="false" flipV="false" rot="0">
              <a:off x="0" y="0"/>
              <a:ext cx="10850880" cy="9387840"/>
            </a:xfrm>
            <a:custGeom>
              <a:avLst/>
              <a:gdLst/>
              <a:ahLst/>
              <a:cxnLst/>
              <a:rect r="r" b="b" t="t" l="l"/>
              <a:pathLst>
                <a:path h="9387840" w="10850880">
                  <a:moveTo>
                    <a:pt x="0" y="0"/>
                  </a:moveTo>
                  <a:lnTo>
                    <a:pt x="10850880" y="0"/>
                  </a:lnTo>
                  <a:lnTo>
                    <a:pt x="10850880" y="9387840"/>
                  </a:lnTo>
                  <a:lnTo>
                    <a:pt x="0" y="9387840"/>
                  </a:lnTo>
                  <a:lnTo>
                    <a:pt x="0" y="0"/>
                  </a:lnTo>
                  <a:close/>
                </a:path>
              </a:pathLst>
            </a:custGeom>
            <a:blipFill>
              <a:blip r:embed="rId4"/>
              <a:stretch>
                <a:fillRect l="0" t="-1287" r="0" b="-1287"/>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2B4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71707"/>
            <a:chOff x="0" y="0"/>
            <a:chExt cx="24417871" cy="228943"/>
          </a:xfrm>
        </p:grpSpPr>
        <p:sp>
          <p:nvSpPr>
            <p:cNvPr name="Freeform 3" id="3"/>
            <p:cNvSpPr/>
            <p:nvPr/>
          </p:nvSpPr>
          <p:spPr>
            <a:xfrm flipH="false" flipV="false" rot="0">
              <a:off x="16891" y="16891"/>
              <a:ext cx="24383999" cy="195072"/>
            </a:xfrm>
            <a:custGeom>
              <a:avLst/>
              <a:gdLst/>
              <a:ahLst/>
              <a:cxnLst/>
              <a:rect r="r" b="b" t="t" l="l"/>
              <a:pathLst>
                <a:path h="195072" w="24383999">
                  <a:moveTo>
                    <a:pt x="0" y="0"/>
                  </a:moveTo>
                  <a:lnTo>
                    <a:pt x="24383999" y="0"/>
                  </a:lnTo>
                  <a:lnTo>
                    <a:pt x="24383999" y="195072"/>
                  </a:lnTo>
                  <a:lnTo>
                    <a:pt x="0" y="195072"/>
                  </a:lnTo>
                  <a:close/>
                </a:path>
              </a:pathLst>
            </a:custGeom>
            <a:solidFill>
              <a:srgbClr val="0D9488"/>
            </a:solidFill>
          </p:spPr>
        </p:sp>
        <p:sp>
          <p:nvSpPr>
            <p:cNvPr name="Freeform 4" id="4"/>
            <p:cNvSpPr/>
            <p:nvPr/>
          </p:nvSpPr>
          <p:spPr>
            <a:xfrm flipH="false" flipV="false" rot="0">
              <a:off x="0" y="0"/>
              <a:ext cx="24417782" cy="228856"/>
            </a:xfrm>
            <a:custGeom>
              <a:avLst/>
              <a:gdLst/>
              <a:ahLst/>
              <a:cxnLst/>
              <a:rect r="r" b="b" t="t" l="l"/>
              <a:pathLst>
                <a:path h="228856" w="24417782">
                  <a:moveTo>
                    <a:pt x="16891" y="0"/>
                  </a:moveTo>
                  <a:lnTo>
                    <a:pt x="24400890" y="0"/>
                  </a:lnTo>
                  <a:cubicBezTo>
                    <a:pt x="24410290" y="0"/>
                    <a:pt x="24417782" y="7620"/>
                    <a:pt x="24417782" y="16891"/>
                  </a:cubicBezTo>
                  <a:lnTo>
                    <a:pt x="24417782" y="211963"/>
                  </a:lnTo>
                  <a:cubicBezTo>
                    <a:pt x="24417782" y="221361"/>
                    <a:pt x="24410163" y="228854"/>
                    <a:pt x="24400890"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4400890" y="195072"/>
                  </a:lnTo>
                  <a:lnTo>
                    <a:pt x="24400890" y="211963"/>
                  </a:lnTo>
                  <a:lnTo>
                    <a:pt x="24384000" y="211963"/>
                  </a:lnTo>
                  <a:lnTo>
                    <a:pt x="24384000" y="16891"/>
                  </a:lnTo>
                  <a:lnTo>
                    <a:pt x="24400890" y="16891"/>
                  </a:lnTo>
                  <a:lnTo>
                    <a:pt x="24400890" y="33909"/>
                  </a:lnTo>
                  <a:lnTo>
                    <a:pt x="16891" y="33909"/>
                  </a:lnTo>
                  <a:close/>
                </a:path>
              </a:pathLst>
            </a:custGeom>
            <a:solidFill>
              <a:srgbClr val="0D9488"/>
            </a:solidFill>
          </p:spPr>
        </p:sp>
      </p:grpSp>
      <p:grpSp>
        <p:nvGrpSpPr>
          <p:cNvPr name="Group 5" id="5"/>
          <p:cNvGrpSpPr/>
          <p:nvPr/>
        </p:nvGrpSpPr>
        <p:grpSpPr>
          <a:xfrm rot="0">
            <a:off x="-12697" y="10127999"/>
            <a:ext cx="18313403" cy="171707"/>
            <a:chOff x="0" y="0"/>
            <a:chExt cx="24417871" cy="228943"/>
          </a:xfrm>
        </p:grpSpPr>
        <p:sp>
          <p:nvSpPr>
            <p:cNvPr name="Freeform 6" id="6"/>
            <p:cNvSpPr/>
            <p:nvPr/>
          </p:nvSpPr>
          <p:spPr>
            <a:xfrm flipH="false" flipV="false" rot="0">
              <a:off x="16891" y="16891"/>
              <a:ext cx="24383999" cy="195072"/>
            </a:xfrm>
            <a:custGeom>
              <a:avLst/>
              <a:gdLst/>
              <a:ahLst/>
              <a:cxnLst/>
              <a:rect r="r" b="b" t="t" l="l"/>
              <a:pathLst>
                <a:path h="195072" w="24383999">
                  <a:moveTo>
                    <a:pt x="0" y="0"/>
                  </a:moveTo>
                  <a:lnTo>
                    <a:pt x="24383999" y="0"/>
                  </a:lnTo>
                  <a:lnTo>
                    <a:pt x="24383999" y="195072"/>
                  </a:lnTo>
                  <a:lnTo>
                    <a:pt x="0" y="195072"/>
                  </a:lnTo>
                  <a:close/>
                </a:path>
              </a:pathLst>
            </a:custGeom>
            <a:solidFill>
              <a:srgbClr val="F59E0B"/>
            </a:solidFill>
          </p:spPr>
        </p:sp>
        <p:sp>
          <p:nvSpPr>
            <p:cNvPr name="Freeform 7" id="7"/>
            <p:cNvSpPr/>
            <p:nvPr/>
          </p:nvSpPr>
          <p:spPr>
            <a:xfrm flipH="false" flipV="false" rot="0">
              <a:off x="0" y="0"/>
              <a:ext cx="24417782" cy="228856"/>
            </a:xfrm>
            <a:custGeom>
              <a:avLst/>
              <a:gdLst/>
              <a:ahLst/>
              <a:cxnLst/>
              <a:rect r="r" b="b" t="t" l="l"/>
              <a:pathLst>
                <a:path h="228856" w="24417782">
                  <a:moveTo>
                    <a:pt x="16891" y="0"/>
                  </a:moveTo>
                  <a:lnTo>
                    <a:pt x="24400890" y="0"/>
                  </a:lnTo>
                  <a:cubicBezTo>
                    <a:pt x="24410290" y="0"/>
                    <a:pt x="24417782" y="7620"/>
                    <a:pt x="24417782" y="16891"/>
                  </a:cubicBezTo>
                  <a:lnTo>
                    <a:pt x="24417782" y="211963"/>
                  </a:lnTo>
                  <a:cubicBezTo>
                    <a:pt x="24417782" y="221361"/>
                    <a:pt x="24410163" y="228854"/>
                    <a:pt x="24400890" y="228854"/>
                  </a:cubicBezTo>
                  <a:lnTo>
                    <a:pt x="16891" y="228854"/>
                  </a:lnTo>
                  <a:cubicBezTo>
                    <a:pt x="7620" y="228981"/>
                    <a:pt x="0" y="221361"/>
                    <a:pt x="0" y="211963"/>
                  </a:cubicBezTo>
                  <a:lnTo>
                    <a:pt x="0" y="16891"/>
                  </a:lnTo>
                  <a:cubicBezTo>
                    <a:pt x="0" y="7620"/>
                    <a:pt x="7620" y="0"/>
                    <a:pt x="16891" y="0"/>
                  </a:cubicBezTo>
                  <a:moveTo>
                    <a:pt x="16891" y="33909"/>
                  </a:moveTo>
                  <a:lnTo>
                    <a:pt x="16891" y="16891"/>
                  </a:lnTo>
                  <a:lnTo>
                    <a:pt x="33909" y="16891"/>
                  </a:lnTo>
                  <a:lnTo>
                    <a:pt x="33909" y="211963"/>
                  </a:lnTo>
                  <a:lnTo>
                    <a:pt x="16891" y="211963"/>
                  </a:lnTo>
                  <a:lnTo>
                    <a:pt x="16891" y="195072"/>
                  </a:lnTo>
                  <a:lnTo>
                    <a:pt x="24400890" y="195072"/>
                  </a:lnTo>
                  <a:lnTo>
                    <a:pt x="24400890" y="211963"/>
                  </a:lnTo>
                  <a:lnTo>
                    <a:pt x="24384000" y="211963"/>
                  </a:lnTo>
                  <a:lnTo>
                    <a:pt x="24384000" y="16891"/>
                  </a:lnTo>
                  <a:lnTo>
                    <a:pt x="24400890" y="16891"/>
                  </a:lnTo>
                  <a:lnTo>
                    <a:pt x="24400890" y="33909"/>
                  </a:lnTo>
                  <a:lnTo>
                    <a:pt x="16891" y="33909"/>
                  </a:lnTo>
                  <a:close/>
                </a:path>
              </a:pathLst>
            </a:custGeom>
            <a:solidFill>
              <a:srgbClr val="F59E0B"/>
            </a:solidFill>
          </p:spPr>
        </p:sp>
      </p:grpSp>
      <p:grpSp>
        <p:nvGrpSpPr>
          <p:cNvPr name="Group 8" id="8"/>
          <p:cNvGrpSpPr/>
          <p:nvPr/>
        </p:nvGrpSpPr>
        <p:grpSpPr>
          <a:xfrm rot="0">
            <a:off x="914400" y="640080"/>
            <a:ext cx="16459200" cy="1287066"/>
            <a:chOff x="0" y="0"/>
            <a:chExt cx="21945600" cy="1716087"/>
          </a:xfrm>
        </p:grpSpPr>
        <p:sp>
          <p:nvSpPr>
            <p:cNvPr name="Freeform 9" id="9"/>
            <p:cNvSpPr/>
            <p:nvPr/>
          </p:nvSpPr>
          <p:spPr>
            <a:xfrm flipH="false" flipV="false" rot="0">
              <a:off x="0" y="0"/>
              <a:ext cx="21945600" cy="1716088"/>
            </a:xfrm>
            <a:custGeom>
              <a:avLst/>
              <a:gdLst/>
              <a:ahLst/>
              <a:cxnLst/>
              <a:rect r="r" b="b" t="t" l="l"/>
              <a:pathLst>
                <a:path h="1716088" w="21945600">
                  <a:moveTo>
                    <a:pt x="0" y="0"/>
                  </a:moveTo>
                  <a:lnTo>
                    <a:pt x="21945600" y="0"/>
                  </a:lnTo>
                  <a:lnTo>
                    <a:pt x="21945600" y="1716088"/>
                  </a:lnTo>
                  <a:lnTo>
                    <a:pt x="0" y="1716088"/>
                  </a:lnTo>
                  <a:close/>
                </a:path>
              </a:pathLst>
            </a:custGeom>
            <a:blipFill>
              <a:blip r:embed="rId2">
                <a:alphaModFix amt="0"/>
              </a:blip>
              <a:stretch>
                <a:fillRect l="0" t="-199446" r="0" b="-198909"/>
              </a:stretch>
            </a:blipFill>
          </p:spPr>
        </p:sp>
        <p:sp>
          <p:nvSpPr>
            <p:cNvPr name="TextBox 10" id="10"/>
            <p:cNvSpPr txBox="true"/>
            <p:nvPr/>
          </p:nvSpPr>
          <p:spPr>
            <a:xfrm>
              <a:off x="0" y="-123825"/>
              <a:ext cx="21945600" cy="1839912"/>
            </a:xfrm>
            <a:prstGeom prst="rect">
              <a:avLst/>
            </a:prstGeom>
          </p:spPr>
          <p:txBody>
            <a:bodyPr anchor="ctr" rtlCol="false" tIns="0" lIns="0" bIns="0" rIns="0"/>
            <a:lstStyle/>
            <a:p>
              <a:pPr algn="ctr">
                <a:lnSpc>
                  <a:spcPts val="7680"/>
                </a:lnSpc>
              </a:pPr>
              <a:r>
                <a:rPr lang="en-US" sz="6400" b="true">
                  <a:solidFill>
                    <a:srgbClr val="FFFFFF"/>
                  </a:solidFill>
                  <a:latin typeface="Calibri (MS) Bold"/>
                  <a:ea typeface="Calibri (MS) Bold"/>
                  <a:cs typeface="Calibri (MS) Bold"/>
                  <a:sym typeface="Calibri (MS) Bold"/>
                </a:rPr>
                <a:t>Conclusion</a:t>
              </a:r>
            </a:p>
          </p:txBody>
        </p:sp>
      </p:grpSp>
      <p:grpSp>
        <p:nvGrpSpPr>
          <p:cNvPr name="Group 11" id="11"/>
          <p:cNvGrpSpPr/>
          <p:nvPr/>
        </p:nvGrpSpPr>
        <p:grpSpPr>
          <a:xfrm rot="0">
            <a:off x="6388103" y="1907543"/>
            <a:ext cx="5511803" cy="116843"/>
            <a:chOff x="0" y="0"/>
            <a:chExt cx="7349071" cy="155791"/>
          </a:xfrm>
        </p:grpSpPr>
        <p:sp>
          <p:nvSpPr>
            <p:cNvPr name="Freeform 12" id="12"/>
            <p:cNvSpPr/>
            <p:nvPr/>
          </p:nvSpPr>
          <p:spPr>
            <a:xfrm flipH="false" flipV="false" rot="0">
              <a:off x="16891" y="16891"/>
              <a:ext cx="7315200" cy="121920"/>
            </a:xfrm>
            <a:custGeom>
              <a:avLst/>
              <a:gdLst/>
              <a:ahLst/>
              <a:cxnLst/>
              <a:rect r="r" b="b" t="t" l="l"/>
              <a:pathLst>
                <a:path h="121920" w="7315200">
                  <a:moveTo>
                    <a:pt x="0" y="0"/>
                  </a:moveTo>
                  <a:lnTo>
                    <a:pt x="7315200" y="0"/>
                  </a:lnTo>
                  <a:lnTo>
                    <a:pt x="7315200" y="121920"/>
                  </a:lnTo>
                  <a:lnTo>
                    <a:pt x="0" y="121920"/>
                  </a:lnTo>
                  <a:close/>
                </a:path>
              </a:pathLst>
            </a:custGeom>
            <a:solidFill>
              <a:srgbClr val="0D9488"/>
            </a:solidFill>
          </p:spPr>
        </p:sp>
        <p:sp>
          <p:nvSpPr>
            <p:cNvPr name="Freeform 13" id="13"/>
            <p:cNvSpPr/>
            <p:nvPr/>
          </p:nvSpPr>
          <p:spPr>
            <a:xfrm flipH="false" flipV="false" rot="0">
              <a:off x="0" y="0"/>
              <a:ext cx="7348982" cy="155704"/>
            </a:xfrm>
            <a:custGeom>
              <a:avLst/>
              <a:gdLst/>
              <a:ahLst/>
              <a:cxnLst/>
              <a:rect r="r" b="b" t="t" l="l"/>
              <a:pathLst>
                <a:path h="155704" w="7348982">
                  <a:moveTo>
                    <a:pt x="16891" y="0"/>
                  </a:moveTo>
                  <a:lnTo>
                    <a:pt x="7332091" y="0"/>
                  </a:lnTo>
                  <a:cubicBezTo>
                    <a:pt x="7341489" y="0"/>
                    <a:pt x="7348982" y="7620"/>
                    <a:pt x="7348982" y="16891"/>
                  </a:cubicBezTo>
                  <a:lnTo>
                    <a:pt x="7348982" y="138811"/>
                  </a:lnTo>
                  <a:cubicBezTo>
                    <a:pt x="7348982" y="148209"/>
                    <a:pt x="7341362" y="155702"/>
                    <a:pt x="7332091" y="155702"/>
                  </a:cubicBezTo>
                  <a:lnTo>
                    <a:pt x="16891" y="155702"/>
                  </a:lnTo>
                  <a:cubicBezTo>
                    <a:pt x="7620" y="155829"/>
                    <a:pt x="0" y="148209"/>
                    <a:pt x="0" y="138811"/>
                  </a:cubicBezTo>
                  <a:lnTo>
                    <a:pt x="0" y="16891"/>
                  </a:lnTo>
                  <a:cubicBezTo>
                    <a:pt x="0" y="7620"/>
                    <a:pt x="7620" y="0"/>
                    <a:pt x="16891" y="0"/>
                  </a:cubicBezTo>
                  <a:moveTo>
                    <a:pt x="16891" y="33909"/>
                  </a:moveTo>
                  <a:lnTo>
                    <a:pt x="16891" y="16891"/>
                  </a:lnTo>
                  <a:lnTo>
                    <a:pt x="33909" y="16891"/>
                  </a:lnTo>
                  <a:lnTo>
                    <a:pt x="33909" y="138811"/>
                  </a:lnTo>
                  <a:lnTo>
                    <a:pt x="16891" y="138811"/>
                  </a:lnTo>
                  <a:lnTo>
                    <a:pt x="16891" y="121920"/>
                  </a:lnTo>
                  <a:lnTo>
                    <a:pt x="7332091" y="121920"/>
                  </a:lnTo>
                  <a:lnTo>
                    <a:pt x="7332091" y="138811"/>
                  </a:lnTo>
                  <a:lnTo>
                    <a:pt x="7315200" y="138811"/>
                  </a:lnTo>
                  <a:lnTo>
                    <a:pt x="7315200" y="16891"/>
                  </a:lnTo>
                  <a:lnTo>
                    <a:pt x="7332091" y="16891"/>
                  </a:lnTo>
                  <a:lnTo>
                    <a:pt x="7332091" y="33909"/>
                  </a:lnTo>
                  <a:lnTo>
                    <a:pt x="16891" y="33909"/>
                  </a:lnTo>
                  <a:close/>
                </a:path>
              </a:pathLst>
            </a:custGeom>
            <a:solidFill>
              <a:srgbClr val="0D9488"/>
            </a:solidFill>
          </p:spPr>
        </p:sp>
      </p:grpSp>
      <p:grpSp>
        <p:nvGrpSpPr>
          <p:cNvPr name="Group 14" id="14"/>
          <p:cNvGrpSpPr/>
          <p:nvPr/>
        </p:nvGrpSpPr>
        <p:grpSpPr>
          <a:xfrm rot="0">
            <a:off x="1405069" y="2765303"/>
            <a:ext cx="15477871" cy="6621780"/>
            <a:chOff x="0" y="0"/>
            <a:chExt cx="20637161" cy="8829040"/>
          </a:xfrm>
        </p:grpSpPr>
        <p:sp>
          <p:nvSpPr>
            <p:cNvPr name="Freeform 15" id="15"/>
            <p:cNvSpPr/>
            <p:nvPr/>
          </p:nvSpPr>
          <p:spPr>
            <a:xfrm flipH="false" flipV="false" rot="0">
              <a:off x="72360" y="25400"/>
              <a:ext cx="20492442" cy="8778240"/>
            </a:xfrm>
            <a:custGeom>
              <a:avLst/>
              <a:gdLst/>
              <a:ahLst/>
              <a:cxnLst/>
              <a:rect r="r" b="b" t="t" l="l"/>
              <a:pathLst>
                <a:path h="8778240" w="20492442">
                  <a:moveTo>
                    <a:pt x="0" y="0"/>
                  </a:moveTo>
                  <a:lnTo>
                    <a:pt x="20492442" y="0"/>
                  </a:lnTo>
                  <a:lnTo>
                    <a:pt x="20492442" y="8778240"/>
                  </a:lnTo>
                  <a:lnTo>
                    <a:pt x="0" y="8778240"/>
                  </a:lnTo>
                  <a:close/>
                </a:path>
              </a:pathLst>
            </a:custGeom>
            <a:solidFill>
              <a:srgbClr val="FFFFFF">
                <a:alpha val="1176"/>
              </a:srgbClr>
            </a:solidFill>
          </p:spPr>
        </p:sp>
        <p:sp>
          <p:nvSpPr>
            <p:cNvPr name="Freeform 16" id="16"/>
            <p:cNvSpPr/>
            <p:nvPr/>
          </p:nvSpPr>
          <p:spPr>
            <a:xfrm flipH="false" flipV="false" rot="0">
              <a:off x="0" y="0"/>
              <a:ext cx="20637162" cy="8829040"/>
            </a:xfrm>
            <a:custGeom>
              <a:avLst/>
              <a:gdLst/>
              <a:ahLst/>
              <a:cxnLst/>
              <a:rect r="r" b="b" t="t" l="l"/>
              <a:pathLst>
                <a:path h="8829040" w="20637162">
                  <a:moveTo>
                    <a:pt x="72360" y="0"/>
                  </a:moveTo>
                  <a:lnTo>
                    <a:pt x="20564802" y="0"/>
                  </a:lnTo>
                  <a:cubicBezTo>
                    <a:pt x="20604600" y="0"/>
                    <a:pt x="20637162" y="11430"/>
                    <a:pt x="20637162" y="25400"/>
                  </a:cubicBezTo>
                  <a:lnTo>
                    <a:pt x="20637162" y="8803640"/>
                  </a:lnTo>
                  <a:cubicBezTo>
                    <a:pt x="20637162" y="8817610"/>
                    <a:pt x="20604600" y="8829040"/>
                    <a:pt x="20564802" y="8829040"/>
                  </a:cubicBezTo>
                  <a:lnTo>
                    <a:pt x="72360" y="8829040"/>
                  </a:lnTo>
                  <a:cubicBezTo>
                    <a:pt x="32562" y="8829040"/>
                    <a:pt x="0" y="8817610"/>
                    <a:pt x="0" y="8803640"/>
                  </a:cubicBezTo>
                  <a:lnTo>
                    <a:pt x="0" y="25400"/>
                  </a:lnTo>
                  <a:cubicBezTo>
                    <a:pt x="0" y="11430"/>
                    <a:pt x="32562" y="0"/>
                    <a:pt x="72360" y="0"/>
                  </a:cubicBezTo>
                  <a:moveTo>
                    <a:pt x="72360" y="50800"/>
                  </a:moveTo>
                  <a:lnTo>
                    <a:pt x="72360" y="25400"/>
                  </a:lnTo>
                  <a:lnTo>
                    <a:pt x="144721" y="25400"/>
                  </a:lnTo>
                  <a:lnTo>
                    <a:pt x="144721" y="8803640"/>
                  </a:lnTo>
                  <a:lnTo>
                    <a:pt x="72360" y="8803640"/>
                  </a:lnTo>
                  <a:lnTo>
                    <a:pt x="72360" y="8778240"/>
                  </a:lnTo>
                  <a:lnTo>
                    <a:pt x="20564802" y="8778240"/>
                  </a:lnTo>
                  <a:lnTo>
                    <a:pt x="20564802" y="8803640"/>
                  </a:lnTo>
                  <a:lnTo>
                    <a:pt x="20492442" y="8803640"/>
                  </a:lnTo>
                  <a:lnTo>
                    <a:pt x="20492442" y="25400"/>
                  </a:lnTo>
                  <a:lnTo>
                    <a:pt x="20564802" y="25400"/>
                  </a:lnTo>
                  <a:lnTo>
                    <a:pt x="20564802" y="50800"/>
                  </a:lnTo>
                  <a:lnTo>
                    <a:pt x="72360" y="50800"/>
                  </a:lnTo>
                  <a:close/>
                </a:path>
              </a:pathLst>
            </a:custGeom>
            <a:solidFill>
              <a:srgbClr val="F59E0B"/>
            </a:solidFill>
          </p:spPr>
        </p:sp>
      </p:grpSp>
      <p:grpSp>
        <p:nvGrpSpPr>
          <p:cNvPr name="Group 17" id="17"/>
          <p:cNvGrpSpPr/>
          <p:nvPr/>
        </p:nvGrpSpPr>
        <p:grpSpPr>
          <a:xfrm rot="0">
            <a:off x="2292837" y="3347758"/>
            <a:ext cx="13788208" cy="5563757"/>
            <a:chOff x="0" y="0"/>
            <a:chExt cx="6540694" cy="2639272"/>
          </a:xfrm>
        </p:grpSpPr>
        <p:sp>
          <p:nvSpPr>
            <p:cNvPr name="Freeform 18" id="18"/>
            <p:cNvSpPr/>
            <p:nvPr/>
          </p:nvSpPr>
          <p:spPr>
            <a:xfrm flipH="false" flipV="false" rot="0">
              <a:off x="28971" y="339251"/>
              <a:ext cx="6482599" cy="1958984"/>
            </a:xfrm>
            <a:custGeom>
              <a:avLst/>
              <a:gdLst/>
              <a:ahLst/>
              <a:cxnLst/>
              <a:rect r="r" b="b" t="t" l="l"/>
              <a:pathLst>
                <a:path h="1958984" w="6482599">
                  <a:moveTo>
                    <a:pt x="0" y="0"/>
                  </a:moveTo>
                  <a:lnTo>
                    <a:pt x="6482600" y="0"/>
                  </a:lnTo>
                  <a:lnTo>
                    <a:pt x="6482600" y="1958984"/>
                  </a:lnTo>
                  <a:lnTo>
                    <a:pt x="0" y="1958984"/>
                  </a:lnTo>
                  <a:close/>
                </a:path>
              </a:pathLst>
            </a:custGeom>
            <a:solidFill>
              <a:srgbClr val="F59E0B"/>
            </a:solidFill>
          </p:spPr>
        </p:sp>
        <p:sp>
          <p:nvSpPr>
            <p:cNvPr name="Freeform 19" id="19"/>
            <p:cNvSpPr/>
            <p:nvPr/>
          </p:nvSpPr>
          <p:spPr>
            <a:xfrm flipH="false" flipV="false" rot="0">
              <a:off x="0" y="0"/>
              <a:ext cx="6540542" cy="2637503"/>
            </a:xfrm>
            <a:custGeom>
              <a:avLst/>
              <a:gdLst/>
              <a:ahLst/>
              <a:cxnLst/>
              <a:rect r="r" b="b" t="t" l="l"/>
              <a:pathLst>
                <a:path h="2637503" w="6540542">
                  <a:moveTo>
                    <a:pt x="28971" y="0"/>
                  </a:moveTo>
                  <a:lnTo>
                    <a:pt x="6511571" y="0"/>
                  </a:lnTo>
                  <a:cubicBezTo>
                    <a:pt x="6527690" y="0"/>
                    <a:pt x="6540542" y="153046"/>
                    <a:pt x="6540542" y="339251"/>
                  </a:cubicBezTo>
                  <a:lnTo>
                    <a:pt x="6540542" y="2298235"/>
                  </a:lnTo>
                  <a:cubicBezTo>
                    <a:pt x="6540542" y="2486992"/>
                    <a:pt x="6527472" y="2637487"/>
                    <a:pt x="6511571" y="2637487"/>
                  </a:cubicBezTo>
                  <a:lnTo>
                    <a:pt x="28971" y="2637487"/>
                  </a:lnTo>
                  <a:cubicBezTo>
                    <a:pt x="13070" y="2639310"/>
                    <a:pt x="0" y="2486992"/>
                    <a:pt x="0" y="2298235"/>
                  </a:cubicBezTo>
                  <a:lnTo>
                    <a:pt x="0" y="339251"/>
                  </a:lnTo>
                  <a:cubicBezTo>
                    <a:pt x="0" y="153046"/>
                    <a:pt x="13070" y="0"/>
                    <a:pt x="28971" y="0"/>
                  </a:cubicBezTo>
                  <a:moveTo>
                    <a:pt x="28971" y="681053"/>
                  </a:moveTo>
                  <a:lnTo>
                    <a:pt x="28971" y="339251"/>
                  </a:lnTo>
                  <a:lnTo>
                    <a:pt x="58160" y="339251"/>
                  </a:lnTo>
                  <a:lnTo>
                    <a:pt x="58160" y="2298235"/>
                  </a:lnTo>
                  <a:lnTo>
                    <a:pt x="28971" y="2298235"/>
                  </a:lnTo>
                  <a:lnTo>
                    <a:pt x="28971" y="1958984"/>
                  </a:lnTo>
                  <a:lnTo>
                    <a:pt x="6511571" y="1958984"/>
                  </a:lnTo>
                  <a:lnTo>
                    <a:pt x="6511571" y="2298235"/>
                  </a:lnTo>
                  <a:lnTo>
                    <a:pt x="6482599" y="2298235"/>
                  </a:lnTo>
                  <a:lnTo>
                    <a:pt x="6482599" y="339251"/>
                  </a:lnTo>
                  <a:lnTo>
                    <a:pt x="6511571" y="339251"/>
                  </a:lnTo>
                  <a:lnTo>
                    <a:pt x="6511571" y="681053"/>
                  </a:lnTo>
                  <a:lnTo>
                    <a:pt x="28971" y="681053"/>
                  </a:lnTo>
                  <a:close/>
                </a:path>
              </a:pathLst>
            </a:custGeom>
            <a:solidFill>
              <a:srgbClr val="F59E0B"/>
            </a:solidFill>
          </p:spPr>
        </p:sp>
      </p:grpSp>
      <p:grpSp>
        <p:nvGrpSpPr>
          <p:cNvPr name="Group 20" id="20"/>
          <p:cNvGrpSpPr/>
          <p:nvPr/>
        </p:nvGrpSpPr>
        <p:grpSpPr>
          <a:xfrm rot="0">
            <a:off x="-12697" y="9817103"/>
            <a:ext cx="18313403" cy="482603"/>
            <a:chOff x="0" y="0"/>
            <a:chExt cx="24417871" cy="643471"/>
          </a:xfrm>
        </p:grpSpPr>
        <p:sp>
          <p:nvSpPr>
            <p:cNvPr name="Freeform 21" id="21"/>
            <p:cNvSpPr/>
            <p:nvPr/>
          </p:nvSpPr>
          <p:spPr>
            <a:xfrm flipH="false" flipV="false" rot="0">
              <a:off x="16891" y="16891"/>
              <a:ext cx="24383999" cy="609600"/>
            </a:xfrm>
            <a:custGeom>
              <a:avLst/>
              <a:gdLst/>
              <a:ahLst/>
              <a:cxnLst/>
              <a:rect r="r" b="b" t="t" l="l"/>
              <a:pathLst>
                <a:path h="609600" w="24383999">
                  <a:moveTo>
                    <a:pt x="0" y="0"/>
                  </a:moveTo>
                  <a:lnTo>
                    <a:pt x="24383999" y="0"/>
                  </a:lnTo>
                  <a:lnTo>
                    <a:pt x="24383999" y="609600"/>
                  </a:lnTo>
                  <a:lnTo>
                    <a:pt x="0" y="609600"/>
                  </a:lnTo>
                  <a:close/>
                </a:path>
              </a:pathLst>
            </a:custGeom>
            <a:solidFill>
              <a:srgbClr val="1A2B4A"/>
            </a:solidFill>
          </p:spPr>
        </p:sp>
        <p:sp>
          <p:nvSpPr>
            <p:cNvPr name="Freeform 22" id="22"/>
            <p:cNvSpPr/>
            <p:nvPr/>
          </p:nvSpPr>
          <p:spPr>
            <a:xfrm flipH="false" flipV="false" rot="0">
              <a:off x="0" y="0"/>
              <a:ext cx="24417782" cy="643384"/>
            </a:xfrm>
            <a:custGeom>
              <a:avLst/>
              <a:gdLst/>
              <a:ahLst/>
              <a:cxnLst/>
              <a:rect r="r" b="b" t="t" l="l"/>
              <a:pathLst>
                <a:path h="643384" w="24417782">
                  <a:moveTo>
                    <a:pt x="16891" y="0"/>
                  </a:moveTo>
                  <a:lnTo>
                    <a:pt x="24400890" y="0"/>
                  </a:lnTo>
                  <a:cubicBezTo>
                    <a:pt x="24410290" y="0"/>
                    <a:pt x="24417782" y="7620"/>
                    <a:pt x="24417782" y="16891"/>
                  </a:cubicBezTo>
                  <a:lnTo>
                    <a:pt x="24417782" y="626491"/>
                  </a:lnTo>
                  <a:cubicBezTo>
                    <a:pt x="24417782" y="635889"/>
                    <a:pt x="24410163" y="643382"/>
                    <a:pt x="24400890" y="643382"/>
                  </a:cubicBezTo>
                  <a:lnTo>
                    <a:pt x="16891" y="643382"/>
                  </a:lnTo>
                  <a:cubicBezTo>
                    <a:pt x="7620" y="643509"/>
                    <a:pt x="0" y="635889"/>
                    <a:pt x="0" y="626491"/>
                  </a:cubicBezTo>
                  <a:lnTo>
                    <a:pt x="0" y="16891"/>
                  </a:lnTo>
                  <a:cubicBezTo>
                    <a:pt x="0" y="7620"/>
                    <a:pt x="7620" y="0"/>
                    <a:pt x="16891" y="0"/>
                  </a:cubicBezTo>
                  <a:moveTo>
                    <a:pt x="16891" y="33909"/>
                  </a:moveTo>
                  <a:lnTo>
                    <a:pt x="16891" y="16891"/>
                  </a:lnTo>
                  <a:lnTo>
                    <a:pt x="33909" y="16891"/>
                  </a:lnTo>
                  <a:lnTo>
                    <a:pt x="33909" y="626491"/>
                  </a:lnTo>
                  <a:lnTo>
                    <a:pt x="16891" y="626491"/>
                  </a:lnTo>
                  <a:lnTo>
                    <a:pt x="16891" y="609600"/>
                  </a:lnTo>
                  <a:lnTo>
                    <a:pt x="24400890" y="609600"/>
                  </a:lnTo>
                  <a:lnTo>
                    <a:pt x="24400890" y="626491"/>
                  </a:lnTo>
                  <a:lnTo>
                    <a:pt x="24384000" y="626491"/>
                  </a:lnTo>
                  <a:lnTo>
                    <a:pt x="24384000" y="16891"/>
                  </a:lnTo>
                  <a:lnTo>
                    <a:pt x="24400890" y="16891"/>
                  </a:lnTo>
                  <a:lnTo>
                    <a:pt x="24400890" y="33909"/>
                  </a:lnTo>
                  <a:lnTo>
                    <a:pt x="16891" y="33909"/>
                  </a:lnTo>
                  <a:close/>
                </a:path>
              </a:pathLst>
            </a:custGeom>
            <a:solidFill>
              <a:srgbClr val="1A2B4A"/>
            </a:solidFill>
          </p:spPr>
        </p:sp>
      </p:grpSp>
      <p:grpSp>
        <p:nvGrpSpPr>
          <p:cNvPr name="Group 23" id="23"/>
          <p:cNvGrpSpPr/>
          <p:nvPr/>
        </p:nvGrpSpPr>
        <p:grpSpPr>
          <a:xfrm rot="0">
            <a:off x="548640" y="9829800"/>
            <a:ext cx="12801600" cy="457200"/>
            <a:chOff x="0" y="0"/>
            <a:chExt cx="17068800" cy="609600"/>
          </a:xfrm>
        </p:grpSpPr>
        <p:sp>
          <p:nvSpPr>
            <p:cNvPr name="Freeform 24" id="24"/>
            <p:cNvSpPr/>
            <p:nvPr/>
          </p:nvSpPr>
          <p:spPr>
            <a:xfrm flipH="false" flipV="false" rot="0">
              <a:off x="0" y="0"/>
              <a:ext cx="17068800" cy="609600"/>
            </a:xfrm>
            <a:custGeom>
              <a:avLst/>
              <a:gdLst/>
              <a:ahLst/>
              <a:cxnLst/>
              <a:rect r="r" b="b" t="t" l="l"/>
              <a:pathLst>
                <a:path h="609600" w="17068800">
                  <a:moveTo>
                    <a:pt x="0" y="0"/>
                  </a:moveTo>
                  <a:lnTo>
                    <a:pt x="17068800" y="0"/>
                  </a:lnTo>
                  <a:lnTo>
                    <a:pt x="17068800" y="609600"/>
                  </a:lnTo>
                  <a:lnTo>
                    <a:pt x="0" y="609600"/>
                  </a:lnTo>
                  <a:close/>
                </a:path>
              </a:pathLst>
            </a:custGeom>
            <a:blipFill>
              <a:blip r:embed="rId2">
                <a:alphaModFix amt="0"/>
              </a:blip>
              <a:stretch>
                <a:fillRect l="0" t="-495581" r="0" b="-495581"/>
              </a:stretch>
            </a:blipFill>
          </p:spPr>
        </p:sp>
        <p:sp>
          <p:nvSpPr>
            <p:cNvPr name="TextBox 25" id="25"/>
            <p:cNvSpPr txBox="true"/>
            <p:nvPr/>
          </p:nvSpPr>
          <p:spPr>
            <a:xfrm>
              <a:off x="0" y="-28575"/>
              <a:ext cx="17068800" cy="638175"/>
            </a:xfrm>
            <a:prstGeom prst="rect">
              <a:avLst/>
            </a:prstGeom>
          </p:spPr>
          <p:txBody>
            <a:bodyPr anchor="ctr" rtlCol="false" tIns="0" lIns="0" bIns="0" rIns="0"/>
            <a:lstStyle/>
            <a:p>
              <a:pPr algn="l">
                <a:lnSpc>
                  <a:spcPts val="1920"/>
                </a:lnSpc>
              </a:pPr>
              <a:r>
                <a:rPr lang="en-US" sz="1600">
                  <a:solidFill>
                    <a:srgbClr val="AABBCC"/>
                  </a:solidFill>
                  <a:latin typeface="Calibri (MS)"/>
                  <a:ea typeface="Calibri (MS)"/>
                  <a:cs typeface="Calibri (MS)"/>
                  <a:sym typeface="Calibri (MS)"/>
                </a:rPr>
                <a:t>Application de Sondage — Projet Python-Django</a:t>
              </a:r>
            </a:p>
          </p:txBody>
        </p:sp>
      </p:grpSp>
      <p:grpSp>
        <p:nvGrpSpPr>
          <p:cNvPr name="Group 26" id="26"/>
          <p:cNvGrpSpPr/>
          <p:nvPr/>
        </p:nvGrpSpPr>
        <p:grpSpPr>
          <a:xfrm rot="0">
            <a:off x="15544800" y="9829800"/>
            <a:ext cx="2194560" cy="457200"/>
            <a:chOff x="0" y="0"/>
            <a:chExt cx="2926080" cy="609600"/>
          </a:xfrm>
        </p:grpSpPr>
        <p:sp>
          <p:nvSpPr>
            <p:cNvPr name="Freeform 27" id="27"/>
            <p:cNvSpPr/>
            <p:nvPr/>
          </p:nvSpPr>
          <p:spPr>
            <a:xfrm flipH="false" flipV="false" rot="0">
              <a:off x="0" y="0"/>
              <a:ext cx="2926080" cy="609600"/>
            </a:xfrm>
            <a:custGeom>
              <a:avLst/>
              <a:gdLst/>
              <a:ahLst/>
              <a:cxnLst/>
              <a:rect r="r" b="b" t="t" l="l"/>
              <a:pathLst>
                <a:path h="609600" w="2926080">
                  <a:moveTo>
                    <a:pt x="0" y="0"/>
                  </a:moveTo>
                  <a:lnTo>
                    <a:pt x="2926080" y="0"/>
                  </a:lnTo>
                  <a:lnTo>
                    <a:pt x="2926080" y="609600"/>
                  </a:lnTo>
                  <a:lnTo>
                    <a:pt x="0" y="609600"/>
                  </a:lnTo>
                  <a:close/>
                </a:path>
              </a:pathLst>
            </a:custGeom>
            <a:blipFill>
              <a:blip r:embed="rId2">
                <a:alphaModFix amt="0"/>
              </a:blip>
              <a:stretch>
                <a:fillRect l="0" t="-43528" r="0" b="-43528"/>
              </a:stretch>
            </a:blipFill>
          </p:spPr>
        </p:sp>
        <p:sp>
          <p:nvSpPr>
            <p:cNvPr name="TextBox 28" id="28"/>
            <p:cNvSpPr txBox="true"/>
            <p:nvPr/>
          </p:nvSpPr>
          <p:spPr>
            <a:xfrm>
              <a:off x="0" y="-28575"/>
              <a:ext cx="2926080" cy="638175"/>
            </a:xfrm>
            <a:prstGeom prst="rect">
              <a:avLst/>
            </a:prstGeom>
          </p:spPr>
          <p:txBody>
            <a:bodyPr anchor="ctr" rtlCol="false" tIns="0" lIns="0" bIns="0" rIns="0"/>
            <a:lstStyle/>
            <a:p>
              <a:pPr algn="r">
                <a:lnSpc>
                  <a:spcPts val="1920"/>
                </a:lnSpc>
              </a:pPr>
              <a:r>
                <a:rPr lang="en-US" sz="1600">
                  <a:solidFill>
                    <a:srgbClr val="AABBCC"/>
                  </a:solidFill>
                  <a:latin typeface="Calibri (MS)"/>
                  <a:ea typeface="Calibri (MS)"/>
                  <a:cs typeface="Calibri (MS)"/>
                  <a:sym typeface="Calibri (MS)"/>
                </a:rPr>
                <a:t>8</a:t>
              </a:r>
              <a:r>
                <a:rPr lang="en-US" sz="1600">
                  <a:solidFill>
                    <a:srgbClr val="AABBCC"/>
                  </a:solidFill>
                  <a:latin typeface="Calibri (MS)"/>
                  <a:ea typeface="Calibri (MS)"/>
                  <a:cs typeface="Calibri (MS)"/>
                  <a:sym typeface="Calibri (MS)"/>
                </a:rPr>
                <a:t> / 8</a:t>
              </a:r>
            </a:p>
          </p:txBody>
        </p:sp>
      </p:grpSp>
      <p:sp>
        <p:nvSpPr>
          <p:cNvPr name="TextBox 29" id="29"/>
          <p:cNvSpPr txBox="true"/>
          <p:nvPr/>
        </p:nvSpPr>
        <p:spPr>
          <a:xfrm rot="0">
            <a:off x="3173027" y="3767461"/>
            <a:ext cx="12371773" cy="3819525"/>
          </a:xfrm>
          <a:prstGeom prst="rect">
            <a:avLst/>
          </a:prstGeom>
        </p:spPr>
        <p:txBody>
          <a:bodyPr anchor="t" rtlCol="false" tIns="0" lIns="0" bIns="0" rIns="0">
            <a:spAutoFit/>
          </a:bodyPr>
          <a:lstStyle/>
          <a:p>
            <a:pPr algn="l">
              <a:lnSpc>
                <a:spcPts val="3020"/>
              </a:lnSpc>
            </a:pPr>
            <a:r>
              <a:rPr lang="en-US" sz="2516">
                <a:solidFill>
                  <a:srgbClr val="FFFFFF"/>
                </a:solidFill>
                <a:latin typeface="Helvetica World"/>
                <a:ea typeface="Helvetica World"/>
                <a:cs typeface="Helvetica World"/>
                <a:sym typeface="Helvetica World"/>
              </a:rPr>
              <a:t>   Ce projet nous a permis de concevoir et de développer une application web complète de sondages en ligne, en mettant en pratique les principes fondamentaux du développement avec Django et son modèle MVT.</a:t>
            </a:r>
          </a:p>
          <a:p>
            <a:pPr algn="l">
              <a:lnSpc>
                <a:spcPts val="3020"/>
              </a:lnSpc>
            </a:pPr>
            <a:r>
              <a:rPr lang="en-US" sz="2516">
                <a:solidFill>
                  <a:srgbClr val="FFFFFF"/>
                </a:solidFill>
                <a:latin typeface="Helvetica World"/>
                <a:ea typeface="Helvetica World"/>
                <a:cs typeface="Helvetica World"/>
                <a:sym typeface="Helvetica World"/>
              </a:rPr>
              <a:t>Au-delà de l'aspect technique, ce projet nous a confrontés aux réalités du développement logiciel : gestion des données utilisateurs, sécurité, expérience utilisateur et livraison itérative grâce à la méthodologie Agile.</a:t>
            </a:r>
          </a:p>
          <a:p>
            <a:pPr algn="l">
              <a:lnSpc>
                <a:spcPts val="3020"/>
              </a:lnSpc>
            </a:pPr>
            <a:r>
              <a:rPr lang="en-US" sz="2516">
                <a:solidFill>
                  <a:srgbClr val="FFFFFF"/>
                </a:solidFill>
                <a:latin typeface="Helvetica World"/>
                <a:ea typeface="Helvetica World"/>
                <a:cs typeface="Helvetica World"/>
                <a:sym typeface="Helvetica World"/>
              </a:rPr>
              <a:t>SondApp répond aujourd'hui à un besoin concret — créer, diffuser et analyser des sondages de manière simple et efficace — tout en offrant une base solide et extensible pour de futures évolutions.</a:t>
            </a:r>
          </a:p>
          <a:p>
            <a:pPr algn="l">
              <a:lnSpc>
                <a:spcPts val="302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DAHFuqvt4JM</dc:identifier>
  <dcterms:modified xsi:type="dcterms:W3CDTF">2011-08-01T06:04:30Z</dcterms:modified>
  <cp:revision>1</cp:revision>
  <dc:title>Projet Python</dc:title>
</cp:coreProperties>
</file>