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71" r:id="rId13"/>
    <p:sldId id="267" r:id="rId14"/>
    <p:sldId id="268" r:id="rId15"/>
    <p:sldId id="270" r:id="rId16"/>
  </p:sldIdLst>
  <p:sldSz cx="18288000" cy="10287000"/>
  <p:notesSz cx="6858000" cy="9144000"/>
  <p:embeddedFontLst>
    <p:embeddedFont>
      <p:font typeface="Bebas Neue Bold" panose="020B0604020202020204" charset="0"/>
      <p:regular r:id="rId17"/>
    </p:embeddedFont>
    <p:embeddedFont>
      <p:font typeface="Codec Pro" panose="020B0604020202020204" charset="0"/>
      <p:regular r:id="rId18"/>
    </p:embeddedFont>
    <p:embeddedFont>
      <p:font typeface="Codec Pro Bold" panose="020B0604020202020204" charset="0"/>
      <p:regular r:id="rId19"/>
    </p:embeddedFont>
    <p:embeddedFont>
      <p:font typeface="Inter" panose="020B0604020202020204" charset="0"/>
      <p:regular r:id="rId20"/>
    </p:embeddedFont>
    <p:embeddedFont>
      <p:font typeface="Inter Bold" panose="020B0604020202020204" charset="0"/>
      <p:regular r:id="rId21"/>
    </p:embeddedFont>
    <p:embeddedFont>
      <p:font typeface="Open Sans" panose="020B0606030504020204" pitchFamily="34" charset="0"/>
      <p:regular r:id="rId22"/>
      <p:bold r:id="rId23"/>
      <p:italic r:id="rId24"/>
      <p:boldItalic r:id="rId25"/>
    </p:embeddedFont>
    <p:embeddedFont>
      <p:font typeface="Playfair Display" panose="00000500000000000000" pitchFamily="2" charset="0"/>
      <p:regular r:id="rId26"/>
      <p:bold r:id="rId27"/>
      <p:italic r:id="rId28"/>
      <p:boldItalic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fr-MA"/>
          </a:p>
        </p:txBody>
      </p:sp>
      <p:sp>
        <p:nvSpPr>
          <p:cNvPr id="3" name="AutoShape 3"/>
          <p:cNvSpPr/>
          <p:nvPr/>
        </p:nvSpPr>
        <p:spPr>
          <a:xfrm>
            <a:off x="1028731" y="6337208"/>
            <a:ext cx="16230569" cy="0"/>
          </a:xfrm>
          <a:prstGeom prst="line">
            <a:avLst/>
          </a:prstGeom>
          <a:ln w="28575" cap="flat">
            <a:solidFill>
              <a:srgbClr val="000000"/>
            </a:solidFill>
            <a:prstDash val="solid"/>
            <a:headEnd type="none" w="sm" len="sm"/>
            <a:tailEnd type="none" w="sm" len="sm"/>
          </a:ln>
        </p:spPr>
        <p:txBody>
          <a:bodyPr/>
          <a:lstStyle/>
          <a:p>
            <a:endParaRPr lang="fr-MA"/>
          </a:p>
        </p:txBody>
      </p:sp>
      <p:grpSp>
        <p:nvGrpSpPr>
          <p:cNvPr id="4" name="Group 4"/>
          <p:cNvGrpSpPr/>
          <p:nvPr/>
        </p:nvGrpSpPr>
        <p:grpSpPr>
          <a:xfrm>
            <a:off x="16443190" y="5237008"/>
            <a:ext cx="816110" cy="762063"/>
            <a:chOff x="0" y="0"/>
            <a:chExt cx="214943" cy="200708"/>
          </a:xfrm>
        </p:grpSpPr>
        <p:sp>
          <p:nvSpPr>
            <p:cNvPr id="5" name="Freeform 5"/>
            <p:cNvSpPr/>
            <p:nvPr/>
          </p:nvSpPr>
          <p:spPr>
            <a:xfrm>
              <a:off x="0" y="0"/>
              <a:ext cx="214943" cy="200708"/>
            </a:xfrm>
            <a:custGeom>
              <a:avLst/>
              <a:gdLst/>
              <a:ahLst/>
              <a:cxnLst/>
              <a:rect l="l" t="t" r="r" b="b"/>
              <a:pathLst>
                <a:path w="214943" h="200708">
                  <a:moveTo>
                    <a:pt x="0" y="0"/>
                  </a:moveTo>
                  <a:lnTo>
                    <a:pt x="214943" y="0"/>
                  </a:lnTo>
                  <a:lnTo>
                    <a:pt x="214943" y="200708"/>
                  </a:lnTo>
                  <a:lnTo>
                    <a:pt x="0" y="200708"/>
                  </a:lnTo>
                  <a:close/>
                </a:path>
              </a:pathLst>
            </a:custGeom>
            <a:solidFill>
              <a:srgbClr val="269649"/>
            </a:solidFill>
          </p:spPr>
          <p:txBody>
            <a:bodyPr/>
            <a:lstStyle/>
            <a:p>
              <a:endParaRPr lang="fr-MA"/>
            </a:p>
          </p:txBody>
        </p:sp>
        <p:sp>
          <p:nvSpPr>
            <p:cNvPr id="6" name="TextBox 6"/>
            <p:cNvSpPr txBox="1"/>
            <p:nvPr/>
          </p:nvSpPr>
          <p:spPr>
            <a:xfrm>
              <a:off x="0" y="-66675"/>
              <a:ext cx="214943" cy="267383"/>
            </a:xfrm>
            <a:prstGeom prst="rect">
              <a:avLst/>
            </a:prstGeom>
          </p:spPr>
          <p:txBody>
            <a:bodyPr lIns="50800" tIns="50800" rIns="50800" bIns="50800" rtlCol="0" anchor="ctr"/>
            <a:lstStyle/>
            <a:p>
              <a:pPr algn="ctr">
                <a:lnSpc>
                  <a:spcPts val="3500"/>
                </a:lnSpc>
              </a:pPr>
              <a:endParaRPr/>
            </a:p>
          </p:txBody>
        </p:sp>
      </p:grpSp>
      <p:sp>
        <p:nvSpPr>
          <p:cNvPr id="7" name="Freeform 7"/>
          <p:cNvSpPr/>
          <p:nvPr/>
        </p:nvSpPr>
        <p:spPr>
          <a:xfrm flipH="1">
            <a:off x="16734715" y="5449170"/>
            <a:ext cx="271160" cy="356790"/>
          </a:xfrm>
          <a:custGeom>
            <a:avLst/>
            <a:gdLst/>
            <a:ahLst/>
            <a:cxnLst/>
            <a:rect l="l" t="t" r="r" b="b"/>
            <a:pathLst>
              <a:path w="271160" h="356790">
                <a:moveTo>
                  <a:pt x="271160" y="0"/>
                </a:moveTo>
                <a:lnTo>
                  <a:pt x="0" y="0"/>
                </a:lnTo>
                <a:lnTo>
                  <a:pt x="0" y="356789"/>
                </a:lnTo>
                <a:lnTo>
                  <a:pt x="271160" y="356789"/>
                </a:lnTo>
                <a:lnTo>
                  <a:pt x="27116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MA"/>
          </a:p>
        </p:txBody>
      </p:sp>
      <p:sp>
        <p:nvSpPr>
          <p:cNvPr id="8" name="TextBox 8"/>
          <p:cNvSpPr txBox="1"/>
          <p:nvPr/>
        </p:nvSpPr>
        <p:spPr>
          <a:xfrm>
            <a:off x="1028700" y="4760942"/>
            <a:ext cx="7502210" cy="1200778"/>
          </a:xfrm>
          <a:prstGeom prst="rect">
            <a:avLst/>
          </a:prstGeom>
        </p:spPr>
        <p:txBody>
          <a:bodyPr lIns="0" tIns="0" rIns="0" bIns="0" rtlCol="0" anchor="t">
            <a:spAutoFit/>
          </a:bodyPr>
          <a:lstStyle/>
          <a:p>
            <a:pPr marL="0" lvl="0" indent="0" algn="l">
              <a:lnSpc>
                <a:spcPts val="9237"/>
              </a:lnSpc>
            </a:pPr>
            <a:r>
              <a:rPr lang="en-US" sz="9331" b="1" dirty="0" err="1">
                <a:solidFill>
                  <a:srgbClr val="303030"/>
                </a:solidFill>
                <a:latin typeface="+mj-lt"/>
                <a:ea typeface="Codec Pro Bold"/>
                <a:cs typeface="Codec Pro Bold"/>
                <a:sym typeface="Codec Pro Bold"/>
              </a:rPr>
              <a:t>SondageApp</a:t>
            </a:r>
            <a:endParaRPr lang="en-US" sz="9331" b="1" dirty="0">
              <a:solidFill>
                <a:srgbClr val="303030"/>
              </a:solidFill>
              <a:latin typeface="+mj-lt"/>
              <a:ea typeface="Codec Pro Bold"/>
              <a:cs typeface="Codec Pro Bold"/>
              <a:sym typeface="Codec Pro Bold"/>
            </a:endParaRPr>
          </a:p>
        </p:txBody>
      </p:sp>
      <p:sp>
        <p:nvSpPr>
          <p:cNvPr id="9" name="TextBox 9"/>
          <p:cNvSpPr txBox="1"/>
          <p:nvPr/>
        </p:nvSpPr>
        <p:spPr>
          <a:xfrm>
            <a:off x="6163215" y="6711924"/>
            <a:ext cx="5595460" cy="1082669"/>
          </a:xfrm>
          <a:prstGeom prst="rect">
            <a:avLst/>
          </a:prstGeom>
        </p:spPr>
        <p:txBody>
          <a:bodyPr wrap="square" lIns="0" tIns="0" rIns="0" bIns="0" rtlCol="0" anchor="t">
            <a:spAutoFit/>
          </a:bodyPr>
          <a:lstStyle/>
          <a:p>
            <a:pPr>
              <a:lnSpc>
                <a:spcPts val="2818"/>
              </a:lnSpc>
            </a:pPr>
            <a:r>
              <a:rPr lang="en-US" sz="2847" dirty="0" err="1">
                <a:solidFill>
                  <a:srgbClr val="303030"/>
                </a:solidFill>
                <a:latin typeface="+mj-lt"/>
                <a:ea typeface="Codec Pro"/>
                <a:cs typeface="Codec Pro"/>
                <a:sym typeface="Codec Pro"/>
              </a:rPr>
              <a:t>Présenté</a:t>
            </a:r>
            <a:r>
              <a:rPr lang="en-US" sz="2847" dirty="0">
                <a:solidFill>
                  <a:srgbClr val="303030"/>
                </a:solidFill>
                <a:latin typeface="+mj-lt"/>
                <a:ea typeface="Codec Pro"/>
                <a:cs typeface="Codec Pro"/>
                <a:sym typeface="Codec Pro"/>
              </a:rPr>
              <a:t> par: Ed-</a:t>
            </a:r>
            <a:r>
              <a:rPr lang="en-US" sz="2847" dirty="0" err="1">
                <a:solidFill>
                  <a:srgbClr val="303030"/>
                </a:solidFill>
                <a:latin typeface="+mj-lt"/>
                <a:ea typeface="Codec Pro"/>
                <a:cs typeface="Codec Pro"/>
                <a:sym typeface="Codec Pro"/>
              </a:rPr>
              <a:t>dahouz</a:t>
            </a:r>
            <a:r>
              <a:rPr lang="en-US" sz="2847" dirty="0">
                <a:solidFill>
                  <a:srgbClr val="303030"/>
                </a:solidFill>
                <a:latin typeface="+mj-lt"/>
                <a:ea typeface="Codec Pro"/>
                <a:cs typeface="Codec Pro"/>
                <a:sym typeface="Codec Pro"/>
              </a:rPr>
              <a:t> </a:t>
            </a:r>
            <a:r>
              <a:rPr lang="en-US" sz="2847" dirty="0" err="1">
                <a:solidFill>
                  <a:srgbClr val="303030"/>
                </a:solidFill>
                <a:latin typeface="+mj-lt"/>
                <a:ea typeface="Codec Pro"/>
                <a:cs typeface="Codec Pro"/>
                <a:sym typeface="Codec Pro"/>
              </a:rPr>
              <a:t>Ilhame</a:t>
            </a:r>
            <a:endParaRPr lang="en-US" sz="2847" dirty="0">
              <a:solidFill>
                <a:srgbClr val="303030"/>
              </a:solidFill>
              <a:latin typeface="+mj-lt"/>
              <a:ea typeface="Codec Pro"/>
              <a:cs typeface="Codec Pro"/>
              <a:sym typeface="Codec Pro"/>
            </a:endParaRPr>
          </a:p>
          <a:p>
            <a:pPr>
              <a:lnSpc>
                <a:spcPts val="2818"/>
              </a:lnSpc>
            </a:pPr>
            <a:r>
              <a:rPr lang="en-US" sz="2847" dirty="0">
                <a:solidFill>
                  <a:srgbClr val="303030"/>
                </a:solidFill>
                <a:latin typeface="+mj-lt"/>
                <a:ea typeface="Codec Pro"/>
                <a:cs typeface="Codec Pro"/>
                <a:sym typeface="Codec Pro"/>
              </a:rPr>
              <a:t>                         </a:t>
            </a:r>
            <a:r>
              <a:rPr lang="en-US" sz="2847" dirty="0" err="1">
                <a:solidFill>
                  <a:srgbClr val="303030"/>
                </a:solidFill>
                <a:latin typeface="+mj-lt"/>
                <a:ea typeface="Codec Pro"/>
                <a:cs typeface="Codec Pro"/>
                <a:sym typeface="Codec Pro"/>
              </a:rPr>
              <a:t>Terfous</a:t>
            </a:r>
            <a:r>
              <a:rPr lang="en-US" sz="2847" dirty="0">
                <a:solidFill>
                  <a:srgbClr val="303030"/>
                </a:solidFill>
                <a:latin typeface="+mj-lt"/>
                <a:ea typeface="Codec Pro"/>
                <a:cs typeface="Codec Pro"/>
                <a:sym typeface="Codec Pro"/>
              </a:rPr>
              <a:t> Hanae            </a:t>
            </a:r>
          </a:p>
          <a:p>
            <a:pPr marL="0" lvl="0" indent="0">
              <a:lnSpc>
                <a:spcPts val="2818"/>
              </a:lnSpc>
            </a:pPr>
            <a:r>
              <a:rPr lang="en-US" sz="2847" dirty="0">
                <a:solidFill>
                  <a:srgbClr val="303030"/>
                </a:solidFill>
                <a:latin typeface="+mj-lt"/>
                <a:ea typeface="Codec Pro"/>
                <a:cs typeface="Codec Pro"/>
                <a:sym typeface="Codec Pro"/>
              </a:rPr>
              <a:t>                          </a:t>
            </a:r>
            <a:r>
              <a:rPr lang="en-US" sz="2847" dirty="0" err="1">
                <a:solidFill>
                  <a:srgbClr val="303030"/>
                </a:solidFill>
                <a:latin typeface="+mj-lt"/>
                <a:ea typeface="Codec Pro"/>
                <a:cs typeface="Codec Pro"/>
                <a:sym typeface="Codec Pro"/>
              </a:rPr>
              <a:t>Hloul</a:t>
            </a:r>
            <a:r>
              <a:rPr lang="en-US" sz="2847" dirty="0">
                <a:solidFill>
                  <a:srgbClr val="303030"/>
                </a:solidFill>
                <a:latin typeface="+mj-lt"/>
                <a:ea typeface="Codec Pro"/>
                <a:cs typeface="Codec Pro"/>
                <a:sym typeface="Codec Pro"/>
              </a:rPr>
              <a:t> Safa               </a:t>
            </a:r>
          </a:p>
        </p:txBody>
      </p:sp>
      <p:sp>
        <p:nvSpPr>
          <p:cNvPr id="10" name="TextBox 10"/>
          <p:cNvSpPr txBox="1"/>
          <p:nvPr/>
        </p:nvSpPr>
        <p:spPr>
          <a:xfrm>
            <a:off x="12611064" y="7143982"/>
            <a:ext cx="3772805" cy="365678"/>
          </a:xfrm>
          <a:prstGeom prst="rect">
            <a:avLst/>
          </a:prstGeom>
        </p:spPr>
        <p:txBody>
          <a:bodyPr lIns="0" tIns="0" rIns="0" bIns="0" rtlCol="0" anchor="t">
            <a:spAutoFit/>
          </a:bodyPr>
          <a:lstStyle/>
          <a:p>
            <a:pPr marL="0" lvl="0" indent="0" algn="r">
              <a:lnSpc>
                <a:spcPts val="2818"/>
              </a:lnSpc>
              <a:spcBef>
                <a:spcPct val="0"/>
              </a:spcBef>
            </a:pPr>
            <a:r>
              <a:rPr lang="en-US" sz="2847" dirty="0">
                <a:solidFill>
                  <a:srgbClr val="000000"/>
                </a:solidFill>
                <a:latin typeface="+mj-lt"/>
                <a:ea typeface="Codec Pro"/>
                <a:cs typeface="Codec Pro"/>
                <a:sym typeface="Codec Pro"/>
              </a:rPr>
              <a:t>Dr. ABOUABID HAMZA</a:t>
            </a:r>
          </a:p>
        </p:txBody>
      </p:sp>
      <p:sp>
        <p:nvSpPr>
          <p:cNvPr id="11" name="TextBox 11"/>
          <p:cNvSpPr txBox="1"/>
          <p:nvPr/>
        </p:nvSpPr>
        <p:spPr>
          <a:xfrm>
            <a:off x="11663842" y="6714394"/>
            <a:ext cx="3808260" cy="365678"/>
          </a:xfrm>
          <a:prstGeom prst="rect">
            <a:avLst/>
          </a:prstGeom>
        </p:spPr>
        <p:txBody>
          <a:bodyPr lIns="0" tIns="0" rIns="0" bIns="0" rtlCol="0" anchor="t">
            <a:spAutoFit/>
          </a:bodyPr>
          <a:lstStyle/>
          <a:p>
            <a:pPr marL="0" lvl="0" indent="0" algn="r">
              <a:lnSpc>
                <a:spcPts val="2818"/>
              </a:lnSpc>
              <a:spcBef>
                <a:spcPct val="0"/>
              </a:spcBef>
            </a:pPr>
            <a:r>
              <a:rPr lang="en-US" sz="2847" b="1" dirty="0" err="1">
                <a:solidFill>
                  <a:srgbClr val="269649"/>
                </a:solidFill>
                <a:latin typeface="+mj-lt"/>
                <a:ea typeface="Codec Pro Bold"/>
                <a:cs typeface="Codec Pro Bold"/>
                <a:sym typeface="Codec Pro Bold"/>
              </a:rPr>
              <a:t>Encadré</a:t>
            </a:r>
            <a:r>
              <a:rPr lang="en-US" sz="2847" b="1" dirty="0">
                <a:solidFill>
                  <a:srgbClr val="269649"/>
                </a:solidFill>
                <a:latin typeface="+mj-lt"/>
                <a:ea typeface="Codec Pro Bold"/>
                <a:cs typeface="Codec Pro Bold"/>
                <a:sym typeface="Codec Pro Bold"/>
              </a:rPr>
              <a:t> par</a:t>
            </a:r>
          </a:p>
        </p:txBody>
      </p:sp>
      <p:sp>
        <p:nvSpPr>
          <p:cNvPr id="12" name="TextBox 12"/>
          <p:cNvSpPr txBox="1"/>
          <p:nvPr/>
        </p:nvSpPr>
        <p:spPr>
          <a:xfrm>
            <a:off x="1028700" y="6619526"/>
            <a:ext cx="5595460" cy="456728"/>
          </a:xfrm>
          <a:prstGeom prst="rect">
            <a:avLst/>
          </a:prstGeom>
        </p:spPr>
        <p:txBody>
          <a:bodyPr lIns="0" tIns="0" rIns="0" bIns="0" rtlCol="0" anchor="t">
            <a:spAutoFit/>
          </a:bodyPr>
          <a:lstStyle/>
          <a:p>
            <a:pPr marL="0" lvl="0" indent="0" algn="l">
              <a:lnSpc>
                <a:spcPts val="3511"/>
              </a:lnSpc>
            </a:pPr>
            <a:r>
              <a:rPr lang="en-US" sz="3547" b="1" dirty="0">
                <a:solidFill>
                  <a:srgbClr val="303030"/>
                </a:solidFill>
                <a:latin typeface="+mj-lt"/>
                <a:ea typeface="Codec Pro Bold"/>
                <a:cs typeface="Codec Pro Bold"/>
                <a:sym typeface="Codec Pro Bold"/>
              </a:rPr>
              <a:t>Python avec Django</a:t>
            </a:r>
          </a:p>
        </p:txBody>
      </p:sp>
      <p:pic>
        <p:nvPicPr>
          <p:cNvPr id="14" name="Image 13">
            <a:extLst>
              <a:ext uri="{FF2B5EF4-FFF2-40B4-BE49-F238E27FC236}">
                <a16:creationId xmlns:a16="http://schemas.microsoft.com/office/drawing/2014/main" id="{F7424962-0490-3D94-EFB9-2FD2B409B7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 y="33184"/>
            <a:ext cx="6934200" cy="1514330"/>
          </a:xfrm>
          <a:prstGeom prst="rect">
            <a:avLst/>
          </a:prstGeom>
        </p:spPr>
      </p:pic>
      <p:pic>
        <p:nvPicPr>
          <p:cNvPr id="16" name="Image 15">
            <a:extLst>
              <a:ext uri="{FF2B5EF4-FFF2-40B4-BE49-F238E27FC236}">
                <a16:creationId xmlns:a16="http://schemas.microsoft.com/office/drawing/2014/main" id="{38144430-7B5D-9B7D-58F3-30F31F50EEE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998000" y="-33375"/>
            <a:ext cx="4290000" cy="151431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3941551538"/>
              </p:ext>
            </p:extLst>
          </p:nvPr>
        </p:nvGraphicFramePr>
        <p:xfrm>
          <a:off x="1028700" y="2280733"/>
          <a:ext cx="16230599" cy="4381500"/>
        </p:xfrm>
        <a:graphic>
          <a:graphicData uri="http://schemas.openxmlformats.org/drawingml/2006/table">
            <a:tbl>
              <a:tblPr/>
              <a:tblGrid>
                <a:gridCol w="1496537">
                  <a:extLst>
                    <a:ext uri="{9D8B030D-6E8A-4147-A177-3AD203B41FA5}">
                      <a16:colId xmlns:a16="http://schemas.microsoft.com/office/drawing/2014/main" val="20000"/>
                    </a:ext>
                  </a:extLst>
                </a:gridCol>
                <a:gridCol w="7258949">
                  <a:extLst>
                    <a:ext uri="{9D8B030D-6E8A-4147-A177-3AD203B41FA5}">
                      <a16:colId xmlns:a16="http://schemas.microsoft.com/office/drawing/2014/main" val="20001"/>
                    </a:ext>
                  </a:extLst>
                </a:gridCol>
                <a:gridCol w="865150">
                  <a:extLst>
                    <a:ext uri="{9D8B030D-6E8A-4147-A177-3AD203B41FA5}">
                      <a16:colId xmlns:a16="http://schemas.microsoft.com/office/drawing/2014/main" val="20002"/>
                    </a:ext>
                  </a:extLst>
                </a:gridCol>
                <a:gridCol w="6609963">
                  <a:extLst>
                    <a:ext uri="{9D8B030D-6E8A-4147-A177-3AD203B41FA5}">
                      <a16:colId xmlns:a16="http://schemas.microsoft.com/office/drawing/2014/main" val="20003"/>
                    </a:ext>
                  </a:extLst>
                </a:gridCol>
              </a:tblGrid>
              <a:tr h="1095375">
                <a:tc>
                  <a:txBody>
                    <a:bodyPr/>
                    <a:lstStyle/>
                    <a:p>
                      <a:pPr marL="0" lvl="0" indent="0" algn="l">
                        <a:lnSpc>
                          <a:spcPts val="2818"/>
                        </a:lnSpc>
                        <a:spcBef>
                          <a:spcPct val="0"/>
                        </a:spcBef>
                        <a:defRPr/>
                      </a:pPr>
                      <a:r>
                        <a:rPr lang="en-US" sz="2847" b="1" u="none" strike="noStrike">
                          <a:solidFill>
                            <a:srgbClr val="303030"/>
                          </a:solidFill>
                          <a:latin typeface="Codec Pro Bold"/>
                          <a:ea typeface="Codec Pro Bold"/>
                          <a:cs typeface="Codec Pro Bold"/>
                          <a:sym typeface="Codec Pro Bold"/>
                        </a:rPr>
                        <a:t>01</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dash"/>
                      <a:round/>
                      <a:headEnd type="none" w="med" len="med"/>
                      <a:tailEnd type="none" w="med" len="med"/>
                    </a:lnB>
                  </a:tcPr>
                </a:tc>
                <a:tc>
                  <a:txBody>
                    <a:bodyPr/>
                    <a:lstStyle/>
                    <a:p>
                      <a:pPr marL="0" lvl="0" indent="0" algn="l">
                        <a:lnSpc>
                          <a:spcPts val="2818"/>
                        </a:lnSpc>
                        <a:spcBef>
                          <a:spcPct val="0"/>
                        </a:spcBef>
                        <a:defRPr/>
                      </a:pPr>
                      <a:r>
                        <a:rPr lang="en-US" sz="2847" u="none" strike="noStrike">
                          <a:solidFill>
                            <a:srgbClr val="303030"/>
                          </a:solidFill>
                          <a:latin typeface="Codec Pro"/>
                          <a:ea typeface="Codec Pro"/>
                          <a:cs typeface="Codec Pro"/>
                          <a:sym typeface="Codec Pro"/>
                        </a:rPr>
                        <a:t>Introduction</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dash"/>
                      <a:round/>
                      <a:headEnd type="none" w="med" len="med"/>
                      <a:tailEnd type="none" w="med" len="med"/>
                    </a:lnB>
                  </a:tcPr>
                </a:tc>
                <a:tc>
                  <a:txBody>
                    <a:bodyPr/>
                    <a:lstStyle/>
                    <a:p>
                      <a:pPr marL="0" lvl="0" indent="0" algn="l">
                        <a:lnSpc>
                          <a:spcPts val="2818"/>
                        </a:lnSpc>
                        <a:spcBef>
                          <a:spcPct val="0"/>
                        </a:spcBef>
                        <a:defRPr/>
                      </a:pPr>
                      <a:r>
                        <a:rPr lang="en-US" sz="2847" b="1" u="none" strike="noStrike">
                          <a:solidFill>
                            <a:srgbClr val="303030"/>
                          </a:solidFill>
                          <a:latin typeface="Codec Pro Bold"/>
                          <a:ea typeface="Codec Pro Bold"/>
                          <a:cs typeface="Codec Pro Bold"/>
                          <a:sym typeface="Codec Pro Bold"/>
                        </a:rPr>
                        <a:t>05</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dash"/>
                      <a:round/>
                      <a:headEnd type="none" w="med" len="med"/>
                      <a:tailEnd type="none" w="med" len="med"/>
                    </a:lnB>
                  </a:tcPr>
                </a:tc>
                <a:tc>
                  <a:txBody>
                    <a:bodyPr/>
                    <a:lstStyle/>
                    <a:p>
                      <a:pPr marL="0" marR="0" lvl="0" indent="0" algn="l" defTabSz="914400" rtl="0" eaLnBrk="1" fontAlgn="auto" latinLnBrk="0" hangingPunct="1">
                        <a:lnSpc>
                          <a:spcPts val="2818"/>
                        </a:lnSpc>
                        <a:spcBef>
                          <a:spcPct val="0"/>
                        </a:spcBef>
                        <a:spcAft>
                          <a:spcPts val="0"/>
                        </a:spcAft>
                        <a:buClrTx/>
                        <a:buSzTx/>
                        <a:buFontTx/>
                        <a:buNone/>
                        <a:tabLst/>
                        <a:defRPr/>
                      </a:pPr>
                      <a:r>
                        <a:rPr lang="en-US" sz="2847" u="none" strike="noStrike" dirty="0">
                          <a:solidFill>
                            <a:srgbClr val="303030"/>
                          </a:solidFill>
                          <a:latin typeface="Codec Pro"/>
                          <a:ea typeface="Codec Pro"/>
                          <a:cs typeface="Codec Pro"/>
                          <a:sym typeface="Codec Pro"/>
                        </a:rPr>
                        <a:t>Technologies </a:t>
                      </a:r>
                      <a:r>
                        <a:rPr lang="en-US" sz="2847" u="none" strike="noStrike" dirty="0" err="1">
                          <a:solidFill>
                            <a:srgbClr val="303030"/>
                          </a:solidFill>
                          <a:latin typeface="Codec Pro"/>
                          <a:ea typeface="Codec Pro"/>
                          <a:cs typeface="Codec Pro"/>
                          <a:sym typeface="Codec Pro"/>
                        </a:rPr>
                        <a:t>utilisées</a:t>
                      </a:r>
                      <a:r>
                        <a:rPr lang="en-US" sz="2847" u="none" strike="noStrike" dirty="0">
                          <a:solidFill>
                            <a:srgbClr val="303030"/>
                          </a:solidFill>
                          <a:latin typeface="Codec Pro"/>
                          <a:ea typeface="Codec Pro"/>
                          <a:cs typeface="Codec Pro"/>
                          <a:sym typeface="Codec Pro"/>
                        </a:rPr>
                        <a:t>-Frontend</a:t>
                      </a:r>
                      <a:endParaRPr lang="en-US" sz="1100" dirty="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0000"/>
                  </a:ext>
                </a:extLst>
              </a:tr>
              <a:tr h="1095375">
                <a:tc>
                  <a:txBody>
                    <a:bodyPr/>
                    <a:lstStyle/>
                    <a:p>
                      <a:pPr marL="0" lvl="0" indent="0" algn="l">
                        <a:lnSpc>
                          <a:spcPts val="2818"/>
                        </a:lnSpc>
                        <a:spcBef>
                          <a:spcPct val="0"/>
                        </a:spcBef>
                        <a:defRPr/>
                      </a:pPr>
                      <a:r>
                        <a:rPr lang="en-US" sz="2847" b="1" u="none" strike="noStrike">
                          <a:solidFill>
                            <a:srgbClr val="303030"/>
                          </a:solidFill>
                          <a:latin typeface="Codec Pro Bold"/>
                          <a:ea typeface="Codec Pro Bold"/>
                          <a:cs typeface="Codec Pro Bold"/>
                          <a:sym typeface="Codec Pro Bold"/>
                        </a:rPr>
                        <a:t>02</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dash"/>
                      <a:round/>
                      <a:headEnd type="none" w="med" len="med"/>
                      <a:tailEnd type="none" w="med" len="med"/>
                    </a:lnT>
                    <a:lnB w="0" cap="flat" cmpd="sng" algn="ctr">
                      <a:solidFill>
                        <a:srgbClr val="000000"/>
                      </a:solidFill>
                      <a:prstDash val="dash"/>
                      <a:round/>
                      <a:headEnd type="none" w="med" len="med"/>
                      <a:tailEnd type="none" w="med" len="med"/>
                    </a:lnB>
                  </a:tcPr>
                </a:tc>
                <a:tc>
                  <a:txBody>
                    <a:bodyPr/>
                    <a:lstStyle/>
                    <a:p>
                      <a:pPr marL="0" lvl="0" indent="0" algn="l">
                        <a:lnSpc>
                          <a:spcPts val="2818"/>
                        </a:lnSpc>
                        <a:spcBef>
                          <a:spcPct val="0"/>
                        </a:spcBef>
                        <a:defRPr/>
                      </a:pPr>
                      <a:r>
                        <a:rPr lang="en-US" sz="2847" u="none" strike="noStrike">
                          <a:solidFill>
                            <a:srgbClr val="303030"/>
                          </a:solidFill>
                          <a:latin typeface="Codec Pro"/>
                          <a:ea typeface="Codec Pro"/>
                          <a:cs typeface="Codec Pro"/>
                          <a:sym typeface="Codec Pro"/>
                        </a:rPr>
                        <a:t>Problématique</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dash"/>
                      <a:round/>
                      <a:headEnd type="none" w="med" len="med"/>
                      <a:tailEnd type="none" w="med" len="med"/>
                    </a:lnT>
                    <a:lnB w="0" cap="flat" cmpd="sng" algn="ctr">
                      <a:solidFill>
                        <a:srgbClr val="000000"/>
                      </a:solidFill>
                      <a:prstDash val="dash"/>
                      <a:round/>
                      <a:headEnd type="none" w="med" len="med"/>
                      <a:tailEnd type="none" w="med" len="med"/>
                    </a:lnB>
                  </a:tcPr>
                </a:tc>
                <a:tc>
                  <a:txBody>
                    <a:bodyPr/>
                    <a:lstStyle/>
                    <a:p>
                      <a:pPr marL="0" lvl="0" indent="0" algn="l">
                        <a:lnSpc>
                          <a:spcPts val="2818"/>
                        </a:lnSpc>
                        <a:spcBef>
                          <a:spcPct val="0"/>
                        </a:spcBef>
                        <a:defRPr/>
                      </a:pPr>
                      <a:r>
                        <a:rPr lang="en-US" sz="2847" b="1" u="none" strike="noStrike">
                          <a:solidFill>
                            <a:srgbClr val="303030"/>
                          </a:solidFill>
                          <a:latin typeface="Codec Pro Bold"/>
                          <a:ea typeface="Codec Pro Bold"/>
                          <a:cs typeface="Codec Pro Bold"/>
                          <a:sym typeface="Codec Pro Bold"/>
                        </a:rPr>
                        <a:t>06</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dash"/>
                      <a:round/>
                      <a:headEnd type="none" w="med" len="med"/>
                      <a:tailEnd type="none" w="med" len="med"/>
                    </a:lnT>
                    <a:lnB w="0" cap="flat" cmpd="sng" algn="ctr">
                      <a:solidFill>
                        <a:srgbClr val="000000"/>
                      </a:solidFill>
                      <a:prstDash val="dash"/>
                      <a:round/>
                      <a:headEnd type="none" w="med" len="med"/>
                      <a:tailEnd type="none" w="med" len="med"/>
                    </a:lnB>
                  </a:tcPr>
                </a:tc>
                <a:tc>
                  <a:txBody>
                    <a:bodyPr/>
                    <a:lstStyle/>
                    <a:p>
                      <a:pPr marL="0" lvl="0" indent="0" algn="l">
                        <a:lnSpc>
                          <a:spcPts val="2818"/>
                        </a:lnSpc>
                        <a:spcBef>
                          <a:spcPct val="0"/>
                        </a:spcBef>
                        <a:defRPr/>
                      </a:pPr>
                      <a:r>
                        <a:rPr lang="en-US" sz="2847" u="none" strike="noStrike" dirty="0" err="1">
                          <a:solidFill>
                            <a:srgbClr val="303030"/>
                          </a:solidFill>
                          <a:latin typeface="Codec Pro"/>
                          <a:ea typeface="Codec Pro"/>
                          <a:cs typeface="Codec Pro"/>
                          <a:sym typeface="Codec Pro"/>
                        </a:rPr>
                        <a:t>Fonctionnalités</a:t>
                      </a:r>
                      <a:r>
                        <a:rPr lang="en-US" sz="2847" u="none" strike="noStrike" dirty="0">
                          <a:solidFill>
                            <a:srgbClr val="303030"/>
                          </a:solidFill>
                          <a:latin typeface="Codec Pro"/>
                          <a:ea typeface="Codec Pro"/>
                          <a:cs typeface="Codec Pro"/>
                          <a:sym typeface="Codec Pro"/>
                        </a:rPr>
                        <a:t> </a:t>
                      </a:r>
                      <a:r>
                        <a:rPr lang="en-US" sz="2847" u="none" strike="noStrike" dirty="0" err="1">
                          <a:solidFill>
                            <a:srgbClr val="303030"/>
                          </a:solidFill>
                          <a:latin typeface="Codec Pro"/>
                          <a:ea typeface="Codec Pro"/>
                          <a:cs typeface="Codec Pro"/>
                          <a:sym typeface="Codec Pro"/>
                        </a:rPr>
                        <a:t>principales</a:t>
                      </a:r>
                      <a:endParaRPr lang="en-US" sz="1100" dirty="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dash"/>
                      <a:round/>
                      <a:headEnd type="none" w="med" len="med"/>
                      <a:tailEnd type="none" w="med" len="med"/>
                    </a:lnT>
                    <a:lnB w="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0001"/>
                  </a:ext>
                </a:extLst>
              </a:tr>
              <a:tr h="1095375">
                <a:tc>
                  <a:txBody>
                    <a:bodyPr/>
                    <a:lstStyle/>
                    <a:p>
                      <a:pPr marL="0" lvl="0" indent="0" algn="l">
                        <a:lnSpc>
                          <a:spcPts val="2818"/>
                        </a:lnSpc>
                        <a:spcBef>
                          <a:spcPct val="0"/>
                        </a:spcBef>
                        <a:defRPr/>
                      </a:pPr>
                      <a:r>
                        <a:rPr lang="en-US" sz="2847" b="1" u="none" strike="noStrike">
                          <a:solidFill>
                            <a:srgbClr val="303030"/>
                          </a:solidFill>
                          <a:latin typeface="Codec Pro Bold"/>
                          <a:ea typeface="Codec Pro Bold"/>
                          <a:cs typeface="Codec Pro Bold"/>
                          <a:sym typeface="Codec Pro Bold"/>
                        </a:rPr>
                        <a:t>03</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dash"/>
                      <a:round/>
                      <a:headEnd type="none" w="med" len="med"/>
                      <a:tailEnd type="none" w="med" len="med"/>
                    </a:lnT>
                    <a:lnB w="0" cap="flat" cmpd="sng" algn="ctr">
                      <a:solidFill>
                        <a:srgbClr val="000000"/>
                      </a:solidFill>
                      <a:prstDash val="dash"/>
                      <a:round/>
                      <a:headEnd type="none" w="med" len="med"/>
                      <a:tailEnd type="none" w="med" len="med"/>
                    </a:lnB>
                  </a:tcPr>
                </a:tc>
                <a:tc>
                  <a:txBody>
                    <a:bodyPr/>
                    <a:lstStyle/>
                    <a:p>
                      <a:pPr marL="0" lvl="0" indent="0" algn="l">
                        <a:lnSpc>
                          <a:spcPts val="2818"/>
                        </a:lnSpc>
                        <a:spcBef>
                          <a:spcPct val="0"/>
                        </a:spcBef>
                        <a:defRPr/>
                      </a:pPr>
                      <a:r>
                        <a:rPr lang="en-US" sz="2847" u="none" strike="noStrike" dirty="0" err="1">
                          <a:solidFill>
                            <a:srgbClr val="303030"/>
                          </a:solidFill>
                          <a:latin typeface="Codec Pro"/>
                          <a:ea typeface="Codec Pro"/>
                          <a:cs typeface="Codec Pro"/>
                          <a:sym typeface="Codec Pro"/>
                        </a:rPr>
                        <a:t>Objectifs</a:t>
                      </a:r>
                      <a:endParaRPr lang="en-US" sz="1100" dirty="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dash"/>
                      <a:round/>
                      <a:headEnd type="none" w="med" len="med"/>
                      <a:tailEnd type="none" w="med" len="med"/>
                    </a:lnT>
                    <a:lnB w="0" cap="flat" cmpd="sng" algn="ctr">
                      <a:solidFill>
                        <a:srgbClr val="000000"/>
                      </a:solidFill>
                      <a:prstDash val="dash"/>
                      <a:round/>
                      <a:headEnd type="none" w="med" len="med"/>
                      <a:tailEnd type="none" w="med" len="med"/>
                    </a:lnB>
                  </a:tcPr>
                </a:tc>
                <a:tc>
                  <a:txBody>
                    <a:bodyPr/>
                    <a:lstStyle/>
                    <a:p>
                      <a:pPr marL="0" lvl="0" indent="0" algn="l">
                        <a:lnSpc>
                          <a:spcPts val="2818"/>
                        </a:lnSpc>
                        <a:spcBef>
                          <a:spcPct val="0"/>
                        </a:spcBef>
                        <a:defRPr/>
                      </a:pPr>
                      <a:r>
                        <a:rPr lang="en-US" sz="2847" b="1" u="none" strike="noStrike">
                          <a:solidFill>
                            <a:srgbClr val="303030"/>
                          </a:solidFill>
                          <a:latin typeface="Codec Pro Bold"/>
                          <a:ea typeface="Codec Pro Bold"/>
                          <a:cs typeface="Codec Pro Bold"/>
                          <a:sym typeface="Codec Pro Bold"/>
                        </a:rPr>
                        <a:t>07</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dash"/>
                      <a:round/>
                      <a:headEnd type="none" w="med" len="med"/>
                      <a:tailEnd type="none" w="med" len="med"/>
                    </a:lnT>
                    <a:lnB w="0" cap="flat" cmpd="sng" algn="ctr">
                      <a:solidFill>
                        <a:srgbClr val="000000"/>
                      </a:solidFill>
                      <a:prstDash val="dash"/>
                      <a:round/>
                      <a:headEnd type="none" w="med" len="med"/>
                      <a:tailEnd type="none" w="med" len="med"/>
                    </a:lnB>
                  </a:tcPr>
                </a:tc>
                <a:tc>
                  <a:txBody>
                    <a:bodyPr/>
                    <a:lstStyle/>
                    <a:p>
                      <a:pPr marL="0" lvl="0" indent="0" algn="l">
                        <a:lnSpc>
                          <a:spcPts val="2818"/>
                        </a:lnSpc>
                        <a:spcBef>
                          <a:spcPct val="0"/>
                        </a:spcBef>
                        <a:defRPr/>
                      </a:pPr>
                      <a:r>
                        <a:rPr lang="en-US" sz="2847" dirty="0" err="1">
                          <a:solidFill>
                            <a:srgbClr val="303030"/>
                          </a:solidFill>
                          <a:latin typeface="Codec Pro"/>
                          <a:ea typeface="Codec Pro"/>
                          <a:cs typeface="Codec Pro"/>
                          <a:sym typeface="Codec Pro"/>
                        </a:rPr>
                        <a:t>Réalisation</a:t>
                      </a:r>
                      <a:endParaRPr lang="en-US" sz="1100" dirty="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dash"/>
                      <a:round/>
                      <a:headEnd type="none" w="med" len="med"/>
                      <a:tailEnd type="none" w="med" len="med"/>
                    </a:lnT>
                    <a:lnB w="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0002"/>
                  </a:ext>
                </a:extLst>
              </a:tr>
              <a:tr h="1095375">
                <a:tc>
                  <a:txBody>
                    <a:bodyPr/>
                    <a:lstStyle/>
                    <a:p>
                      <a:pPr marL="0" lvl="0" indent="0" algn="l">
                        <a:lnSpc>
                          <a:spcPts val="2818"/>
                        </a:lnSpc>
                        <a:spcBef>
                          <a:spcPct val="0"/>
                        </a:spcBef>
                        <a:defRPr/>
                      </a:pPr>
                      <a:r>
                        <a:rPr lang="en-US" sz="2847" b="1" u="none" strike="noStrike">
                          <a:solidFill>
                            <a:srgbClr val="303030"/>
                          </a:solidFill>
                          <a:latin typeface="Codec Pro Bold"/>
                          <a:ea typeface="Codec Pro Bold"/>
                          <a:cs typeface="Codec Pro Bold"/>
                          <a:sym typeface="Codec Pro Bold"/>
                        </a:rPr>
                        <a:t>04</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dash"/>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marL="0" lvl="0" indent="0" algn="l">
                        <a:lnSpc>
                          <a:spcPts val="2818"/>
                        </a:lnSpc>
                        <a:spcBef>
                          <a:spcPct val="0"/>
                        </a:spcBef>
                        <a:defRPr/>
                      </a:pPr>
                      <a:r>
                        <a:rPr lang="en-US" sz="2847" u="none" strike="noStrike" dirty="0">
                          <a:solidFill>
                            <a:srgbClr val="303030"/>
                          </a:solidFill>
                          <a:latin typeface="Codec Pro"/>
                          <a:ea typeface="Codec Pro"/>
                          <a:cs typeface="Codec Pro"/>
                          <a:sym typeface="Codec Pro"/>
                        </a:rPr>
                        <a:t>Technologies </a:t>
                      </a:r>
                      <a:r>
                        <a:rPr lang="en-US" sz="2847" u="none" strike="noStrike" dirty="0" err="1">
                          <a:solidFill>
                            <a:srgbClr val="303030"/>
                          </a:solidFill>
                          <a:latin typeface="Codec Pro"/>
                          <a:ea typeface="Codec Pro"/>
                          <a:cs typeface="Codec Pro"/>
                          <a:sym typeface="Codec Pro"/>
                        </a:rPr>
                        <a:t>utilisées</a:t>
                      </a:r>
                      <a:r>
                        <a:rPr lang="en-US" sz="2847" u="none" strike="noStrike" dirty="0">
                          <a:solidFill>
                            <a:srgbClr val="303030"/>
                          </a:solidFill>
                          <a:latin typeface="Codec Pro"/>
                          <a:ea typeface="Codec Pro"/>
                          <a:cs typeface="Codec Pro"/>
                          <a:sym typeface="Codec Pro"/>
                        </a:rPr>
                        <a:t>-Backend</a:t>
                      </a:r>
                      <a:endParaRPr lang="en-US" sz="1100" dirty="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dash"/>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marL="0" lvl="0" indent="0" algn="l">
                        <a:lnSpc>
                          <a:spcPts val="2818"/>
                        </a:lnSpc>
                        <a:spcBef>
                          <a:spcPct val="0"/>
                        </a:spcBef>
                        <a:defRPr/>
                      </a:pPr>
                      <a:r>
                        <a:rPr lang="en-US" sz="2847" b="1" u="none" strike="noStrike">
                          <a:solidFill>
                            <a:srgbClr val="303030"/>
                          </a:solidFill>
                          <a:latin typeface="Codec Pro Bold"/>
                          <a:ea typeface="Codec Pro Bold"/>
                          <a:cs typeface="Codec Pro Bold"/>
                          <a:sym typeface="Codec Pro Bold"/>
                        </a:rPr>
                        <a:t>08</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dash"/>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marL="0" lvl="0" indent="0" algn="l">
                        <a:lnSpc>
                          <a:spcPts val="2818"/>
                        </a:lnSpc>
                        <a:spcBef>
                          <a:spcPct val="0"/>
                        </a:spcBef>
                        <a:defRPr/>
                      </a:pPr>
                      <a:r>
                        <a:rPr lang="en-US" sz="2847" dirty="0" err="1">
                          <a:solidFill>
                            <a:srgbClr val="303030"/>
                          </a:solidFill>
                          <a:latin typeface="Codec Pro"/>
                          <a:ea typeface="Codec Pro"/>
                          <a:cs typeface="Codec Pro"/>
                          <a:sym typeface="Codec Pro"/>
                        </a:rPr>
                        <a:t>Résultats</a:t>
                      </a:r>
                      <a:endParaRPr lang="en-US" sz="2847" dirty="0">
                        <a:solidFill>
                          <a:srgbClr val="303030"/>
                        </a:solidFill>
                        <a:latin typeface="Codec Pro"/>
                        <a:ea typeface="Codec Pro"/>
                        <a:cs typeface="Codec Pro"/>
                        <a:sym typeface="Codec Pro"/>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dash"/>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 name="TextBox 3"/>
          <p:cNvSpPr txBox="1"/>
          <p:nvPr/>
        </p:nvSpPr>
        <p:spPr>
          <a:xfrm>
            <a:off x="1028700" y="1060404"/>
            <a:ext cx="5239849" cy="960026"/>
          </a:xfrm>
          <a:prstGeom prst="rect">
            <a:avLst/>
          </a:prstGeom>
        </p:spPr>
        <p:txBody>
          <a:bodyPr lIns="0" tIns="0" rIns="0" bIns="0" rtlCol="0" anchor="t">
            <a:spAutoFit/>
          </a:bodyPr>
          <a:lstStyle/>
          <a:p>
            <a:pPr marL="0" lvl="0" indent="0" algn="l">
              <a:lnSpc>
                <a:spcPts val="6452"/>
              </a:lnSpc>
            </a:pPr>
            <a:r>
              <a:rPr lang="en-US" sz="6517" b="1">
                <a:solidFill>
                  <a:srgbClr val="303030"/>
                </a:solidFill>
                <a:latin typeface="Codec Pro Bold"/>
                <a:ea typeface="Codec Pro Bold"/>
                <a:cs typeface="Codec Pro Bold"/>
                <a:sym typeface="Codec Pro Bold"/>
              </a:rPr>
              <a:t>Sommaire</a:t>
            </a:r>
          </a:p>
        </p:txBody>
      </p:sp>
      <p:sp>
        <p:nvSpPr>
          <p:cNvPr id="4" name="AutoShape 4"/>
          <p:cNvSpPr/>
          <p:nvPr/>
        </p:nvSpPr>
        <p:spPr>
          <a:xfrm>
            <a:off x="1028700" y="2149017"/>
            <a:ext cx="16230569" cy="0"/>
          </a:xfrm>
          <a:prstGeom prst="line">
            <a:avLst/>
          </a:prstGeom>
          <a:ln w="28575" cap="flat">
            <a:solidFill>
              <a:srgbClr val="000000"/>
            </a:solidFill>
            <a:prstDash val="solid"/>
            <a:headEnd type="none" w="sm" len="sm"/>
            <a:tailEnd type="none" w="sm" len="sm"/>
          </a:ln>
        </p:spPr>
        <p:txBody>
          <a:bodyPr/>
          <a:lstStyle/>
          <a:p>
            <a:endParaRPr lang="fr-MA"/>
          </a:p>
        </p:txBody>
      </p:sp>
      <p:sp>
        <p:nvSpPr>
          <p:cNvPr id="5" name="Freeform 5"/>
          <p:cNvSpPr/>
          <p:nvPr/>
        </p:nvSpPr>
        <p:spPr>
          <a:xfrm>
            <a:off x="0" y="8877269"/>
            <a:ext cx="18288000" cy="1409731"/>
          </a:xfrm>
          <a:custGeom>
            <a:avLst/>
            <a:gdLst/>
            <a:ahLst/>
            <a:cxnLst/>
            <a:rect l="l" t="t" r="r" b="b"/>
            <a:pathLst>
              <a:path w="18288000" h="1409731">
                <a:moveTo>
                  <a:pt x="0" y="0"/>
                </a:moveTo>
                <a:lnTo>
                  <a:pt x="18288000" y="0"/>
                </a:lnTo>
                <a:lnTo>
                  <a:pt x="18288000" y="1409731"/>
                </a:lnTo>
                <a:lnTo>
                  <a:pt x="0" y="1409731"/>
                </a:lnTo>
                <a:lnTo>
                  <a:pt x="0" y="0"/>
                </a:lnTo>
                <a:close/>
              </a:path>
            </a:pathLst>
          </a:custGeom>
          <a:blipFill>
            <a:blip r:embed="rId2">
              <a:alphaModFix amt="31999"/>
            </a:blip>
            <a:stretch>
              <a:fillRect t="-629713"/>
            </a:stretch>
          </a:blipFill>
        </p:spPr>
        <p:txBody>
          <a:bodyPr/>
          <a:lstStyle/>
          <a:p>
            <a:endParaRPr lang="fr-MA"/>
          </a:p>
        </p:txBody>
      </p:sp>
      <p:graphicFrame>
        <p:nvGraphicFramePr>
          <p:cNvPr id="6" name="Tableau 5">
            <a:extLst>
              <a:ext uri="{FF2B5EF4-FFF2-40B4-BE49-F238E27FC236}">
                <a16:creationId xmlns:a16="http://schemas.microsoft.com/office/drawing/2014/main" id="{256EA898-61C7-5CB5-98AA-9D52B67A2561}"/>
              </a:ext>
            </a:extLst>
          </p:cNvPr>
          <p:cNvGraphicFramePr>
            <a:graphicFrameLocks noGrp="1"/>
          </p:cNvGraphicFramePr>
          <p:nvPr>
            <p:extLst>
              <p:ext uri="{D42A27DB-BD31-4B8C-83A1-F6EECF244321}">
                <p14:modId xmlns:p14="http://schemas.microsoft.com/office/powerpoint/2010/main" val="3591486767"/>
              </p:ext>
            </p:extLst>
          </p:nvPr>
        </p:nvGraphicFramePr>
        <p:xfrm>
          <a:off x="9779240" y="6515100"/>
          <a:ext cx="7475113" cy="1095375"/>
        </p:xfrm>
        <a:graphic>
          <a:graphicData uri="http://schemas.openxmlformats.org/drawingml/2006/table">
            <a:tbl>
              <a:tblPr/>
              <a:tblGrid>
                <a:gridCol w="865150">
                  <a:extLst>
                    <a:ext uri="{9D8B030D-6E8A-4147-A177-3AD203B41FA5}">
                      <a16:colId xmlns:a16="http://schemas.microsoft.com/office/drawing/2014/main" val="3700545777"/>
                    </a:ext>
                  </a:extLst>
                </a:gridCol>
                <a:gridCol w="6609963">
                  <a:extLst>
                    <a:ext uri="{9D8B030D-6E8A-4147-A177-3AD203B41FA5}">
                      <a16:colId xmlns:a16="http://schemas.microsoft.com/office/drawing/2014/main" val="212701309"/>
                    </a:ext>
                  </a:extLst>
                </a:gridCol>
              </a:tblGrid>
              <a:tr h="1095375">
                <a:tc>
                  <a:txBody>
                    <a:bodyPr/>
                    <a:lstStyle/>
                    <a:p>
                      <a:pPr marL="0" lvl="0" indent="0" algn="l">
                        <a:lnSpc>
                          <a:spcPts val="2818"/>
                        </a:lnSpc>
                        <a:spcBef>
                          <a:spcPct val="0"/>
                        </a:spcBef>
                        <a:defRPr/>
                      </a:pPr>
                      <a:r>
                        <a:rPr lang="en-US" sz="2847" b="1" u="none" strike="noStrike" dirty="0">
                          <a:solidFill>
                            <a:srgbClr val="303030"/>
                          </a:solidFill>
                          <a:latin typeface="Codec Pro Bold"/>
                          <a:ea typeface="Codec Pro Bold"/>
                          <a:cs typeface="Codec Pro Bold"/>
                          <a:sym typeface="Codec Pro Bold"/>
                        </a:rPr>
                        <a:t>09</a:t>
                      </a:r>
                      <a:endParaRPr lang="en-US" sz="1100" dirty="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dash"/>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marL="0" lvl="0" indent="0" algn="l">
                        <a:lnSpc>
                          <a:spcPts val="2818"/>
                        </a:lnSpc>
                        <a:spcBef>
                          <a:spcPct val="0"/>
                        </a:spcBef>
                        <a:defRPr/>
                      </a:pPr>
                      <a:r>
                        <a:rPr lang="en-US" sz="2847" dirty="0">
                          <a:solidFill>
                            <a:srgbClr val="303030"/>
                          </a:solidFill>
                          <a:latin typeface="Codec Pro"/>
                          <a:ea typeface="Codec Pro"/>
                          <a:cs typeface="Codec Pro"/>
                          <a:sym typeface="Codec Pro"/>
                        </a:rPr>
                        <a:t>Conclusion</a:t>
                      </a: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dash"/>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70898196"/>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060404"/>
            <a:ext cx="5239849" cy="960026"/>
          </a:xfrm>
          <a:prstGeom prst="rect">
            <a:avLst/>
          </a:prstGeom>
        </p:spPr>
        <p:txBody>
          <a:bodyPr lIns="0" tIns="0" rIns="0" bIns="0" rtlCol="0" anchor="t">
            <a:spAutoFit/>
          </a:bodyPr>
          <a:lstStyle/>
          <a:p>
            <a:pPr marL="0" lvl="0" indent="0" algn="l">
              <a:lnSpc>
                <a:spcPts val="6452"/>
              </a:lnSpc>
            </a:pPr>
            <a:r>
              <a:rPr lang="en-US" sz="6517" b="1">
                <a:solidFill>
                  <a:srgbClr val="303030"/>
                </a:solidFill>
                <a:latin typeface="Codec Pro Bold"/>
                <a:ea typeface="Codec Pro Bold"/>
                <a:cs typeface="Codec Pro Bold"/>
                <a:sym typeface="Codec Pro Bold"/>
              </a:rPr>
              <a:t>Introduction</a:t>
            </a:r>
          </a:p>
        </p:txBody>
      </p:sp>
      <p:sp>
        <p:nvSpPr>
          <p:cNvPr id="3" name="AutoShape 3"/>
          <p:cNvSpPr/>
          <p:nvPr/>
        </p:nvSpPr>
        <p:spPr>
          <a:xfrm>
            <a:off x="1028700" y="2149017"/>
            <a:ext cx="16230569" cy="0"/>
          </a:xfrm>
          <a:prstGeom prst="line">
            <a:avLst/>
          </a:prstGeom>
          <a:ln w="28575" cap="flat">
            <a:solidFill>
              <a:srgbClr val="000000"/>
            </a:solidFill>
            <a:prstDash val="solid"/>
            <a:headEnd type="none" w="sm" len="sm"/>
            <a:tailEnd type="none" w="sm" len="sm"/>
          </a:ln>
        </p:spPr>
        <p:txBody>
          <a:bodyPr/>
          <a:lstStyle/>
          <a:p>
            <a:endParaRPr lang="fr-MA"/>
          </a:p>
        </p:txBody>
      </p:sp>
      <p:sp>
        <p:nvSpPr>
          <p:cNvPr id="4" name="Freeform 4"/>
          <p:cNvSpPr/>
          <p:nvPr/>
        </p:nvSpPr>
        <p:spPr>
          <a:xfrm>
            <a:off x="0" y="8877269"/>
            <a:ext cx="18288000" cy="1409731"/>
          </a:xfrm>
          <a:custGeom>
            <a:avLst/>
            <a:gdLst/>
            <a:ahLst/>
            <a:cxnLst/>
            <a:rect l="l" t="t" r="r" b="b"/>
            <a:pathLst>
              <a:path w="18288000" h="1409731">
                <a:moveTo>
                  <a:pt x="0" y="0"/>
                </a:moveTo>
                <a:lnTo>
                  <a:pt x="18288000" y="0"/>
                </a:lnTo>
                <a:lnTo>
                  <a:pt x="18288000" y="1409731"/>
                </a:lnTo>
                <a:lnTo>
                  <a:pt x="0" y="1409731"/>
                </a:lnTo>
                <a:lnTo>
                  <a:pt x="0" y="0"/>
                </a:lnTo>
                <a:close/>
              </a:path>
            </a:pathLst>
          </a:custGeom>
          <a:blipFill>
            <a:blip r:embed="rId2">
              <a:alphaModFix amt="31999"/>
            </a:blip>
            <a:stretch>
              <a:fillRect t="-629713"/>
            </a:stretch>
          </a:blipFill>
        </p:spPr>
        <p:txBody>
          <a:bodyPr/>
          <a:lstStyle/>
          <a:p>
            <a:endParaRPr lang="fr-MA"/>
          </a:p>
        </p:txBody>
      </p:sp>
      <p:grpSp>
        <p:nvGrpSpPr>
          <p:cNvPr id="5" name="Group 5"/>
          <p:cNvGrpSpPr/>
          <p:nvPr/>
        </p:nvGrpSpPr>
        <p:grpSpPr>
          <a:xfrm>
            <a:off x="16389111" y="8496237"/>
            <a:ext cx="870158" cy="762063"/>
            <a:chOff x="0" y="0"/>
            <a:chExt cx="1160210" cy="1016084"/>
          </a:xfrm>
        </p:grpSpPr>
        <p:grpSp>
          <p:nvGrpSpPr>
            <p:cNvPr id="6" name="Group 6"/>
            <p:cNvGrpSpPr/>
            <p:nvPr/>
          </p:nvGrpSpPr>
          <p:grpSpPr>
            <a:xfrm>
              <a:off x="0" y="0"/>
              <a:ext cx="1160210" cy="1016084"/>
              <a:chOff x="0" y="0"/>
              <a:chExt cx="229177" cy="200708"/>
            </a:xfrm>
          </p:grpSpPr>
          <p:sp>
            <p:nvSpPr>
              <p:cNvPr id="7" name="Freeform 7"/>
              <p:cNvSpPr/>
              <p:nvPr/>
            </p:nvSpPr>
            <p:spPr>
              <a:xfrm>
                <a:off x="0" y="0"/>
                <a:ext cx="229177" cy="200708"/>
              </a:xfrm>
              <a:custGeom>
                <a:avLst/>
                <a:gdLst/>
                <a:ahLst/>
                <a:cxnLst/>
                <a:rect l="l" t="t" r="r" b="b"/>
                <a:pathLst>
                  <a:path w="229177" h="200708">
                    <a:moveTo>
                      <a:pt x="0" y="0"/>
                    </a:moveTo>
                    <a:lnTo>
                      <a:pt x="229177" y="0"/>
                    </a:lnTo>
                    <a:lnTo>
                      <a:pt x="229177" y="200708"/>
                    </a:lnTo>
                    <a:lnTo>
                      <a:pt x="0" y="200708"/>
                    </a:lnTo>
                    <a:close/>
                  </a:path>
                </a:pathLst>
              </a:custGeom>
              <a:solidFill>
                <a:srgbClr val="269649"/>
              </a:solidFill>
            </p:spPr>
            <p:txBody>
              <a:bodyPr/>
              <a:lstStyle/>
              <a:p>
                <a:endParaRPr lang="fr-MA"/>
              </a:p>
            </p:txBody>
          </p:sp>
          <p:sp>
            <p:nvSpPr>
              <p:cNvPr id="8" name="TextBox 8"/>
              <p:cNvSpPr txBox="1"/>
              <p:nvPr/>
            </p:nvSpPr>
            <p:spPr>
              <a:xfrm>
                <a:off x="0" y="-66675"/>
                <a:ext cx="229177" cy="267383"/>
              </a:xfrm>
              <a:prstGeom prst="rect">
                <a:avLst/>
              </a:prstGeom>
            </p:spPr>
            <p:txBody>
              <a:bodyPr lIns="50800" tIns="50800" rIns="50800" bIns="50800" rtlCol="0" anchor="ctr"/>
              <a:lstStyle/>
              <a:p>
                <a:pPr algn="ctr">
                  <a:lnSpc>
                    <a:spcPts val="3500"/>
                  </a:lnSpc>
                </a:pPr>
                <a:endParaRPr/>
              </a:p>
            </p:txBody>
          </p:sp>
        </p:grpSp>
        <p:sp>
          <p:nvSpPr>
            <p:cNvPr id="9" name="TextBox 9"/>
            <p:cNvSpPr txBox="1"/>
            <p:nvPr/>
          </p:nvSpPr>
          <p:spPr>
            <a:xfrm>
              <a:off x="0" y="162399"/>
              <a:ext cx="1160210" cy="700811"/>
            </a:xfrm>
            <a:prstGeom prst="rect">
              <a:avLst/>
            </a:prstGeom>
          </p:spPr>
          <p:txBody>
            <a:bodyPr lIns="0" tIns="0" rIns="0" bIns="0" rtlCol="0" anchor="t">
              <a:spAutoFit/>
            </a:bodyPr>
            <a:lstStyle/>
            <a:p>
              <a:pPr marL="0" lvl="0" indent="0" algn="ctr">
                <a:lnSpc>
                  <a:spcPts val="3511"/>
                </a:lnSpc>
              </a:pPr>
              <a:r>
                <a:rPr lang="en-US" sz="3547" b="1" dirty="0">
                  <a:solidFill>
                    <a:srgbClr val="FAFAFA"/>
                  </a:solidFill>
                  <a:latin typeface="Codec Pro Bold"/>
                  <a:ea typeface="Codec Pro Bold"/>
                  <a:cs typeface="Codec Pro Bold"/>
                  <a:sym typeface="Codec Pro Bold"/>
                </a:rPr>
                <a:t>01</a:t>
              </a:r>
            </a:p>
          </p:txBody>
        </p:sp>
      </p:grpSp>
      <p:sp>
        <p:nvSpPr>
          <p:cNvPr id="10" name="TextBox 10"/>
          <p:cNvSpPr txBox="1"/>
          <p:nvPr/>
        </p:nvSpPr>
        <p:spPr>
          <a:xfrm>
            <a:off x="1028669" y="2719525"/>
            <a:ext cx="16761647" cy="3956404"/>
          </a:xfrm>
          <a:prstGeom prst="rect">
            <a:avLst/>
          </a:prstGeom>
        </p:spPr>
        <p:txBody>
          <a:bodyPr lIns="0" tIns="0" rIns="0" bIns="0" rtlCol="0" anchor="t">
            <a:spAutoFit/>
          </a:bodyPr>
          <a:lstStyle/>
          <a:p>
            <a:pPr>
              <a:lnSpc>
                <a:spcPts val="2818"/>
              </a:lnSpc>
            </a:pPr>
            <a:r>
              <a:rPr lang="en-US" sz="2847" dirty="0">
                <a:solidFill>
                  <a:srgbClr val="303030"/>
                </a:solidFill>
                <a:latin typeface="+mj-lt"/>
                <a:ea typeface="Codec Pro"/>
                <a:cs typeface="Codec Pro"/>
                <a:sym typeface="Codec Pro"/>
              </a:rPr>
              <a:t>Dans le cadre de </a:t>
            </a:r>
            <a:r>
              <a:rPr lang="en-US" sz="2847" dirty="0" err="1">
                <a:solidFill>
                  <a:srgbClr val="303030"/>
                </a:solidFill>
                <a:latin typeface="+mj-lt"/>
                <a:ea typeface="Codec Pro"/>
                <a:cs typeface="Codec Pro"/>
                <a:sym typeface="Codec Pro"/>
              </a:rPr>
              <a:t>notre</a:t>
            </a:r>
            <a:r>
              <a:rPr lang="en-US" sz="2847" dirty="0">
                <a:solidFill>
                  <a:srgbClr val="303030"/>
                </a:solidFill>
                <a:latin typeface="+mj-lt"/>
                <a:ea typeface="Codec Pro"/>
                <a:cs typeface="Codec Pro"/>
                <a:sym typeface="Codec Pro"/>
              </a:rPr>
              <a:t> formation, nous </a:t>
            </a:r>
            <a:r>
              <a:rPr lang="en-US" sz="2847" dirty="0" err="1">
                <a:solidFill>
                  <a:srgbClr val="303030"/>
                </a:solidFill>
                <a:latin typeface="+mj-lt"/>
                <a:ea typeface="Codec Pro"/>
                <a:cs typeface="Codec Pro"/>
                <a:sym typeface="Codec Pro"/>
              </a:rPr>
              <a:t>avons</a:t>
            </a:r>
            <a:r>
              <a:rPr lang="en-US" sz="2847" dirty="0">
                <a:solidFill>
                  <a:srgbClr val="303030"/>
                </a:solidFill>
                <a:latin typeface="+mj-lt"/>
                <a:ea typeface="Codec Pro"/>
                <a:cs typeface="Codec Pro"/>
                <a:sym typeface="Codec Pro"/>
              </a:rPr>
              <a:t> </a:t>
            </a:r>
            <a:r>
              <a:rPr lang="en-US" sz="2847" dirty="0" err="1">
                <a:solidFill>
                  <a:srgbClr val="303030"/>
                </a:solidFill>
                <a:latin typeface="+mj-lt"/>
                <a:ea typeface="Codec Pro"/>
                <a:cs typeface="Codec Pro"/>
                <a:sym typeface="Codec Pro"/>
              </a:rPr>
              <a:t>réalisé</a:t>
            </a:r>
            <a:r>
              <a:rPr lang="en-US" sz="2847" dirty="0">
                <a:solidFill>
                  <a:srgbClr val="303030"/>
                </a:solidFill>
                <a:latin typeface="+mj-lt"/>
                <a:ea typeface="Codec Pro"/>
                <a:cs typeface="Codec Pro"/>
                <a:sym typeface="Codec Pro"/>
              </a:rPr>
              <a:t> </a:t>
            </a:r>
            <a:r>
              <a:rPr lang="en-US" sz="2847" dirty="0" err="1">
                <a:solidFill>
                  <a:srgbClr val="303030"/>
                </a:solidFill>
                <a:latin typeface="+mj-lt"/>
                <a:ea typeface="Codec Pro"/>
                <a:cs typeface="Codec Pro"/>
                <a:sym typeface="Codec Pro"/>
              </a:rPr>
              <a:t>une</a:t>
            </a:r>
            <a:r>
              <a:rPr lang="en-US" sz="2847" dirty="0">
                <a:solidFill>
                  <a:srgbClr val="303030"/>
                </a:solidFill>
                <a:latin typeface="+mj-lt"/>
                <a:ea typeface="Codec Pro"/>
                <a:cs typeface="Codec Pro"/>
                <a:sym typeface="Codec Pro"/>
              </a:rPr>
              <a:t> application web de gestion de sondages </a:t>
            </a:r>
            <a:r>
              <a:rPr lang="en-US" sz="2847" dirty="0" err="1">
                <a:solidFill>
                  <a:srgbClr val="303030"/>
                </a:solidFill>
                <a:latin typeface="+mj-lt"/>
                <a:ea typeface="Codec Pro"/>
                <a:cs typeface="Codec Pro"/>
                <a:sym typeface="Codec Pro"/>
              </a:rPr>
              <a:t>permettant</a:t>
            </a:r>
            <a:r>
              <a:rPr lang="en-US" sz="2847" dirty="0">
                <a:solidFill>
                  <a:srgbClr val="303030"/>
                </a:solidFill>
                <a:latin typeface="+mj-lt"/>
                <a:ea typeface="Codec Pro"/>
                <a:cs typeface="Codec Pro"/>
                <a:sym typeface="Codec Pro"/>
              </a:rPr>
              <a:t> de </a:t>
            </a:r>
            <a:r>
              <a:rPr lang="en-US" sz="2847" dirty="0" err="1">
                <a:solidFill>
                  <a:srgbClr val="303030"/>
                </a:solidFill>
                <a:latin typeface="+mj-lt"/>
                <a:ea typeface="Codec Pro"/>
                <a:cs typeface="Codec Pro"/>
                <a:sym typeface="Codec Pro"/>
              </a:rPr>
              <a:t>créer</a:t>
            </a:r>
            <a:r>
              <a:rPr lang="en-US" sz="2847" dirty="0">
                <a:solidFill>
                  <a:srgbClr val="303030"/>
                </a:solidFill>
                <a:latin typeface="+mj-lt"/>
                <a:ea typeface="Codec Pro"/>
                <a:cs typeface="Codec Pro"/>
                <a:sym typeface="Codec Pro"/>
              </a:rPr>
              <a:t>, </a:t>
            </a:r>
            <a:r>
              <a:rPr lang="en-US" sz="2847" dirty="0" err="1">
                <a:solidFill>
                  <a:srgbClr val="303030"/>
                </a:solidFill>
                <a:latin typeface="+mj-lt"/>
                <a:ea typeface="Codec Pro"/>
                <a:cs typeface="Codec Pro"/>
                <a:sym typeface="Codec Pro"/>
              </a:rPr>
              <a:t>gérer</a:t>
            </a:r>
            <a:r>
              <a:rPr lang="en-US" sz="2847" dirty="0">
                <a:solidFill>
                  <a:srgbClr val="303030"/>
                </a:solidFill>
                <a:latin typeface="+mj-lt"/>
                <a:ea typeface="Codec Pro"/>
                <a:cs typeface="Codec Pro"/>
                <a:sym typeface="Codec Pro"/>
              </a:rPr>
              <a:t> et </a:t>
            </a:r>
            <a:r>
              <a:rPr lang="en-US" sz="2847" dirty="0" err="1">
                <a:solidFill>
                  <a:srgbClr val="303030"/>
                </a:solidFill>
                <a:latin typeface="+mj-lt"/>
                <a:ea typeface="Codec Pro"/>
                <a:cs typeface="Codec Pro"/>
                <a:sym typeface="Codec Pro"/>
              </a:rPr>
              <a:t>analyser</a:t>
            </a:r>
            <a:r>
              <a:rPr lang="en-US" sz="2847" dirty="0">
                <a:solidFill>
                  <a:srgbClr val="303030"/>
                </a:solidFill>
                <a:latin typeface="+mj-lt"/>
                <a:ea typeface="Codec Pro"/>
                <a:cs typeface="Codec Pro"/>
                <a:sym typeface="Codec Pro"/>
              </a:rPr>
              <a:t> des questionnaires </a:t>
            </a:r>
            <a:r>
              <a:rPr lang="en-US" sz="2847" dirty="0" err="1">
                <a:solidFill>
                  <a:srgbClr val="303030"/>
                </a:solidFill>
                <a:latin typeface="+mj-lt"/>
                <a:ea typeface="Codec Pro"/>
                <a:cs typeface="Codec Pro"/>
                <a:sym typeface="Codec Pro"/>
              </a:rPr>
              <a:t>en</a:t>
            </a:r>
            <a:r>
              <a:rPr lang="en-US" sz="2847" dirty="0">
                <a:solidFill>
                  <a:srgbClr val="303030"/>
                </a:solidFill>
                <a:latin typeface="+mj-lt"/>
                <a:ea typeface="Codec Pro"/>
                <a:cs typeface="Codec Pro"/>
                <a:sym typeface="Codec Pro"/>
              </a:rPr>
              <a:t> </a:t>
            </a:r>
            <a:r>
              <a:rPr lang="en-US" sz="2847" dirty="0" err="1">
                <a:solidFill>
                  <a:srgbClr val="303030"/>
                </a:solidFill>
                <a:latin typeface="+mj-lt"/>
                <a:ea typeface="Codec Pro"/>
                <a:cs typeface="Codec Pro"/>
                <a:sym typeface="Codec Pro"/>
              </a:rPr>
              <a:t>ligne</a:t>
            </a:r>
            <a:r>
              <a:rPr lang="en-US" sz="2847" dirty="0">
                <a:solidFill>
                  <a:srgbClr val="303030"/>
                </a:solidFill>
                <a:latin typeface="+mj-lt"/>
                <a:ea typeface="Codec Pro"/>
                <a:cs typeface="Codec Pro"/>
                <a:sym typeface="Codec Pro"/>
              </a:rPr>
              <a:t> de manière simple et </a:t>
            </a:r>
            <a:r>
              <a:rPr lang="en-US" sz="2847" dirty="0" err="1">
                <a:solidFill>
                  <a:srgbClr val="303030"/>
                </a:solidFill>
                <a:latin typeface="+mj-lt"/>
                <a:ea typeface="Codec Pro"/>
                <a:cs typeface="Codec Pro"/>
                <a:sym typeface="Codec Pro"/>
              </a:rPr>
              <a:t>efficace</a:t>
            </a:r>
            <a:r>
              <a:rPr lang="en-US" sz="2847" dirty="0">
                <a:solidFill>
                  <a:srgbClr val="303030"/>
                </a:solidFill>
                <a:latin typeface="+mj-lt"/>
                <a:ea typeface="Codec Pro"/>
                <a:cs typeface="Codec Pro"/>
                <a:sym typeface="Codec Pro"/>
              </a:rPr>
              <a:t>. Cette application </a:t>
            </a:r>
            <a:r>
              <a:rPr lang="en-US" sz="2847" dirty="0" err="1">
                <a:solidFill>
                  <a:srgbClr val="303030"/>
                </a:solidFill>
                <a:latin typeface="+mj-lt"/>
                <a:ea typeface="Codec Pro"/>
                <a:cs typeface="Codec Pro"/>
                <a:sym typeface="Codec Pro"/>
              </a:rPr>
              <a:t>facilite</a:t>
            </a:r>
            <a:r>
              <a:rPr lang="en-US" sz="2847" dirty="0">
                <a:solidFill>
                  <a:srgbClr val="303030"/>
                </a:solidFill>
                <a:latin typeface="+mj-lt"/>
                <a:ea typeface="Codec Pro"/>
                <a:cs typeface="Codec Pro"/>
                <a:sym typeface="Codec Pro"/>
              </a:rPr>
              <a:t> la </a:t>
            </a:r>
            <a:r>
              <a:rPr lang="en-US" sz="2847" dirty="0" err="1">
                <a:solidFill>
                  <a:srgbClr val="303030"/>
                </a:solidFill>
                <a:latin typeface="+mj-lt"/>
                <a:ea typeface="Codec Pro"/>
                <a:cs typeface="Codec Pro"/>
                <a:sym typeface="Codec Pro"/>
              </a:rPr>
              <a:t>collecte</a:t>
            </a:r>
            <a:r>
              <a:rPr lang="en-US" sz="2847" dirty="0">
                <a:solidFill>
                  <a:srgbClr val="303030"/>
                </a:solidFill>
                <a:latin typeface="+mj-lt"/>
                <a:ea typeface="Codec Pro"/>
                <a:cs typeface="Codec Pro"/>
                <a:sym typeface="Codec Pro"/>
              </a:rPr>
              <a:t> des avis et des </a:t>
            </a:r>
            <a:r>
              <a:rPr lang="en-US" sz="2847" dirty="0" err="1">
                <a:solidFill>
                  <a:srgbClr val="303030"/>
                </a:solidFill>
                <a:latin typeface="+mj-lt"/>
                <a:ea typeface="Codec Pro"/>
                <a:cs typeface="Codec Pro"/>
                <a:sym typeface="Codec Pro"/>
              </a:rPr>
              <a:t>réponses</a:t>
            </a:r>
            <a:r>
              <a:rPr lang="en-US" sz="2847" dirty="0">
                <a:solidFill>
                  <a:srgbClr val="303030"/>
                </a:solidFill>
                <a:latin typeface="+mj-lt"/>
                <a:ea typeface="Codec Pro"/>
                <a:cs typeface="Codec Pro"/>
                <a:sym typeface="Codec Pro"/>
              </a:rPr>
              <a:t> des </a:t>
            </a:r>
            <a:r>
              <a:rPr lang="en-US" sz="2847" dirty="0" err="1">
                <a:solidFill>
                  <a:srgbClr val="303030"/>
                </a:solidFill>
                <a:latin typeface="+mj-lt"/>
                <a:ea typeface="Codec Pro"/>
                <a:cs typeface="Codec Pro"/>
                <a:sym typeface="Codec Pro"/>
              </a:rPr>
              <a:t>utilisateurs</a:t>
            </a:r>
            <a:r>
              <a:rPr lang="en-US" sz="2847" dirty="0">
                <a:solidFill>
                  <a:srgbClr val="303030"/>
                </a:solidFill>
                <a:latin typeface="+mj-lt"/>
                <a:ea typeface="Codec Pro"/>
                <a:cs typeface="Codec Pro"/>
                <a:sym typeface="Codec Pro"/>
              </a:rPr>
              <a:t> à travers </a:t>
            </a:r>
            <a:r>
              <a:rPr lang="en-US" sz="2847" dirty="0" err="1">
                <a:solidFill>
                  <a:srgbClr val="303030"/>
                </a:solidFill>
                <a:latin typeface="+mj-lt"/>
                <a:ea typeface="Codec Pro"/>
                <a:cs typeface="Codec Pro"/>
                <a:sym typeface="Codec Pro"/>
              </a:rPr>
              <a:t>une</a:t>
            </a:r>
            <a:r>
              <a:rPr lang="en-US" sz="2847" dirty="0">
                <a:solidFill>
                  <a:srgbClr val="303030"/>
                </a:solidFill>
                <a:latin typeface="+mj-lt"/>
                <a:ea typeface="Codec Pro"/>
                <a:cs typeface="Codec Pro"/>
                <a:sym typeface="Codec Pro"/>
              </a:rPr>
              <a:t> interface </a:t>
            </a:r>
            <a:r>
              <a:rPr lang="en-US" sz="2847" dirty="0" err="1">
                <a:solidFill>
                  <a:srgbClr val="303030"/>
                </a:solidFill>
                <a:latin typeface="+mj-lt"/>
                <a:ea typeface="Codec Pro"/>
                <a:cs typeface="Codec Pro"/>
                <a:sym typeface="Codec Pro"/>
              </a:rPr>
              <a:t>moderne</a:t>
            </a:r>
            <a:r>
              <a:rPr lang="en-US" sz="2847" dirty="0">
                <a:solidFill>
                  <a:srgbClr val="303030"/>
                </a:solidFill>
                <a:latin typeface="+mj-lt"/>
                <a:ea typeface="Codec Pro"/>
                <a:cs typeface="Codec Pro"/>
                <a:sym typeface="Codec Pro"/>
              </a:rPr>
              <a:t> et intuitive.</a:t>
            </a:r>
          </a:p>
          <a:p>
            <a:pPr>
              <a:lnSpc>
                <a:spcPts val="2818"/>
              </a:lnSpc>
            </a:pPr>
            <a:endParaRPr lang="en-US" sz="2847" dirty="0">
              <a:solidFill>
                <a:srgbClr val="303030"/>
              </a:solidFill>
              <a:latin typeface="+mj-lt"/>
              <a:ea typeface="Codec Pro"/>
              <a:cs typeface="Codec Pro"/>
              <a:sym typeface="Codec Pro"/>
            </a:endParaRPr>
          </a:p>
          <a:p>
            <a:pPr>
              <a:lnSpc>
                <a:spcPts val="2818"/>
              </a:lnSpc>
            </a:pPr>
            <a:r>
              <a:rPr lang="en-US" sz="2847" dirty="0">
                <a:solidFill>
                  <a:srgbClr val="303030"/>
                </a:solidFill>
                <a:latin typeface="+mj-lt"/>
                <a:ea typeface="Codec Pro"/>
                <a:cs typeface="Codec Pro"/>
                <a:sym typeface="Codec Pro"/>
              </a:rPr>
              <a:t>Le </a:t>
            </a:r>
            <a:r>
              <a:rPr lang="en-US" sz="2847" dirty="0" err="1">
                <a:solidFill>
                  <a:srgbClr val="303030"/>
                </a:solidFill>
                <a:latin typeface="+mj-lt"/>
                <a:ea typeface="Codec Pro"/>
                <a:cs typeface="Codec Pro"/>
                <a:sym typeface="Codec Pro"/>
              </a:rPr>
              <a:t>projet</a:t>
            </a:r>
            <a:r>
              <a:rPr lang="en-US" sz="2847" dirty="0">
                <a:solidFill>
                  <a:srgbClr val="303030"/>
                </a:solidFill>
                <a:latin typeface="+mj-lt"/>
                <a:ea typeface="Codec Pro"/>
                <a:cs typeface="Codec Pro"/>
                <a:sym typeface="Codec Pro"/>
              </a:rPr>
              <a:t> a </a:t>
            </a:r>
            <a:r>
              <a:rPr lang="en-US" sz="2847" dirty="0" err="1">
                <a:solidFill>
                  <a:srgbClr val="303030"/>
                </a:solidFill>
                <a:latin typeface="+mj-lt"/>
                <a:ea typeface="Codec Pro"/>
                <a:cs typeface="Codec Pro"/>
                <a:sym typeface="Codec Pro"/>
              </a:rPr>
              <a:t>été</a:t>
            </a:r>
            <a:r>
              <a:rPr lang="en-US" sz="2847" dirty="0">
                <a:solidFill>
                  <a:srgbClr val="303030"/>
                </a:solidFill>
                <a:latin typeface="+mj-lt"/>
                <a:ea typeface="Codec Pro"/>
                <a:cs typeface="Codec Pro"/>
                <a:sym typeface="Codec Pro"/>
              </a:rPr>
              <a:t> </a:t>
            </a:r>
            <a:r>
              <a:rPr lang="en-US" sz="2847" dirty="0" err="1">
                <a:solidFill>
                  <a:srgbClr val="303030"/>
                </a:solidFill>
                <a:latin typeface="+mj-lt"/>
                <a:ea typeface="Codec Pro"/>
                <a:cs typeface="Codec Pro"/>
                <a:sym typeface="Codec Pro"/>
              </a:rPr>
              <a:t>développé</a:t>
            </a:r>
            <a:r>
              <a:rPr lang="en-US" sz="2847" dirty="0">
                <a:solidFill>
                  <a:srgbClr val="303030"/>
                </a:solidFill>
                <a:latin typeface="+mj-lt"/>
                <a:ea typeface="Codec Pro"/>
                <a:cs typeface="Codec Pro"/>
                <a:sym typeface="Codec Pro"/>
              </a:rPr>
              <a:t> </a:t>
            </a:r>
            <a:r>
              <a:rPr lang="en-US" sz="2847" dirty="0" err="1">
                <a:solidFill>
                  <a:srgbClr val="303030"/>
                </a:solidFill>
                <a:latin typeface="+mj-lt"/>
                <a:ea typeface="Codec Pro"/>
                <a:cs typeface="Codec Pro"/>
                <a:sym typeface="Codec Pro"/>
              </a:rPr>
              <a:t>en</a:t>
            </a:r>
            <a:r>
              <a:rPr lang="en-US" sz="2847" dirty="0">
                <a:solidFill>
                  <a:srgbClr val="303030"/>
                </a:solidFill>
                <a:latin typeface="+mj-lt"/>
                <a:ea typeface="Codec Pro"/>
                <a:cs typeface="Codec Pro"/>
                <a:sym typeface="Codec Pro"/>
              </a:rPr>
              <a:t> Python avec le framework Django, </a:t>
            </a:r>
            <a:r>
              <a:rPr lang="en-US" sz="2847" dirty="0" err="1">
                <a:solidFill>
                  <a:srgbClr val="303030"/>
                </a:solidFill>
                <a:latin typeface="+mj-lt"/>
                <a:ea typeface="Codec Pro"/>
                <a:cs typeface="Codec Pro"/>
                <a:sym typeface="Codec Pro"/>
              </a:rPr>
              <a:t>ainsi</a:t>
            </a:r>
            <a:r>
              <a:rPr lang="en-US" sz="2847" dirty="0">
                <a:solidFill>
                  <a:srgbClr val="303030"/>
                </a:solidFill>
                <a:latin typeface="+mj-lt"/>
                <a:ea typeface="Codec Pro"/>
                <a:cs typeface="Codec Pro"/>
                <a:sym typeface="Codec Pro"/>
              </a:rPr>
              <a:t> </a:t>
            </a:r>
            <a:r>
              <a:rPr lang="en-US" sz="2847" dirty="0" err="1">
                <a:solidFill>
                  <a:srgbClr val="303030"/>
                </a:solidFill>
                <a:latin typeface="+mj-lt"/>
                <a:ea typeface="Codec Pro"/>
                <a:cs typeface="Codec Pro"/>
                <a:sym typeface="Codec Pro"/>
              </a:rPr>
              <a:t>qu’avec</a:t>
            </a:r>
            <a:r>
              <a:rPr lang="en-US" sz="2847" dirty="0">
                <a:solidFill>
                  <a:srgbClr val="303030"/>
                </a:solidFill>
                <a:latin typeface="+mj-lt"/>
                <a:ea typeface="Codec Pro"/>
                <a:cs typeface="Codec Pro"/>
                <a:sym typeface="Codec Pro"/>
              </a:rPr>
              <a:t> les technologies HTML, CSS et JavaScript pour la </a:t>
            </a:r>
            <a:r>
              <a:rPr lang="en-US" sz="2847" dirty="0" err="1">
                <a:solidFill>
                  <a:srgbClr val="303030"/>
                </a:solidFill>
                <a:latin typeface="+mj-lt"/>
                <a:ea typeface="Codec Pro"/>
                <a:cs typeface="Codec Pro"/>
                <a:sym typeface="Codec Pro"/>
              </a:rPr>
              <a:t>partie</a:t>
            </a:r>
            <a:r>
              <a:rPr lang="en-US" sz="2847" dirty="0">
                <a:solidFill>
                  <a:srgbClr val="303030"/>
                </a:solidFill>
                <a:latin typeface="+mj-lt"/>
                <a:ea typeface="Codec Pro"/>
                <a:cs typeface="Codec Pro"/>
                <a:sym typeface="Codec Pro"/>
              </a:rPr>
              <a:t> interface </a:t>
            </a:r>
            <a:r>
              <a:rPr lang="en-US" sz="2847" dirty="0" err="1">
                <a:solidFill>
                  <a:srgbClr val="303030"/>
                </a:solidFill>
                <a:latin typeface="+mj-lt"/>
                <a:ea typeface="Codec Pro"/>
                <a:cs typeface="Codec Pro"/>
                <a:sym typeface="Codec Pro"/>
              </a:rPr>
              <a:t>utilisateur</a:t>
            </a:r>
            <a:r>
              <a:rPr lang="en-US" sz="2847" dirty="0">
                <a:solidFill>
                  <a:srgbClr val="303030"/>
                </a:solidFill>
                <a:latin typeface="+mj-lt"/>
                <a:ea typeface="Codec Pro"/>
                <a:cs typeface="Codec Pro"/>
                <a:sym typeface="Codec Pro"/>
              </a:rPr>
              <a:t>. Il </a:t>
            </a:r>
            <a:r>
              <a:rPr lang="en-US" sz="2847" dirty="0" err="1">
                <a:solidFill>
                  <a:srgbClr val="303030"/>
                </a:solidFill>
                <a:latin typeface="+mj-lt"/>
                <a:ea typeface="Codec Pro"/>
                <a:cs typeface="Codec Pro"/>
                <a:sym typeface="Codec Pro"/>
              </a:rPr>
              <a:t>comprend</a:t>
            </a:r>
            <a:r>
              <a:rPr lang="en-US" sz="2847" dirty="0">
                <a:solidFill>
                  <a:srgbClr val="303030"/>
                </a:solidFill>
                <a:latin typeface="+mj-lt"/>
                <a:ea typeface="Codec Pro"/>
                <a:cs typeface="Codec Pro"/>
                <a:sym typeface="Codec Pro"/>
              </a:rPr>
              <a:t> </a:t>
            </a:r>
            <a:r>
              <a:rPr lang="en-US" sz="2847" dirty="0" err="1">
                <a:solidFill>
                  <a:srgbClr val="303030"/>
                </a:solidFill>
                <a:latin typeface="+mj-lt"/>
                <a:ea typeface="Codec Pro"/>
                <a:cs typeface="Codec Pro"/>
                <a:sym typeface="Codec Pro"/>
              </a:rPr>
              <a:t>plusieurs</a:t>
            </a:r>
            <a:r>
              <a:rPr lang="en-US" sz="2847" dirty="0">
                <a:solidFill>
                  <a:srgbClr val="303030"/>
                </a:solidFill>
                <a:latin typeface="+mj-lt"/>
                <a:ea typeface="Codec Pro"/>
                <a:cs typeface="Codec Pro"/>
                <a:sym typeface="Codec Pro"/>
              </a:rPr>
              <a:t> </a:t>
            </a:r>
            <a:r>
              <a:rPr lang="en-US" sz="2847" dirty="0" err="1">
                <a:solidFill>
                  <a:srgbClr val="303030"/>
                </a:solidFill>
                <a:latin typeface="+mj-lt"/>
                <a:ea typeface="Codec Pro"/>
                <a:cs typeface="Codec Pro"/>
                <a:sym typeface="Codec Pro"/>
              </a:rPr>
              <a:t>fonctionnalités</a:t>
            </a:r>
            <a:r>
              <a:rPr lang="en-US" sz="2847" dirty="0">
                <a:solidFill>
                  <a:srgbClr val="303030"/>
                </a:solidFill>
                <a:latin typeface="+mj-lt"/>
                <a:ea typeface="Codec Pro"/>
                <a:cs typeface="Codec Pro"/>
                <a:sym typeface="Codec Pro"/>
              </a:rPr>
              <a:t>, </a:t>
            </a:r>
            <a:r>
              <a:rPr lang="en-US" sz="2847" dirty="0" err="1">
                <a:solidFill>
                  <a:srgbClr val="303030"/>
                </a:solidFill>
                <a:latin typeface="+mj-lt"/>
                <a:ea typeface="Codec Pro"/>
                <a:cs typeface="Codec Pro"/>
                <a:sym typeface="Codec Pro"/>
              </a:rPr>
              <a:t>notamment</a:t>
            </a:r>
            <a:r>
              <a:rPr lang="en-US" sz="2847" dirty="0">
                <a:solidFill>
                  <a:srgbClr val="303030"/>
                </a:solidFill>
                <a:latin typeface="+mj-lt"/>
                <a:ea typeface="Codec Pro"/>
                <a:cs typeface="Codec Pro"/>
                <a:sym typeface="Codec Pro"/>
              </a:rPr>
              <a:t> la gestion des </a:t>
            </a:r>
            <a:r>
              <a:rPr lang="en-US" sz="2847" dirty="0" err="1">
                <a:solidFill>
                  <a:srgbClr val="303030"/>
                </a:solidFill>
                <a:latin typeface="+mj-lt"/>
                <a:ea typeface="Codec Pro"/>
                <a:cs typeface="Codec Pro"/>
                <a:sym typeface="Codec Pro"/>
              </a:rPr>
              <a:t>utilisateurs</a:t>
            </a:r>
            <a:r>
              <a:rPr lang="en-US" sz="2847" dirty="0">
                <a:solidFill>
                  <a:srgbClr val="303030"/>
                </a:solidFill>
                <a:latin typeface="+mj-lt"/>
                <a:ea typeface="Codec Pro"/>
                <a:cs typeface="Codec Pro"/>
                <a:sym typeface="Codec Pro"/>
              </a:rPr>
              <a:t>, la </a:t>
            </a:r>
            <a:r>
              <a:rPr lang="en-US" sz="2847" dirty="0" err="1">
                <a:solidFill>
                  <a:srgbClr val="303030"/>
                </a:solidFill>
                <a:latin typeface="+mj-lt"/>
                <a:ea typeface="Codec Pro"/>
                <a:cs typeface="Codec Pro"/>
                <a:sym typeface="Codec Pro"/>
              </a:rPr>
              <a:t>création</a:t>
            </a:r>
            <a:r>
              <a:rPr lang="en-US" sz="2847" dirty="0">
                <a:solidFill>
                  <a:srgbClr val="303030"/>
                </a:solidFill>
                <a:latin typeface="+mj-lt"/>
                <a:ea typeface="Codec Pro"/>
                <a:cs typeface="Codec Pro"/>
                <a:sym typeface="Codec Pro"/>
              </a:rPr>
              <a:t> de sondages et </a:t>
            </a:r>
            <a:r>
              <a:rPr lang="en-US" sz="2847" dirty="0" err="1">
                <a:solidFill>
                  <a:srgbClr val="303030"/>
                </a:solidFill>
                <a:latin typeface="+mj-lt"/>
                <a:ea typeface="Codec Pro"/>
                <a:cs typeface="Codec Pro"/>
                <a:sym typeface="Codec Pro"/>
              </a:rPr>
              <a:t>l’affichage</a:t>
            </a:r>
            <a:r>
              <a:rPr lang="en-US" sz="2847" dirty="0">
                <a:solidFill>
                  <a:srgbClr val="303030"/>
                </a:solidFill>
                <a:latin typeface="+mj-lt"/>
                <a:ea typeface="Codec Pro"/>
                <a:cs typeface="Codec Pro"/>
                <a:sym typeface="Codec Pro"/>
              </a:rPr>
              <a:t> des </a:t>
            </a:r>
            <a:r>
              <a:rPr lang="en-US" sz="2847" dirty="0" err="1">
                <a:solidFill>
                  <a:srgbClr val="303030"/>
                </a:solidFill>
                <a:latin typeface="+mj-lt"/>
                <a:ea typeface="Codec Pro"/>
                <a:cs typeface="Codec Pro"/>
                <a:sym typeface="Codec Pro"/>
              </a:rPr>
              <a:t>résultats</a:t>
            </a:r>
            <a:r>
              <a:rPr lang="en-US" sz="2847" dirty="0">
                <a:solidFill>
                  <a:srgbClr val="303030"/>
                </a:solidFill>
                <a:latin typeface="+mj-lt"/>
                <a:ea typeface="Codec Pro"/>
                <a:cs typeface="Codec Pro"/>
                <a:sym typeface="Codec Pro"/>
              </a:rPr>
              <a:t> sous </a:t>
            </a:r>
            <a:r>
              <a:rPr lang="en-US" sz="2847" dirty="0" err="1">
                <a:solidFill>
                  <a:srgbClr val="303030"/>
                </a:solidFill>
                <a:latin typeface="+mj-lt"/>
                <a:ea typeface="Codec Pro"/>
                <a:cs typeface="Codec Pro"/>
                <a:sym typeface="Codec Pro"/>
              </a:rPr>
              <a:t>forme</a:t>
            </a:r>
            <a:r>
              <a:rPr lang="en-US" sz="2847" dirty="0">
                <a:solidFill>
                  <a:srgbClr val="303030"/>
                </a:solidFill>
                <a:latin typeface="+mj-lt"/>
                <a:ea typeface="Codec Pro"/>
                <a:cs typeface="Codec Pro"/>
                <a:sym typeface="Codec Pro"/>
              </a:rPr>
              <a:t> de </a:t>
            </a:r>
            <a:r>
              <a:rPr lang="en-US" sz="2847" dirty="0" err="1">
                <a:solidFill>
                  <a:srgbClr val="303030"/>
                </a:solidFill>
                <a:latin typeface="+mj-lt"/>
                <a:ea typeface="Codec Pro"/>
                <a:cs typeface="Codec Pro"/>
                <a:sym typeface="Codec Pro"/>
              </a:rPr>
              <a:t>statistiques</a:t>
            </a:r>
            <a:r>
              <a:rPr lang="en-US" sz="2847" dirty="0">
                <a:solidFill>
                  <a:srgbClr val="303030"/>
                </a:solidFill>
                <a:latin typeface="+mj-lt"/>
                <a:ea typeface="Codec Pro"/>
                <a:cs typeface="Codec Pro"/>
                <a:sym typeface="Codec Pro"/>
              </a:rPr>
              <a:t>.</a:t>
            </a:r>
          </a:p>
          <a:p>
            <a:pPr>
              <a:lnSpc>
                <a:spcPts val="2818"/>
              </a:lnSpc>
            </a:pPr>
            <a:endParaRPr lang="en-US" sz="2847" dirty="0">
              <a:solidFill>
                <a:srgbClr val="303030"/>
              </a:solidFill>
              <a:latin typeface="+mj-lt"/>
              <a:ea typeface="Codec Pro"/>
              <a:cs typeface="Codec Pro"/>
              <a:sym typeface="Codec Pro"/>
            </a:endParaRPr>
          </a:p>
          <a:p>
            <a:pPr>
              <a:lnSpc>
                <a:spcPts val="2818"/>
              </a:lnSpc>
            </a:pPr>
            <a:r>
              <a:rPr lang="en-US" sz="2847" dirty="0">
                <a:solidFill>
                  <a:srgbClr val="303030"/>
                </a:solidFill>
                <a:latin typeface="+mj-lt"/>
                <a:ea typeface="Codec Pro"/>
                <a:cs typeface="Codec Pro"/>
                <a:sym typeface="Codec Pro"/>
              </a:rPr>
              <a:t>Ce </a:t>
            </a:r>
            <a:r>
              <a:rPr lang="en-US" sz="2847" dirty="0" err="1">
                <a:solidFill>
                  <a:srgbClr val="303030"/>
                </a:solidFill>
                <a:latin typeface="+mj-lt"/>
                <a:ea typeface="Codec Pro"/>
                <a:cs typeface="Codec Pro"/>
                <a:sym typeface="Codec Pro"/>
              </a:rPr>
              <a:t>projet</a:t>
            </a:r>
            <a:r>
              <a:rPr lang="en-US" sz="2847" dirty="0">
                <a:solidFill>
                  <a:srgbClr val="303030"/>
                </a:solidFill>
                <a:latin typeface="+mj-lt"/>
                <a:ea typeface="Codec Pro"/>
                <a:cs typeface="Codec Pro"/>
                <a:sym typeface="Codec Pro"/>
              </a:rPr>
              <a:t> nous a </a:t>
            </a:r>
            <a:r>
              <a:rPr lang="en-US" sz="2847" dirty="0" err="1">
                <a:solidFill>
                  <a:srgbClr val="303030"/>
                </a:solidFill>
                <a:latin typeface="+mj-lt"/>
                <a:ea typeface="Codec Pro"/>
                <a:cs typeface="Codec Pro"/>
                <a:sym typeface="Codec Pro"/>
              </a:rPr>
              <a:t>permis</a:t>
            </a:r>
            <a:r>
              <a:rPr lang="en-US" sz="2847" dirty="0">
                <a:solidFill>
                  <a:srgbClr val="303030"/>
                </a:solidFill>
                <a:latin typeface="+mj-lt"/>
                <a:ea typeface="Codec Pro"/>
                <a:cs typeface="Codec Pro"/>
                <a:sym typeface="Codec Pro"/>
              </a:rPr>
              <a:t> de </a:t>
            </a:r>
            <a:r>
              <a:rPr lang="en-US" sz="2847" dirty="0" err="1">
                <a:solidFill>
                  <a:srgbClr val="303030"/>
                </a:solidFill>
                <a:latin typeface="+mj-lt"/>
                <a:ea typeface="Codec Pro"/>
                <a:cs typeface="Codec Pro"/>
                <a:sym typeface="Codec Pro"/>
              </a:rPr>
              <a:t>mettre</a:t>
            </a:r>
            <a:r>
              <a:rPr lang="en-US" sz="2847" dirty="0">
                <a:solidFill>
                  <a:srgbClr val="303030"/>
                </a:solidFill>
                <a:latin typeface="+mj-lt"/>
                <a:ea typeface="Codec Pro"/>
                <a:cs typeface="Codec Pro"/>
                <a:sym typeface="Codec Pro"/>
              </a:rPr>
              <a:t> </a:t>
            </a:r>
            <a:r>
              <a:rPr lang="en-US" sz="2847" dirty="0" err="1">
                <a:solidFill>
                  <a:srgbClr val="303030"/>
                </a:solidFill>
                <a:latin typeface="+mj-lt"/>
                <a:ea typeface="Codec Pro"/>
                <a:cs typeface="Codec Pro"/>
                <a:sym typeface="Codec Pro"/>
              </a:rPr>
              <a:t>en</a:t>
            </a:r>
            <a:r>
              <a:rPr lang="en-US" sz="2847" dirty="0">
                <a:solidFill>
                  <a:srgbClr val="303030"/>
                </a:solidFill>
                <a:latin typeface="+mj-lt"/>
                <a:ea typeface="Codec Pro"/>
                <a:cs typeface="Codec Pro"/>
                <a:sym typeface="Codec Pro"/>
              </a:rPr>
              <a:t> pratique </a:t>
            </a:r>
            <a:r>
              <a:rPr lang="en-US" sz="2847" dirty="0" err="1">
                <a:solidFill>
                  <a:srgbClr val="303030"/>
                </a:solidFill>
                <a:latin typeface="+mj-lt"/>
                <a:ea typeface="Codec Pro"/>
                <a:cs typeface="Codec Pro"/>
                <a:sym typeface="Codec Pro"/>
              </a:rPr>
              <a:t>nos</a:t>
            </a:r>
            <a:r>
              <a:rPr lang="en-US" sz="2847" dirty="0">
                <a:solidFill>
                  <a:srgbClr val="303030"/>
                </a:solidFill>
                <a:latin typeface="+mj-lt"/>
                <a:ea typeface="Codec Pro"/>
                <a:cs typeface="Codec Pro"/>
                <a:sym typeface="Codec Pro"/>
              </a:rPr>
              <a:t> </a:t>
            </a:r>
            <a:r>
              <a:rPr lang="en-US" sz="2847" dirty="0" err="1">
                <a:solidFill>
                  <a:srgbClr val="303030"/>
                </a:solidFill>
                <a:latin typeface="+mj-lt"/>
                <a:ea typeface="Codec Pro"/>
                <a:cs typeface="Codec Pro"/>
                <a:sym typeface="Codec Pro"/>
              </a:rPr>
              <a:t>compétences</a:t>
            </a:r>
            <a:r>
              <a:rPr lang="en-US" sz="2847" dirty="0">
                <a:solidFill>
                  <a:srgbClr val="303030"/>
                </a:solidFill>
                <a:latin typeface="+mj-lt"/>
                <a:ea typeface="Codec Pro"/>
                <a:cs typeface="Codec Pro"/>
                <a:sym typeface="Codec Pro"/>
              </a:rPr>
              <a:t> </a:t>
            </a:r>
            <a:r>
              <a:rPr lang="en-US" sz="2847" dirty="0" err="1">
                <a:solidFill>
                  <a:srgbClr val="303030"/>
                </a:solidFill>
                <a:latin typeface="+mj-lt"/>
                <a:ea typeface="Codec Pro"/>
                <a:cs typeface="Codec Pro"/>
                <a:sym typeface="Codec Pro"/>
              </a:rPr>
              <a:t>en</a:t>
            </a:r>
            <a:r>
              <a:rPr lang="en-US" sz="2847" dirty="0">
                <a:solidFill>
                  <a:srgbClr val="303030"/>
                </a:solidFill>
                <a:latin typeface="+mj-lt"/>
                <a:ea typeface="Codec Pro"/>
                <a:cs typeface="Codec Pro"/>
                <a:sym typeface="Codec Pro"/>
              </a:rPr>
              <a:t> </a:t>
            </a:r>
            <a:r>
              <a:rPr lang="en-US" sz="2847" dirty="0" err="1">
                <a:solidFill>
                  <a:srgbClr val="303030"/>
                </a:solidFill>
                <a:latin typeface="+mj-lt"/>
                <a:ea typeface="Codec Pro"/>
                <a:cs typeface="Codec Pro"/>
                <a:sym typeface="Codec Pro"/>
              </a:rPr>
              <a:t>développement</a:t>
            </a:r>
            <a:r>
              <a:rPr lang="en-US" sz="2847" dirty="0">
                <a:solidFill>
                  <a:srgbClr val="303030"/>
                </a:solidFill>
                <a:latin typeface="+mj-lt"/>
                <a:ea typeface="Codec Pro"/>
                <a:cs typeface="Codec Pro"/>
                <a:sym typeface="Codec Pro"/>
              </a:rPr>
              <a:t> web et </a:t>
            </a:r>
            <a:r>
              <a:rPr lang="en-US" sz="2847" dirty="0" err="1">
                <a:solidFill>
                  <a:srgbClr val="303030"/>
                </a:solidFill>
                <a:latin typeface="+mj-lt"/>
                <a:ea typeface="Codec Pro"/>
                <a:cs typeface="Codec Pro"/>
                <a:sym typeface="Codec Pro"/>
              </a:rPr>
              <a:t>en</a:t>
            </a:r>
            <a:r>
              <a:rPr lang="en-US" sz="2847" dirty="0">
                <a:solidFill>
                  <a:srgbClr val="303030"/>
                </a:solidFill>
                <a:latin typeface="+mj-lt"/>
                <a:ea typeface="Codec Pro"/>
                <a:cs typeface="Codec Pro"/>
                <a:sym typeface="Codec Pro"/>
              </a:rPr>
              <a:t> gestion de bases de données.</a:t>
            </a:r>
          </a:p>
          <a:p>
            <a:pPr marL="0" lvl="0" indent="0">
              <a:lnSpc>
                <a:spcPts val="2818"/>
              </a:lnSpc>
            </a:pPr>
            <a:endParaRPr lang="en-US" sz="2847" dirty="0">
              <a:solidFill>
                <a:srgbClr val="303030"/>
              </a:solidFill>
              <a:latin typeface="+mj-lt"/>
              <a:ea typeface="Codec Pro"/>
              <a:cs typeface="Codec Pro"/>
              <a:sym typeface="Codec Pr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28700" y="2149017"/>
            <a:ext cx="16230569" cy="0"/>
          </a:xfrm>
          <a:prstGeom prst="line">
            <a:avLst/>
          </a:prstGeom>
          <a:ln w="28575" cap="flat">
            <a:solidFill>
              <a:srgbClr val="000000"/>
            </a:solidFill>
            <a:prstDash val="solid"/>
            <a:headEnd type="none" w="sm" len="sm"/>
            <a:tailEnd type="none" w="sm" len="sm"/>
          </a:ln>
        </p:spPr>
        <p:txBody>
          <a:bodyPr/>
          <a:lstStyle/>
          <a:p>
            <a:endParaRPr lang="fr-MA"/>
          </a:p>
        </p:txBody>
      </p:sp>
      <p:sp>
        <p:nvSpPr>
          <p:cNvPr id="3" name="Freeform 3"/>
          <p:cNvSpPr/>
          <p:nvPr/>
        </p:nvSpPr>
        <p:spPr>
          <a:xfrm>
            <a:off x="0" y="8877269"/>
            <a:ext cx="18288000" cy="1409731"/>
          </a:xfrm>
          <a:custGeom>
            <a:avLst/>
            <a:gdLst/>
            <a:ahLst/>
            <a:cxnLst/>
            <a:rect l="l" t="t" r="r" b="b"/>
            <a:pathLst>
              <a:path w="18288000" h="1409731">
                <a:moveTo>
                  <a:pt x="0" y="0"/>
                </a:moveTo>
                <a:lnTo>
                  <a:pt x="18288000" y="0"/>
                </a:lnTo>
                <a:lnTo>
                  <a:pt x="18288000" y="1409731"/>
                </a:lnTo>
                <a:lnTo>
                  <a:pt x="0" y="1409731"/>
                </a:lnTo>
                <a:lnTo>
                  <a:pt x="0" y="0"/>
                </a:lnTo>
                <a:close/>
              </a:path>
            </a:pathLst>
          </a:custGeom>
          <a:blipFill>
            <a:blip r:embed="rId2">
              <a:alphaModFix amt="31999"/>
            </a:blip>
            <a:stretch>
              <a:fillRect t="-629713"/>
            </a:stretch>
          </a:blipFill>
        </p:spPr>
        <p:txBody>
          <a:bodyPr/>
          <a:lstStyle/>
          <a:p>
            <a:endParaRPr lang="fr-MA"/>
          </a:p>
        </p:txBody>
      </p:sp>
      <p:grpSp>
        <p:nvGrpSpPr>
          <p:cNvPr id="4" name="Group 4"/>
          <p:cNvGrpSpPr/>
          <p:nvPr/>
        </p:nvGrpSpPr>
        <p:grpSpPr>
          <a:xfrm>
            <a:off x="16389111" y="8496237"/>
            <a:ext cx="870158" cy="762063"/>
            <a:chOff x="0" y="0"/>
            <a:chExt cx="1160210" cy="1016084"/>
          </a:xfrm>
        </p:grpSpPr>
        <p:grpSp>
          <p:nvGrpSpPr>
            <p:cNvPr id="5" name="Group 5"/>
            <p:cNvGrpSpPr/>
            <p:nvPr/>
          </p:nvGrpSpPr>
          <p:grpSpPr>
            <a:xfrm>
              <a:off x="0" y="0"/>
              <a:ext cx="1160210" cy="1016084"/>
              <a:chOff x="0" y="0"/>
              <a:chExt cx="229177" cy="200708"/>
            </a:xfrm>
          </p:grpSpPr>
          <p:sp>
            <p:nvSpPr>
              <p:cNvPr id="6" name="Freeform 6"/>
              <p:cNvSpPr/>
              <p:nvPr/>
            </p:nvSpPr>
            <p:spPr>
              <a:xfrm>
                <a:off x="0" y="0"/>
                <a:ext cx="229177" cy="200708"/>
              </a:xfrm>
              <a:custGeom>
                <a:avLst/>
                <a:gdLst/>
                <a:ahLst/>
                <a:cxnLst/>
                <a:rect l="l" t="t" r="r" b="b"/>
                <a:pathLst>
                  <a:path w="229177" h="200708">
                    <a:moveTo>
                      <a:pt x="0" y="0"/>
                    </a:moveTo>
                    <a:lnTo>
                      <a:pt x="229177" y="0"/>
                    </a:lnTo>
                    <a:lnTo>
                      <a:pt x="229177" y="200708"/>
                    </a:lnTo>
                    <a:lnTo>
                      <a:pt x="0" y="200708"/>
                    </a:lnTo>
                    <a:close/>
                  </a:path>
                </a:pathLst>
              </a:custGeom>
              <a:solidFill>
                <a:srgbClr val="269649"/>
              </a:solidFill>
            </p:spPr>
            <p:txBody>
              <a:bodyPr/>
              <a:lstStyle/>
              <a:p>
                <a:endParaRPr lang="fr-MA"/>
              </a:p>
            </p:txBody>
          </p:sp>
          <p:sp>
            <p:nvSpPr>
              <p:cNvPr id="7" name="TextBox 7"/>
              <p:cNvSpPr txBox="1"/>
              <p:nvPr/>
            </p:nvSpPr>
            <p:spPr>
              <a:xfrm>
                <a:off x="0" y="-66675"/>
                <a:ext cx="229177" cy="267383"/>
              </a:xfrm>
              <a:prstGeom prst="rect">
                <a:avLst/>
              </a:prstGeom>
            </p:spPr>
            <p:txBody>
              <a:bodyPr lIns="50800" tIns="50800" rIns="50800" bIns="50800" rtlCol="0" anchor="ctr"/>
              <a:lstStyle/>
              <a:p>
                <a:pPr algn="ctr">
                  <a:lnSpc>
                    <a:spcPts val="3500"/>
                  </a:lnSpc>
                </a:pPr>
                <a:endParaRPr/>
              </a:p>
            </p:txBody>
          </p:sp>
        </p:grpSp>
        <p:sp>
          <p:nvSpPr>
            <p:cNvPr id="8" name="TextBox 8"/>
            <p:cNvSpPr txBox="1"/>
            <p:nvPr/>
          </p:nvSpPr>
          <p:spPr>
            <a:xfrm>
              <a:off x="0" y="162399"/>
              <a:ext cx="1160210" cy="700811"/>
            </a:xfrm>
            <a:prstGeom prst="rect">
              <a:avLst/>
            </a:prstGeom>
          </p:spPr>
          <p:txBody>
            <a:bodyPr lIns="0" tIns="0" rIns="0" bIns="0" rtlCol="0" anchor="t">
              <a:spAutoFit/>
            </a:bodyPr>
            <a:lstStyle/>
            <a:p>
              <a:pPr marL="0" lvl="0" indent="0" algn="ctr">
                <a:lnSpc>
                  <a:spcPts val="3511"/>
                </a:lnSpc>
              </a:pPr>
              <a:r>
                <a:rPr lang="en-US" sz="3547" b="1">
                  <a:solidFill>
                    <a:srgbClr val="FAFAFA"/>
                  </a:solidFill>
                  <a:latin typeface="Codec Pro Bold"/>
                  <a:ea typeface="Codec Pro Bold"/>
                  <a:cs typeface="Codec Pro Bold"/>
                  <a:sym typeface="Codec Pro Bold"/>
                </a:rPr>
                <a:t>02</a:t>
              </a:r>
            </a:p>
          </p:txBody>
        </p:sp>
      </p:grpSp>
      <p:sp>
        <p:nvSpPr>
          <p:cNvPr id="11" name="TextBox 11"/>
          <p:cNvSpPr txBox="1"/>
          <p:nvPr/>
        </p:nvSpPr>
        <p:spPr>
          <a:xfrm>
            <a:off x="1028700" y="1060404"/>
            <a:ext cx="6663097" cy="960026"/>
          </a:xfrm>
          <a:prstGeom prst="rect">
            <a:avLst/>
          </a:prstGeom>
        </p:spPr>
        <p:txBody>
          <a:bodyPr lIns="0" tIns="0" rIns="0" bIns="0" rtlCol="0" anchor="t">
            <a:spAutoFit/>
          </a:bodyPr>
          <a:lstStyle/>
          <a:p>
            <a:pPr marL="0" lvl="0" indent="0" algn="l">
              <a:lnSpc>
                <a:spcPts val="6452"/>
              </a:lnSpc>
            </a:pPr>
            <a:r>
              <a:rPr lang="en-US" sz="6517" b="1">
                <a:solidFill>
                  <a:srgbClr val="303030"/>
                </a:solidFill>
                <a:latin typeface="Codec Pro Bold"/>
                <a:ea typeface="Codec Pro Bold"/>
                <a:cs typeface="Codec Pro Bold"/>
                <a:sym typeface="Codec Pro Bold"/>
              </a:rPr>
              <a:t>Problématique</a:t>
            </a:r>
          </a:p>
        </p:txBody>
      </p:sp>
      <p:sp>
        <p:nvSpPr>
          <p:cNvPr id="12" name="TextBox 12"/>
          <p:cNvSpPr txBox="1"/>
          <p:nvPr/>
        </p:nvSpPr>
        <p:spPr>
          <a:xfrm>
            <a:off x="1229769" y="2618919"/>
            <a:ext cx="15828430" cy="3931846"/>
          </a:xfrm>
          <a:prstGeom prst="rect">
            <a:avLst/>
          </a:prstGeom>
        </p:spPr>
        <p:txBody>
          <a:bodyPr lIns="0" tIns="0" rIns="0" bIns="0" rtlCol="0" anchor="t">
            <a:spAutoFit/>
          </a:bodyPr>
          <a:lstStyle/>
          <a:p>
            <a:pPr algn="l">
              <a:lnSpc>
                <a:spcPts val="3412"/>
              </a:lnSpc>
            </a:pPr>
            <a:r>
              <a:rPr lang="en-US" sz="3447" b="1" dirty="0">
                <a:solidFill>
                  <a:srgbClr val="269649"/>
                </a:solidFill>
                <a:latin typeface="+mj-lt"/>
                <a:ea typeface="Codec Pro Bold"/>
                <a:cs typeface="Codec Pro Bold"/>
                <a:sym typeface="Codec Pro Bold"/>
              </a:rPr>
              <a:t>Dans </a:t>
            </a:r>
            <a:r>
              <a:rPr lang="en-US" sz="3447" b="1" dirty="0" err="1">
                <a:solidFill>
                  <a:srgbClr val="269649"/>
                </a:solidFill>
                <a:latin typeface="+mj-lt"/>
                <a:ea typeface="Codec Pro Bold"/>
                <a:cs typeface="Codec Pro Bold"/>
                <a:sym typeface="Codec Pro Bold"/>
              </a:rPr>
              <a:t>plusieurs</a:t>
            </a:r>
            <a:r>
              <a:rPr lang="en-US" sz="3447" b="1" dirty="0">
                <a:solidFill>
                  <a:srgbClr val="269649"/>
                </a:solidFill>
                <a:latin typeface="+mj-lt"/>
                <a:ea typeface="Codec Pro Bold"/>
                <a:cs typeface="Codec Pro Bold"/>
                <a:sym typeface="Codec Pro Bold"/>
              </a:rPr>
              <a:t> </a:t>
            </a:r>
            <a:r>
              <a:rPr lang="en-US" sz="3447" b="1" dirty="0" err="1">
                <a:solidFill>
                  <a:srgbClr val="269649"/>
                </a:solidFill>
                <a:latin typeface="+mj-lt"/>
                <a:ea typeface="Codec Pro Bold"/>
                <a:cs typeface="Codec Pro Bold"/>
                <a:sym typeface="Codec Pro Bold"/>
              </a:rPr>
              <a:t>domaines</a:t>
            </a:r>
            <a:r>
              <a:rPr lang="en-US" sz="3447" b="1" dirty="0">
                <a:solidFill>
                  <a:srgbClr val="269649"/>
                </a:solidFill>
                <a:latin typeface="+mj-lt"/>
                <a:ea typeface="Codec Pro Bold"/>
                <a:cs typeface="Codec Pro Bold"/>
                <a:sym typeface="Codec Pro Bold"/>
              </a:rPr>
              <a:t>, la </a:t>
            </a:r>
            <a:r>
              <a:rPr lang="en-US" sz="3447" b="1" dirty="0" err="1">
                <a:solidFill>
                  <a:srgbClr val="269649"/>
                </a:solidFill>
                <a:latin typeface="+mj-lt"/>
                <a:ea typeface="Codec Pro Bold"/>
                <a:cs typeface="Codec Pro Bold"/>
                <a:sym typeface="Codec Pro Bold"/>
              </a:rPr>
              <a:t>collecte</a:t>
            </a:r>
            <a:r>
              <a:rPr lang="en-US" sz="3447" b="1" dirty="0">
                <a:solidFill>
                  <a:srgbClr val="269649"/>
                </a:solidFill>
                <a:latin typeface="+mj-lt"/>
                <a:ea typeface="Codec Pro Bold"/>
                <a:cs typeface="Codec Pro Bold"/>
                <a:sym typeface="Codec Pro Bold"/>
              </a:rPr>
              <a:t> </a:t>
            </a:r>
            <a:r>
              <a:rPr lang="en-US" sz="3447" b="1" dirty="0" err="1">
                <a:solidFill>
                  <a:srgbClr val="269649"/>
                </a:solidFill>
                <a:latin typeface="+mj-lt"/>
                <a:ea typeface="Codec Pro Bold"/>
                <a:cs typeface="Codec Pro Bold"/>
                <a:sym typeface="Codec Pro Bold"/>
              </a:rPr>
              <a:t>d’avis</a:t>
            </a:r>
            <a:r>
              <a:rPr lang="en-US" sz="3447" b="1" dirty="0">
                <a:solidFill>
                  <a:srgbClr val="269649"/>
                </a:solidFill>
                <a:latin typeface="+mj-lt"/>
                <a:ea typeface="Codec Pro Bold"/>
                <a:cs typeface="Codec Pro Bold"/>
                <a:sym typeface="Codec Pro Bold"/>
              </a:rPr>
              <a:t> et </a:t>
            </a:r>
            <a:r>
              <a:rPr lang="en-US" sz="3447" b="1" dirty="0" err="1">
                <a:solidFill>
                  <a:srgbClr val="269649"/>
                </a:solidFill>
                <a:latin typeface="+mj-lt"/>
                <a:ea typeface="Codec Pro Bold"/>
                <a:cs typeface="Codec Pro Bold"/>
                <a:sym typeface="Codec Pro Bold"/>
              </a:rPr>
              <a:t>d’informations</a:t>
            </a:r>
            <a:r>
              <a:rPr lang="en-US" sz="3447" b="1" dirty="0">
                <a:solidFill>
                  <a:srgbClr val="269649"/>
                </a:solidFill>
                <a:latin typeface="+mj-lt"/>
                <a:ea typeface="Codec Pro Bold"/>
                <a:cs typeface="Codec Pro Bold"/>
                <a:sym typeface="Codec Pro Bold"/>
              </a:rPr>
              <a:t> se fait encore de manière </a:t>
            </a:r>
            <a:r>
              <a:rPr lang="en-US" sz="3447" b="1" dirty="0" err="1">
                <a:solidFill>
                  <a:srgbClr val="269649"/>
                </a:solidFill>
                <a:latin typeface="+mj-lt"/>
                <a:ea typeface="Codec Pro Bold"/>
                <a:cs typeface="Codec Pro Bold"/>
                <a:sym typeface="Codec Pro Bold"/>
              </a:rPr>
              <a:t>traditionnelle</a:t>
            </a:r>
            <a:r>
              <a:rPr lang="en-US" sz="3447" b="1" dirty="0">
                <a:solidFill>
                  <a:srgbClr val="269649"/>
                </a:solidFill>
                <a:latin typeface="+mj-lt"/>
                <a:ea typeface="Codec Pro Bold"/>
                <a:cs typeface="Codec Pro Bold"/>
                <a:sym typeface="Codec Pro Bold"/>
              </a:rPr>
              <a:t>, </a:t>
            </a:r>
            <a:r>
              <a:rPr lang="en-US" sz="3447" b="1" dirty="0" err="1">
                <a:solidFill>
                  <a:srgbClr val="269649"/>
                </a:solidFill>
                <a:latin typeface="+mj-lt"/>
                <a:ea typeface="Codec Pro Bold"/>
                <a:cs typeface="Codec Pro Bold"/>
                <a:sym typeface="Codec Pro Bold"/>
              </a:rPr>
              <a:t>ce</a:t>
            </a:r>
            <a:r>
              <a:rPr lang="en-US" sz="3447" b="1" dirty="0">
                <a:solidFill>
                  <a:srgbClr val="269649"/>
                </a:solidFill>
                <a:latin typeface="+mj-lt"/>
                <a:ea typeface="Codec Pro Bold"/>
                <a:cs typeface="Codec Pro Bold"/>
                <a:sym typeface="Codec Pro Bold"/>
              </a:rPr>
              <a:t> qui rend le </a:t>
            </a:r>
            <a:r>
              <a:rPr lang="en-US" sz="3447" b="1" dirty="0" err="1">
                <a:solidFill>
                  <a:srgbClr val="269649"/>
                </a:solidFill>
                <a:latin typeface="+mj-lt"/>
                <a:ea typeface="Codec Pro Bold"/>
                <a:cs typeface="Codec Pro Bold"/>
                <a:sym typeface="Codec Pro Bold"/>
              </a:rPr>
              <a:t>traitement</a:t>
            </a:r>
            <a:r>
              <a:rPr lang="en-US" sz="3447" b="1" dirty="0">
                <a:solidFill>
                  <a:srgbClr val="269649"/>
                </a:solidFill>
                <a:latin typeface="+mj-lt"/>
                <a:ea typeface="Codec Pro Bold"/>
                <a:cs typeface="Codec Pro Bold"/>
                <a:sym typeface="Codec Pro Bold"/>
              </a:rPr>
              <a:t> des données lent, difficile et </a:t>
            </a:r>
            <a:r>
              <a:rPr lang="en-US" sz="3447" b="1" dirty="0" err="1">
                <a:solidFill>
                  <a:srgbClr val="269649"/>
                </a:solidFill>
                <a:latin typeface="+mj-lt"/>
                <a:ea typeface="Codec Pro Bold"/>
                <a:cs typeface="Codec Pro Bold"/>
                <a:sym typeface="Codec Pro Bold"/>
              </a:rPr>
              <a:t>parfois</a:t>
            </a:r>
            <a:r>
              <a:rPr lang="en-US" sz="3447" b="1" dirty="0">
                <a:solidFill>
                  <a:srgbClr val="269649"/>
                </a:solidFill>
                <a:latin typeface="+mj-lt"/>
                <a:ea typeface="Codec Pro Bold"/>
                <a:cs typeface="Codec Pro Bold"/>
                <a:sym typeface="Codec Pro Bold"/>
              </a:rPr>
              <a:t> peu </a:t>
            </a:r>
            <a:r>
              <a:rPr lang="en-US" sz="3447" b="1" dirty="0" err="1">
                <a:solidFill>
                  <a:srgbClr val="269649"/>
                </a:solidFill>
                <a:latin typeface="+mj-lt"/>
                <a:ea typeface="Codec Pro Bold"/>
                <a:cs typeface="Codec Pro Bold"/>
                <a:sym typeface="Codec Pro Bold"/>
              </a:rPr>
              <a:t>fiable</a:t>
            </a:r>
            <a:r>
              <a:rPr lang="en-US" sz="3447" b="1" dirty="0">
                <a:solidFill>
                  <a:srgbClr val="269649"/>
                </a:solidFill>
                <a:latin typeface="+mj-lt"/>
                <a:ea typeface="Codec Pro Bold"/>
                <a:cs typeface="Codec Pro Bold"/>
                <a:sym typeface="Codec Pro Bold"/>
              </a:rPr>
              <a:t>. Les </a:t>
            </a:r>
            <a:r>
              <a:rPr lang="en-US" sz="3447" b="1" dirty="0" err="1">
                <a:solidFill>
                  <a:srgbClr val="269649"/>
                </a:solidFill>
                <a:latin typeface="+mj-lt"/>
                <a:ea typeface="Codec Pro Bold"/>
                <a:cs typeface="Codec Pro Bold"/>
                <a:sym typeface="Codec Pro Bold"/>
              </a:rPr>
              <a:t>méthodes</a:t>
            </a:r>
            <a:r>
              <a:rPr lang="en-US" sz="3447" b="1" dirty="0">
                <a:solidFill>
                  <a:srgbClr val="269649"/>
                </a:solidFill>
                <a:latin typeface="+mj-lt"/>
                <a:ea typeface="Codec Pro Bold"/>
                <a:cs typeface="Codec Pro Bold"/>
                <a:sym typeface="Codec Pro Bold"/>
              </a:rPr>
              <a:t> </a:t>
            </a:r>
            <a:r>
              <a:rPr lang="en-US" sz="3447" b="1" dirty="0" err="1">
                <a:solidFill>
                  <a:srgbClr val="269649"/>
                </a:solidFill>
                <a:latin typeface="+mj-lt"/>
                <a:ea typeface="Codec Pro Bold"/>
                <a:cs typeface="Codec Pro Bold"/>
                <a:sym typeface="Codec Pro Bold"/>
              </a:rPr>
              <a:t>classiques</a:t>
            </a:r>
            <a:r>
              <a:rPr lang="en-US" sz="3447" b="1" dirty="0">
                <a:solidFill>
                  <a:srgbClr val="269649"/>
                </a:solidFill>
                <a:latin typeface="+mj-lt"/>
                <a:ea typeface="Codec Pro Bold"/>
                <a:cs typeface="Codec Pro Bold"/>
                <a:sym typeface="Codec Pro Bold"/>
              </a:rPr>
              <a:t> ne </a:t>
            </a:r>
            <a:r>
              <a:rPr lang="en-US" sz="3447" b="1" dirty="0" err="1">
                <a:solidFill>
                  <a:srgbClr val="269649"/>
                </a:solidFill>
                <a:latin typeface="+mj-lt"/>
                <a:ea typeface="Codec Pro Bold"/>
                <a:cs typeface="Codec Pro Bold"/>
                <a:sym typeface="Codec Pro Bold"/>
              </a:rPr>
              <a:t>permettent</a:t>
            </a:r>
            <a:r>
              <a:rPr lang="en-US" sz="3447" b="1" dirty="0">
                <a:solidFill>
                  <a:srgbClr val="269649"/>
                </a:solidFill>
                <a:latin typeface="+mj-lt"/>
                <a:ea typeface="Codec Pro Bold"/>
                <a:cs typeface="Codec Pro Bold"/>
                <a:sym typeface="Codec Pro Bold"/>
              </a:rPr>
              <a:t> pas </a:t>
            </a:r>
            <a:r>
              <a:rPr lang="en-US" sz="3447" b="1" dirty="0" err="1">
                <a:solidFill>
                  <a:srgbClr val="269649"/>
                </a:solidFill>
                <a:latin typeface="+mj-lt"/>
                <a:ea typeface="Codec Pro Bold"/>
                <a:cs typeface="Codec Pro Bold"/>
                <a:sym typeface="Codec Pro Bold"/>
              </a:rPr>
              <a:t>une</a:t>
            </a:r>
            <a:r>
              <a:rPr lang="en-US" sz="3447" b="1" dirty="0">
                <a:solidFill>
                  <a:srgbClr val="269649"/>
                </a:solidFill>
                <a:latin typeface="+mj-lt"/>
                <a:ea typeface="Codec Pro Bold"/>
                <a:cs typeface="Codec Pro Bold"/>
                <a:sym typeface="Codec Pro Bold"/>
              </a:rPr>
              <a:t> gestion </a:t>
            </a:r>
            <a:r>
              <a:rPr lang="en-US" sz="3447" b="1" dirty="0" err="1">
                <a:solidFill>
                  <a:srgbClr val="269649"/>
                </a:solidFill>
                <a:latin typeface="+mj-lt"/>
                <a:ea typeface="Codec Pro Bold"/>
                <a:cs typeface="Codec Pro Bold"/>
                <a:sym typeface="Codec Pro Bold"/>
              </a:rPr>
              <a:t>efficace</a:t>
            </a:r>
            <a:r>
              <a:rPr lang="en-US" sz="3447" b="1" dirty="0">
                <a:solidFill>
                  <a:srgbClr val="269649"/>
                </a:solidFill>
                <a:latin typeface="+mj-lt"/>
                <a:ea typeface="Codec Pro Bold"/>
                <a:cs typeface="Codec Pro Bold"/>
                <a:sym typeface="Codec Pro Bold"/>
              </a:rPr>
              <a:t> des </a:t>
            </a:r>
            <a:r>
              <a:rPr lang="en-US" sz="3447" b="1" dirty="0" err="1">
                <a:solidFill>
                  <a:srgbClr val="269649"/>
                </a:solidFill>
                <a:latin typeface="+mj-lt"/>
                <a:ea typeface="Codec Pro Bold"/>
                <a:cs typeface="Codec Pro Bold"/>
                <a:sym typeface="Codec Pro Bold"/>
              </a:rPr>
              <a:t>réponses</a:t>
            </a:r>
            <a:r>
              <a:rPr lang="en-US" sz="3447" b="1" dirty="0">
                <a:solidFill>
                  <a:srgbClr val="269649"/>
                </a:solidFill>
                <a:latin typeface="+mj-lt"/>
                <a:ea typeface="Codec Pro Bold"/>
                <a:cs typeface="Codec Pro Bold"/>
                <a:sym typeface="Codec Pro Bold"/>
              </a:rPr>
              <a:t> </a:t>
            </a:r>
            <a:r>
              <a:rPr lang="en-US" sz="3447" b="1" dirty="0" err="1">
                <a:solidFill>
                  <a:srgbClr val="269649"/>
                </a:solidFill>
                <a:latin typeface="+mj-lt"/>
                <a:ea typeface="Codec Pro Bold"/>
                <a:cs typeface="Codec Pro Bold"/>
                <a:sym typeface="Codec Pro Bold"/>
              </a:rPr>
              <a:t>ni</a:t>
            </a:r>
            <a:r>
              <a:rPr lang="en-US" sz="3447" b="1" dirty="0">
                <a:solidFill>
                  <a:srgbClr val="269649"/>
                </a:solidFill>
                <a:latin typeface="+mj-lt"/>
                <a:ea typeface="Codec Pro Bold"/>
                <a:cs typeface="Codec Pro Bold"/>
                <a:sym typeface="Codec Pro Bold"/>
              </a:rPr>
              <a:t> </a:t>
            </a:r>
            <a:r>
              <a:rPr lang="en-US" sz="3447" b="1" dirty="0" err="1">
                <a:solidFill>
                  <a:srgbClr val="269649"/>
                </a:solidFill>
                <a:latin typeface="+mj-lt"/>
                <a:ea typeface="Codec Pro Bold"/>
                <a:cs typeface="Codec Pro Bold"/>
                <a:sym typeface="Codec Pro Bold"/>
              </a:rPr>
              <a:t>une</a:t>
            </a:r>
            <a:r>
              <a:rPr lang="en-US" sz="3447" b="1" dirty="0">
                <a:solidFill>
                  <a:srgbClr val="269649"/>
                </a:solidFill>
                <a:latin typeface="+mj-lt"/>
                <a:ea typeface="Codec Pro Bold"/>
                <a:cs typeface="Codec Pro Bold"/>
                <a:sym typeface="Codec Pro Bold"/>
              </a:rPr>
              <a:t> </a:t>
            </a:r>
            <a:r>
              <a:rPr lang="en-US" sz="3447" b="1" dirty="0" err="1">
                <a:solidFill>
                  <a:srgbClr val="269649"/>
                </a:solidFill>
                <a:latin typeface="+mj-lt"/>
                <a:ea typeface="Codec Pro Bold"/>
                <a:cs typeface="Codec Pro Bold"/>
                <a:sym typeface="Codec Pro Bold"/>
              </a:rPr>
              <a:t>analyse</a:t>
            </a:r>
            <a:r>
              <a:rPr lang="en-US" sz="3447" b="1" dirty="0">
                <a:solidFill>
                  <a:srgbClr val="269649"/>
                </a:solidFill>
                <a:latin typeface="+mj-lt"/>
                <a:ea typeface="Codec Pro Bold"/>
                <a:cs typeface="Codec Pro Bold"/>
                <a:sym typeface="Codec Pro Bold"/>
              </a:rPr>
              <a:t> </a:t>
            </a:r>
            <a:r>
              <a:rPr lang="en-US" sz="3447" b="1" dirty="0" err="1">
                <a:solidFill>
                  <a:srgbClr val="269649"/>
                </a:solidFill>
                <a:latin typeface="+mj-lt"/>
                <a:ea typeface="Codec Pro Bold"/>
                <a:cs typeface="Codec Pro Bold"/>
                <a:sym typeface="Codec Pro Bold"/>
              </a:rPr>
              <a:t>rapide</a:t>
            </a:r>
            <a:r>
              <a:rPr lang="en-US" sz="3447" b="1" dirty="0">
                <a:solidFill>
                  <a:srgbClr val="269649"/>
                </a:solidFill>
                <a:latin typeface="+mj-lt"/>
                <a:ea typeface="Codec Pro Bold"/>
                <a:cs typeface="Codec Pro Bold"/>
                <a:sym typeface="Codec Pro Bold"/>
              </a:rPr>
              <a:t> des </a:t>
            </a:r>
            <a:r>
              <a:rPr lang="en-US" sz="3447" b="1" dirty="0" err="1">
                <a:solidFill>
                  <a:srgbClr val="269649"/>
                </a:solidFill>
                <a:latin typeface="+mj-lt"/>
                <a:ea typeface="Codec Pro Bold"/>
                <a:cs typeface="Codec Pro Bold"/>
                <a:sym typeface="Codec Pro Bold"/>
              </a:rPr>
              <a:t>résultats</a:t>
            </a:r>
            <a:r>
              <a:rPr lang="en-US" sz="3447" b="1" dirty="0">
                <a:solidFill>
                  <a:srgbClr val="269649"/>
                </a:solidFill>
                <a:latin typeface="+mj-lt"/>
                <a:ea typeface="Codec Pro Bold"/>
                <a:cs typeface="Codec Pro Bold"/>
                <a:sym typeface="Codec Pro Bold"/>
              </a:rPr>
              <a:t>.</a:t>
            </a:r>
          </a:p>
          <a:p>
            <a:pPr algn="l">
              <a:lnSpc>
                <a:spcPts val="3412"/>
              </a:lnSpc>
            </a:pPr>
            <a:endParaRPr lang="en-US" sz="3447" b="1" dirty="0">
              <a:solidFill>
                <a:srgbClr val="269649"/>
              </a:solidFill>
              <a:latin typeface="+mj-lt"/>
              <a:ea typeface="Codec Pro Bold"/>
              <a:cs typeface="Codec Pro Bold"/>
              <a:sym typeface="Codec Pro Bold"/>
            </a:endParaRPr>
          </a:p>
          <a:p>
            <a:pPr marL="0" lvl="0" indent="0" algn="l">
              <a:lnSpc>
                <a:spcPts val="3412"/>
              </a:lnSpc>
            </a:pPr>
            <a:r>
              <a:rPr lang="en-US" sz="3447" b="1" dirty="0">
                <a:solidFill>
                  <a:srgbClr val="269649"/>
                </a:solidFill>
                <a:latin typeface="+mj-lt"/>
                <a:ea typeface="Codec Pro Bold"/>
                <a:cs typeface="Codec Pro Bold"/>
                <a:sym typeface="Codec Pro Bold"/>
              </a:rPr>
              <a:t>Face à </a:t>
            </a:r>
            <a:r>
              <a:rPr lang="en-US" sz="3447" b="1" dirty="0" err="1">
                <a:solidFill>
                  <a:srgbClr val="269649"/>
                </a:solidFill>
                <a:latin typeface="+mj-lt"/>
                <a:ea typeface="Codec Pro Bold"/>
                <a:cs typeface="Codec Pro Bold"/>
                <a:sym typeface="Codec Pro Bold"/>
              </a:rPr>
              <a:t>ce</a:t>
            </a:r>
            <a:r>
              <a:rPr lang="en-US" sz="3447" b="1" dirty="0">
                <a:solidFill>
                  <a:srgbClr val="269649"/>
                </a:solidFill>
                <a:latin typeface="+mj-lt"/>
                <a:ea typeface="Codec Pro Bold"/>
                <a:cs typeface="Codec Pro Bold"/>
                <a:sym typeface="Codec Pro Bold"/>
              </a:rPr>
              <a:t> </a:t>
            </a:r>
            <a:r>
              <a:rPr lang="en-US" sz="3447" b="1" dirty="0" err="1">
                <a:solidFill>
                  <a:srgbClr val="269649"/>
                </a:solidFill>
                <a:latin typeface="+mj-lt"/>
                <a:ea typeface="Codec Pro Bold"/>
                <a:cs typeface="Codec Pro Bold"/>
                <a:sym typeface="Codec Pro Bold"/>
              </a:rPr>
              <a:t>problème</a:t>
            </a:r>
            <a:r>
              <a:rPr lang="en-US" sz="3447" b="1" dirty="0">
                <a:solidFill>
                  <a:srgbClr val="269649"/>
                </a:solidFill>
                <a:latin typeface="+mj-lt"/>
                <a:ea typeface="Codec Pro Bold"/>
                <a:cs typeface="Codec Pro Bold"/>
                <a:sym typeface="Codec Pro Bold"/>
              </a:rPr>
              <a:t>, il </a:t>
            </a:r>
            <a:r>
              <a:rPr lang="en-US" sz="3447" b="1" dirty="0" err="1">
                <a:solidFill>
                  <a:srgbClr val="269649"/>
                </a:solidFill>
                <a:latin typeface="+mj-lt"/>
                <a:ea typeface="Codec Pro Bold"/>
                <a:cs typeface="Codec Pro Bold"/>
                <a:sym typeface="Codec Pro Bold"/>
              </a:rPr>
              <a:t>devient</a:t>
            </a:r>
            <a:r>
              <a:rPr lang="en-US" sz="3447" b="1" dirty="0">
                <a:solidFill>
                  <a:srgbClr val="269649"/>
                </a:solidFill>
                <a:latin typeface="+mj-lt"/>
                <a:ea typeface="Codec Pro Bold"/>
                <a:cs typeface="Codec Pro Bold"/>
                <a:sym typeface="Codec Pro Bold"/>
              </a:rPr>
              <a:t> </a:t>
            </a:r>
            <a:r>
              <a:rPr lang="en-US" sz="3447" b="1" dirty="0" err="1">
                <a:solidFill>
                  <a:srgbClr val="269649"/>
                </a:solidFill>
                <a:latin typeface="+mj-lt"/>
                <a:ea typeface="Codec Pro Bold"/>
                <a:cs typeface="Codec Pro Bold"/>
                <a:sym typeface="Codec Pro Bold"/>
              </a:rPr>
              <a:t>nécessaire</a:t>
            </a:r>
            <a:r>
              <a:rPr lang="en-US" sz="3447" b="1" dirty="0">
                <a:solidFill>
                  <a:srgbClr val="269649"/>
                </a:solidFill>
                <a:latin typeface="+mj-lt"/>
                <a:ea typeface="Codec Pro Bold"/>
                <a:cs typeface="Codec Pro Bold"/>
                <a:sym typeface="Codec Pro Bold"/>
              </a:rPr>
              <a:t> de </a:t>
            </a:r>
            <a:r>
              <a:rPr lang="en-US" sz="3447" b="1" dirty="0" err="1">
                <a:solidFill>
                  <a:srgbClr val="269649"/>
                </a:solidFill>
                <a:latin typeface="+mj-lt"/>
                <a:ea typeface="Codec Pro Bold"/>
                <a:cs typeface="Codec Pro Bold"/>
                <a:sym typeface="Codec Pro Bold"/>
              </a:rPr>
              <a:t>développer</a:t>
            </a:r>
            <a:r>
              <a:rPr lang="en-US" sz="3447" b="1" dirty="0">
                <a:solidFill>
                  <a:srgbClr val="269649"/>
                </a:solidFill>
                <a:latin typeface="+mj-lt"/>
                <a:ea typeface="Codec Pro Bold"/>
                <a:cs typeface="Codec Pro Bold"/>
                <a:sym typeface="Codec Pro Bold"/>
              </a:rPr>
              <a:t> </a:t>
            </a:r>
            <a:r>
              <a:rPr lang="en-US" sz="3447" b="1" dirty="0" err="1">
                <a:solidFill>
                  <a:srgbClr val="269649"/>
                </a:solidFill>
                <a:latin typeface="+mj-lt"/>
                <a:ea typeface="Codec Pro Bold"/>
                <a:cs typeface="Codec Pro Bold"/>
                <a:sym typeface="Codec Pro Bold"/>
              </a:rPr>
              <a:t>une</a:t>
            </a:r>
            <a:r>
              <a:rPr lang="en-US" sz="3447" b="1" dirty="0">
                <a:solidFill>
                  <a:srgbClr val="269649"/>
                </a:solidFill>
                <a:latin typeface="+mj-lt"/>
                <a:ea typeface="Codec Pro Bold"/>
                <a:cs typeface="Codec Pro Bold"/>
                <a:sym typeface="Codec Pro Bold"/>
              </a:rPr>
              <a:t> application web de sondage </a:t>
            </a:r>
            <a:r>
              <a:rPr lang="en-US" sz="3447" b="1" dirty="0" err="1">
                <a:solidFill>
                  <a:srgbClr val="269649"/>
                </a:solidFill>
                <a:latin typeface="+mj-lt"/>
                <a:ea typeface="Codec Pro Bold"/>
                <a:cs typeface="Codec Pro Bold"/>
                <a:sym typeface="Codec Pro Bold"/>
              </a:rPr>
              <a:t>permettant</a:t>
            </a:r>
            <a:r>
              <a:rPr lang="en-US" sz="3447" b="1" dirty="0">
                <a:solidFill>
                  <a:srgbClr val="269649"/>
                </a:solidFill>
                <a:latin typeface="+mj-lt"/>
                <a:ea typeface="Codec Pro Bold"/>
                <a:cs typeface="Codec Pro Bold"/>
                <a:sym typeface="Codec Pro Bold"/>
              </a:rPr>
              <a:t> de </a:t>
            </a:r>
            <a:r>
              <a:rPr lang="en-US" sz="3447" b="1" dirty="0" err="1">
                <a:solidFill>
                  <a:srgbClr val="269649"/>
                </a:solidFill>
                <a:latin typeface="+mj-lt"/>
                <a:ea typeface="Codec Pro Bold"/>
                <a:cs typeface="Codec Pro Bold"/>
                <a:sym typeface="Codec Pro Bold"/>
              </a:rPr>
              <a:t>créer</a:t>
            </a:r>
            <a:r>
              <a:rPr lang="en-US" sz="3447" b="1" dirty="0">
                <a:solidFill>
                  <a:srgbClr val="269649"/>
                </a:solidFill>
                <a:latin typeface="+mj-lt"/>
                <a:ea typeface="Codec Pro Bold"/>
                <a:cs typeface="Codec Pro Bold"/>
                <a:sym typeface="Codec Pro Bold"/>
              </a:rPr>
              <a:t>, </a:t>
            </a:r>
            <a:r>
              <a:rPr lang="en-US" sz="3447" b="1" dirty="0" err="1">
                <a:solidFill>
                  <a:srgbClr val="269649"/>
                </a:solidFill>
                <a:latin typeface="+mj-lt"/>
                <a:ea typeface="Codec Pro Bold"/>
                <a:cs typeface="Codec Pro Bold"/>
                <a:sym typeface="Codec Pro Bold"/>
              </a:rPr>
              <a:t>gérer</a:t>
            </a:r>
            <a:r>
              <a:rPr lang="en-US" sz="3447" b="1" dirty="0">
                <a:solidFill>
                  <a:srgbClr val="269649"/>
                </a:solidFill>
                <a:latin typeface="+mj-lt"/>
                <a:ea typeface="Codec Pro Bold"/>
                <a:cs typeface="Codec Pro Bold"/>
                <a:sym typeface="Codec Pro Bold"/>
              </a:rPr>
              <a:t> et </a:t>
            </a:r>
            <a:r>
              <a:rPr lang="en-US" sz="3447" b="1" dirty="0" err="1">
                <a:solidFill>
                  <a:srgbClr val="269649"/>
                </a:solidFill>
                <a:latin typeface="+mj-lt"/>
                <a:ea typeface="Codec Pro Bold"/>
                <a:cs typeface="Codec Pro Bold"/>
                <a:sym typeface="Codec Pro Bold"/>
              </a:rPr>
              <a:t>analyser</a:t>
            </a:r>
            <a:r>
              <a:rPr lang="en-US" sz="3447" b="1" dirty="0">
                <a:solidFill>
                  <a:srgbClr val="269649"/>
                </a:solidFill>
                <a:latin typeface="+mj-lt"/>
                <a:ea typeface="Codec Pro Bold"/>
                <a:cs typeface="Codec Pro Bold"/>
                <a:sym typeface="Codec Pro Bold"/>
              </a:rPr>
              <a:t> des questionnaires de manière simple, </a:t>
            </a:r>
            <a:r>
              <a:rPr lang="en-US" sz="3447" b="1" dirty="0" err="1">
                <a:solidFill>
                  <a:srgbClr val="269649"/>
                </a:solidFill>
                <a:latin typeface="+mj-lt"/>
                <a:ea typeface="Codec Pro Bold"/>
                <a:cs typeface="Codec Pro Bold"/>
                <a:sym typeface="Codec Pro Bold"/>
              </a:rPr>
              <a:t>rapide</a:t>
            </a:r>
            <a:r>
              <a:rPr lang="en-US" sz="3447" b="1" dirty="0">
                <a:solidFill>
                  <a:srgbClr val="269649"/>
                </a:solidFill>
                <a:latin typeface="+mj-lt"/>
                <a:ea typeface="Codec Pro Bold"/>
                <a:cs typeface="Codec Pro Bold"/>
                <a:sym typeface="Codec Pro Bold"/>
              </a:rPr>
              <a:t> et </a:t>
            </a:r>
            <a:r>
              <a:rPr lang="en-US" sz="3447" b="1" dirty="0" err="1">
                <a:solidFill>
                  <a:srgbClr val="269649"/>
                </a:solidFill>
                <a:latin typeface="+mj-lt"/>
                <a:ea typeface="Codec Pro Bold"/>
                <a:cs typeface="Codec Pro Bold"/>
                <a:sym typeface="Codec Pro Bold"/>
              </a:rPr>
              <a:t>sécurisée</a:t>
            </a:r>
            <a:r>
              <a:rPr lang="en-US" sz="3447" b="1" dirty="0">
                <a:solidFill>
                  <a:srgbClr val="269649"/>
                </a:solidFill>
                <a:latin typeface="+mj-lt"/>
                <a:ea typeface="Codec Pro Bold"/>
                <a:cs typeface="Codec Pro Bold"/>
                <a:sym typeface="Codec Pro Bold"/>
              </a:rPr>
              <a:t>. </a:t>
            </a:r>
            <a:r>
              <a:rPr lang="en-US" sz="3447" b="1" dirty="0" err="1">
                <a:solidFill>
                  <a:srgbClr val="269649"/>
                </a:solidFill>
                <a:latin typeface="+mj-lt"/>
                <a:ea typeface="Codec Pro Bold"/>
                <a:cs typeface="Codec Pro Bold"/>
                <a:sym typeface="Codec Pro Bold"/>
              </a:rPr>
              <a:t>L’objectif</a:t>
            </a:r>
            <a:r>
              <a:rPr lang="en-US" sz="3447" b="1" dirty="0">
                <a:solidFill>
                  <a:srgbClr val="269649"/>
                </a:solidFill>
                <a:latin typeface="+mj-lt"/>
                <a:ea typeface="Codec Pro Bold"/>
                <a:cs typeface="Codec Pro Bold"/>
                <a:sym typeface="Codec Pro Bold"/>
              </a:rPr>
              <a:t> est </a:t>
            </a:r>
            <a:r>
              <a:rPr lang="en-US" sz="3447" b="1" dirty="0" err="1">
                <a:solidFill>
                  <a:srgbClr val="269649"/>
                </a:solidFill>
                <a:latin typeface="+mj-lt"/>
                <a:ea typeface="Codec Pro Bold"/>
                <a:cs typeface="Codec Pro Bold"/>
                <a:sym typeface="Codec Pro Bold"/>
              </a:rPr>
              <a:t>donc</a:t>
            </a:r>
            <a:r>
              <a:rPr lang="en-US" sz="3447" b="1" dirty="0">
                <a:solidFill>
                  <a:srgbClr val="269649"/>
                </a:solidFill>
                <a:latin typeface="+mj-lt"/>
                <a:ea typeface="Codec Pro Bold"/>
                <a:cs typeface="Codec Pro Bold"/>
                <a:sym typeface="Codec Pro Bold"/>
              </a:rPr>
              <a:t> de </a:t>
            </a:r>
            <a:r>
              <a:rPr lang="en-US" sz="3447" b="1" dirty="0" err="1">
                <a:solidFill>
                  <a:srgbClr val="269649"/>
                </a:solidFill>
                <a:latin typeface="+mj-lt"/>
                <a:ea typeface="Codec Pro Bold"/>
                <a:cs typeface="Codec Pro Bold"/>
                <a:sym typeface="Codec Pro Bold"/>
              </a:rPr>
              <a:t>faciliter</a:t>
            </a:r>
            <a:r>
              <a:rPr lang="en-US" sz="3447" b="1" dirty="0">
                <a:solidFill>
                  <a:srgbClr val="269649"/>
                </a:solidFill>
                <a:latin typeface="+mj-lt"/>
                <a:ea typeface="Codec Pro Bold"/>
                <a:cs typeface="Codec Pro Bold"/>
                <a:sym typeface="Codec Pro Bold"/>
              </a:rPr>
              <a:t> la </a:t>
            </a:r>
            <a:r>
              <a:rPr lang="en-US" sz="3447" b="1" dirty="0" err="1">
                <a:solidFill>
                  <a:srgbClr val="269649"/>
                </a:solidFill>
                <a:latin typeface="+mj-lt"/>
                <a:ea typeface="Codec Pro Bold"/>
                <a:cs typeface="Codec Pro Bold"/>
                <a:sym typeface="Codec Pro Bold"/>
              </a:rPr>
              <a:t>collecte</a:t>
            </a:r>
            <a:r>
              <a:rPr lang="en-US" sz="3447" b="1" dirty="0">
                <a:solidFill>
                  <a:srgbClr val="269649"/>
                </a:solidFill>
                <a:latin typeface="+mj-lt"/>
                <a:ea typeface="Codec Pro Bold"/>
                <a:cs typeface="Codec Pro Bold"/>
                <a:sym typeface="Codec Pro Bold"/>
              </a:rPr>
              <a:t> des données et </a:t>
            </a:r>
            <a:r>
              <a:rPr lang="en-US" sz="3447" b="1" dirty="0" err="1">
                <a:solidFill>
                  <a:srgbClr val="269649"/>
                </a:solidFill>
                <a:latin typeface="+mj-lt"/>
                <a:ea typeface="Codec Pro Bold"/>
                <a:cs typeface="Codec Pro Bold"/>
                <a:sym typeface="Codec Pro Bold"/>
              </a:rPr>
              <a:t>d’améliorer</a:t>
            </a:r>
            <a:r>
              <a:rPr lang="en-US" sz="3447" b="1" dirty="0">
                <a:solidFill>
                  <a:srgbClr val="269649"/>
                </a:solidFill>
                <a:latin typeface="+mj-lt"/>
                <a:ea typeface="Codec Pro Bold"/>
                <a:cs typeface="Codec Pro Bold"/>
                <a:sym typeface="Codec Pro Bold"/>
              </a:rPr>
              <a:t> </a:t>
            </a:r>
            <a:r>
              <a:rPr lang="en-US" sz="3447" b="1" dirty="0" err="1">
                <a:solidFill>
                  <a:srgbClr val="269649"/>
                </a:solidFill>
                <a:latin typeface="+mj-lt"/>
                <a:ea typeface="Codec Pro Bold"/>
                <a:cs typeface="Codec Pro Bold"/>
                <a:sym typeface="Codec Pro Bold"/>
              </a:rPr>
              <a:t>l’organisation</a:t>
            </a:r>
            <a:r>
              <a:rPr lang="en-US" sz="3447" b="1" dirty="0">
                <a:solidFill>
                  <a:srgbClr val="269649"/>
                </a:solidFill>
                <a:latin typeface="+mj-lt"/>
                <a:ea typeface="Codec Pro Bold"/>
                <a:cs typeface="Codec Pro Bold"/>
                <a:sym typeface="Codec Pro Bold"/>
              </a:rPr>
              <a:t> </a:t>
            </a:r>
            <a:r>
              <a:rPr lang="en-US" sz="3447" b="1" dirty="0" err="1">
                <a:solidFill>
                  <a:srgbClr val="269649"/>
                </a:solidFill>
                <a:latin typeface="+mj-lt"/>
                <a:ea typeface="Codec Pro Bold"/>
                <a:cs typeface="Codec Pro Bold"/>
                <a:sym typeface="Codec Pro Bold"/>
              </a:rPr>
              <a:t>ainsi</a:t>
            </a:r>
            <a:r>
              <a:rPr lang="en-US" sz="3447" b="1" dirty="0">
                <a:solidFill>
                  <a:srgbClr val="269649"/>
                </a:solidFill>
                <a:latin typeface="+mj-lt"/>
                <a:ea typeface="Codec Pro Bold"/>
                <a:cs typeface="Codec Pro Bold"/>
                <a:sym typeface="Codec Pro Bold"/>
              </a:rPr>
              <a:t> </a:t>
            </a:r>
            <a:r>
              <a:rPr lang="en-US" sz="3447" b="1" dirty="0" err="1">
                <a:solidFill>
                  <a:srgbClr val="269649"/>
                </a:solidFill>
                <a:latin typeface="+mj-lt"/>
                <a:ea typeface="Codec Pro Bold"/>
                <a:cs typeface="Codec Pro Bold"/>
                <a:sym typeface="Codec Pro Bold"/>
              </a:rPr>
              <a:t>que</a:t>
            </a:r>
            <a:r>
              <a:rPr lang="en-US" sz="3447" b="1" dirty="0">
                <a:solidFill>
                  <a:srgbClr val="269649"/>
                </a:solidFill>
                <a:latin typeface="+mj-lt"/>
                <a:ea typeface="Codec Pro Bold"/>
                <a:cs typeface="Codec Pro Bold"/>
                <a:sym typeface="Codec Pro Bold"/>
              </a:rPr>
              <a:t> la </a:t>
            </a:r>
            <a:r>
              <a:rPr lang="en-US" sz="3447" b="1" dirty="0" err="1">
                <a:solidFill>
                  <a:srgbClr val="269649"/>
                </a:solidFill>
                <a:latin typeface="+mj-lt"/>
                <a:ea typeface="Codec Pro Bold"/>
                <a:cs typeface="Codec Pro Bold"/>
                <a:sym typeface="Codec Pro Bold"/>
              </a:rPr>
              <a:t>visualisation</a:t>
            </a:r>
            <a:r>
              <a:rPr lang="en-US" sz="3447" b="1" dirty="0">
                <a:solidFill>
                  <a:srgbClr val="269649"/>
                </a:solidFill>
                <a:latin typeface="+mj-lt"/>
                <a:ea typeface="Codec Pro Bold"/>
                <a:cs typeface="Codec Pro Bold"/>
                <a:sym typeface="Codec Pro Bold"/>
              </a:rPr>
              <a:t> des </a:t>
            </a:r>
            <a:r>
              <a:rPr lang="en-US" sz="3447" b="1" dirty="0" err="1">
                <a:solidFill>
                  <a:srgbClr val="269649"/>
                </a:solidFill>
                <a:latin typeface="+mj-lt"/>
                <a:ea typeface="Codec Pro Bold"/>
                <a:cs typeface="Codec Pro Bold"/>
                <a:sym typeface="Codec Pro Bold"/>
              </a:rPr>
              <a:t>résultats</a:t>
            </a:r>
            <a:r>
              <a:rPr lang="en-US" sz="3447" b="1" dirty="0">
                <a:solidFill>
                  <a:srgbClr val="269649"/>
                </a:solidFill>
                <a:latin typeface="+mj-lt"/>
                <a:ea typeface="Codec Pro Bold"/>
                <a:cs typeface="Codec Pro Bold"/>
                <a:sym typeface="Codec Pro Bold"/>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28700" y="2149017"/>
            <a:ext cx="16230569" cy="0"/>
          </a:xfrm>
          <a:prstGeom prst="line">
            <a:avLst/>
          </a:prstGeom>
          <a:ln w="28575" cap="flat">
            <a:solidFill>
              <a:srgbClr val="000000"/>
            </a:solidFill>
            <a:prstDash val="solid"/>
            <a:headEnd type="none" w="sm" len="sm"/>
            <a:tailEnd type="none" w="sm" len="sm"/>
          </a:ln>
        </p:spPr>
        <p:txBody>
          <a:bodyPr/>
          <a:lstStyle/>
          <a:p>
            <a:endParaRPr lang="fr-MA"/>
          </a:p>
        </p:txBody>
      </p:sp>
      <p:sp>
        <p:nvSpPr>
          <p:cNvPr id="3" name="Freeform 3"/>
          <p:cNvSpPr/>
          <p:nvPr/>
        </p:nvSpPr>
        <p:spPr>
          <a:xfrm>
            <a:off x="0" y="8877269"/>
            <a:ext cx="18288000" cy="1409731"/>
          </a:xfrm>
          <a:custGeom>
            <a:avLst/>
            <a:gdLst/>
            <a:ahLst/>
            <a:cxnLst/>
            <a:rect l="l" t="t" r="r" b="b"/>
            <a:pathLst>
              <a:path w="18288000" h="1409731">
                <a:moveTo>
                  <a:pt x="0" y="0"/>
                </a:moveTo>
                <a:lnTo>
                  <a:pt x="18288000" y="0"/>
                </a:lnTo>
                <a:lnTo>
                  <a:pt x="18288000" y="1409731"/>
                </a:lnTo>
                <a:lnTo>
                  <a:pt x="0" y="1409731"/>
                </a:lnTo>
                <a:lnTo>
                  <a:pt x="0" y="0"/>
                </a:lnTo>
                <a:close/>
              </a:path>
            </a:pathLst>
          </a:custGeom>
          <a:blipFill>
            <a:blip r:embed="rId2">
              <a:alphaModFix amt="31999"/>
            </a:blip>
            <a:stretch>
              <a:fillRect t="-629713"/>
            </a:stretch>
          </a:blipFill>
        </p:spPr>
        <p:txBody>
          <a:bodyPr/>
          <a:lstStyle/>
          <a:p>
            <a:endParaRPr lang="fr-MA"/>
          </a:p>
        </p:txBody>
      </p:sp>
      <p:grpSp>
        <p:nvGrpSpPr>
          <p:cNvPr id="4" name="Group 4"/>
          <p:cNvGrpSpPr/>
          <p:nvPr/>
        </p:nvGrpSpPr>
        <p:grpSpPr>
          <a:xfrm>
            <a:off x="16824190" y="8909000"/>
            <a:ext cx="870158" cy="762063"/>
            <a:chOff x="0" y="0"/>
            <a:chExt cx="1160210" cy="1016084"/>
          </a:xfrm>
        </p:grpSpPr>
        <p:grpSp>
          <p:nvGrpSpPr>
            <p:cNvPr id="5" name="Group 5"/>
            <p:cNvGrpSpPr/>
            <p:nvPr/>
          </p:nvGrpSpPr>
          <p:grpSpPr>
            <a:xfrm>
              <a:off x="0" y="0"/>
              <a:ext cx="1160210" cy="1016084"/>
              <a:chOff x="0" y="0"/>
              <a:chExt cx="229177" cy="200708"/>
            </a:xfrm>
          </p:grpSpPr>
          <p:sp>
            <p:nvSpPr>
              <p:cNvPr id="6" name="Freeform 6"/>
              <p:cNvSpPr/>
              <p:nvPr/>
            </p:nvSpPr>
            <p:spPr>
              <a:xfrm>
                <a:off x="0" y="0"/>
                <a:ext cx="229177" cy="200708"/>
              </a:xfrm>
              <a:custGeom>
                <a:avLst/>
                <a:gdLst/>
                <a:ahLst/>
                <a:cxnLst/>
                <a:rect l="l" t="t" r="r" b="b"/>
                <a:pathLst>
                  <a:path w="229177" h="200708">
                    <a:moveTo>
                      <a:pt x="0" y="0"/>
                    </a:moveTo>
                    <a:lnTo>
                      <a:pt x="229177" y="0"/>
                    </a:lnTo>
                    <a:lnTo>
                      <a:pt x="229177" y="200708"/>
                    </a:lnTo>
                    <a:lnTo>
                      <a:pt x="0" y="200708"/>
                    </a:lnTo>
                    <a:close/>
                  </a:path>
                </a:pathLst>
              </a:custGeom>
              <a:solidFill>
                <a:srgbClr val="269649"/>
              </a:solidFill>
            </p:spPr>
            <p:txBody>
              <a:bodyPr/>
              <a:lstStyle/>
              <a:p>
                <a:endParaRPr lang="fr-MA"/>
              </a:p>
            </p:txBody>
          </p:sp>
          <p:sp>
            <p:nvSpPr>
              <p:cNvPr id="7" name="TextBox 7"/>
              <p:cNvSpPr txBox="1"/>
              <p:nvPr/>
            </p:nvSpPr>
            <p:spPr>
              <a:xfrm>
                <a:off x="0" y="-66675"/>
                <a:ext cx="229177" cy="267383"/>
              </a:xfrm>
              <a:prstGeom prst="rect">
                <a:avLst/>
              </a:prstGeom>
            </p:spPr>
            <p:txBody>
              <a:bodyPr lIns="50800" tIns="50800" rIns="50800" bIns="50800" rtlCol="0" anchor="ctr"/>
              <a:lstStyle/>
              <a:p>
                <a:pPr algn="ctr">
                  <a:lnSpc>
                    <a:spcPts val="3500"/>
                  </a:lnSpc>
                </a:pPr>
                <a:endParaRPr/>
              </a:p>
            </p:txBody>
          </p:sp>
        </p:grpSp>
        <p:sp>
          <p:nvSpPr>
            <p:cNvPr id="8" name="TextBox 8"/>
            <p:cNvSpPr txBox="1"/>
            <p:nvPr/>
          </p:nvSpPr>
          <p:spPr>
            <a:xfrm>
              <a:off x="0" y="162399"/>
              <a:ext cx="1160210" cy="607089"/>
            </a:xfrm>
            <a:prstGeom prst="rect">
              <a:avLst/>
            </a:prstGeom>
          </p:spPr>
          <p:txBody>
            <a:bodyPr lIns="0" tIns="0" rIns="0" bIns="0" rtlCol="0" anchor="t">
              <a:spAutoFit/>
            </a:bodyPr>
            <a:lstStyle/>
            <a:p>
              <a:pPr marL="0" lvl="0" indent="0" algn="ctr">
                <a:lnSpc>
                  <a:spcPts val="3511"/>
                </a:lnSpc>
              </a:pPr>
              <a:r>
                <a:rPr lang="en-US" sz="3547" b="1" dirty="0">
                  <a:solidFill>
                    <a:srgbClr val="FAFAFA"/>
                  </a:solidFill>
                  <a:latin typeface="Codec Pro Bold"/>
                  <a:ea typeface="Codec Pro Bold"/>
                  <a:cs typeface="Codec Pro Bold"/>
                  <a:sym typeface="Codec Pro Bold"/>
                </a:rPr>
                <a:t>04</a:t>
              </a:r>
            </a:p>
          </p:txBody>
        </p:sp>
      </p:grpSp>
      <p:grpSp>
        <p:nvGrpSpPr>
          <p:cNvPr id="9" name="Group 9"/>
          <p:cNvGrpSpPr/>
          <p:nvPr/>
        </p:nvGrpSpPr>
        <p:grpSpPr>
          <a:xfrm>
            <a:off x="12339918" y="2718332"/>
            <a:ext cx="4484272" cy="2713539"/>
            <a:chOff x="0" y="0"/>
            <a:chExt cx="694731" cy="420398"/>
          </a:xfrm>
        </p:grpSpPr>
        <p:sp>
          <p:nvSpPr>
            <p:cNvPr id="10" name="Freeform 10"/>
            <p:cNvSpPr/>
            <p:nvPr/>
          </p:nvSpPr>
          <p:spPr>
            <a:xfrm>
              <a:off x="0" y="0"/>
              <a:ext cx="694731" cy="420398"/>
            </a:xfrm>
            <a:custGeom>
              <a:avLst/>
              <a:gdLst/>
              <a:ahLst/>
              <a:cxnLst/>
              <a:rect l="l" t="t" r="r" b="b"/>
              <a:pathLst>
                <a:path w="694731" h="420398">
                  <a:moveTo>
                    <a:pt x="0" y="0"/>
                  </a:moveTo>
                  <a:lnTo>
                    <a:pt x="694731" y="0"/>
                  </a:lnTo>
                  <a:lnTo>
                    <a:pt x="694731" y="420398"/>
                  </a:lnTo>
                  <a:lnTo>
                    <a:pt x="0" y="420398"/>
                  </a:lnTo>
                  <a:close/>
                </a:path>
              </a:pathLst>
            </a:custGeom>
            <a:blipFill>
              <a:blip r:embed="rId3"/>
              <a:stretch>
                <a:fillRect t="-10603" b="-10603"/>
              </a:stretch>
            </a:blipFill>
          </p:spPr>
          <p:txBody>
            <a:bodyPr/>
            <a:lstStyle/>
            <a:p>
              <a:endParaRPr lang="fr-MA"/>
            </a:p>
          </p:txBody>
        </p:sp>
      </p:grpSp>
      <p:sp>
        <p:nvSpPr>
          <p:cNvPr id="11" name="Freeform 11"/>
          <p:cNvSpPr/>
          <p:nvPr/>
        </p:nvSpPr>
        <p:spPr>
          <a:xfrm>
            <a:off x="1162773" y="2767862"/>
            <a:ext cx="5304766" cy="2664009"/>
          </a:xfrm>
          <a:custGeom>
            <a:avLst/>
            <a:gdLst/>
            <a:ahLst/>
            <a:cxnLst/>
            <a:rect l="l" t="t" r="r" b="b"/>
            <a:pathLst>
              <a:path w="5304766" h="2664009">
                <a:moveTo>
                  <a:pt x="0" y="0"/>
                </a:moveTo>
                <a:lnTo>
                  <a:pt x="5304766" y="0"/>
                </a:lnTo>
                <a:lnTo>
                  <a:pt x="5304766" y="2664009"/>
                </a:lnTo>
                <a:lnTo>
                  <a:pt x="0" y="2664009"/>
                </a:lnTo>
                <a:lnTo>
                  <a:pt x="0" y="0"/>
                </a:lnTo>
                <a:close/>
              </a:path>
            </a:pathLst>
          </a:custGeom>
          <a:blipFill>
            <a:blip r:embed="rId4"/>
            <a:stretch>
              <a:fillRect l="-2636" t="-8897" r="-3982" b="-89807"/>
            </a:stretch>
          </a:blipFill>
          <a:ln cap="sq">
            <a:noFill/>
            <a:prstDash val="solid"/>
            <a:miter/>
          </a:ln>
        </p:spPr>
        <p:txBody>
          <a:bodyPr/>
          <a:lstStyle/>
          <a:p>
            <a:endParaRPr lang="fr-MA"/>
          </a:p>
        </p:txBody>
      </p:sp>
      <p:grpSp>
        <p:nvGrpSpPr>
          <p:cNvPr id="12" name="Group 12"/>
          <p:cNvGrpSpPr/>
          <p:nvPr/>
        </p:nvGrpSpPr>
        <p:grpSpPr>
          <a:xfrm>
            <a:off x="6901864" y="2718332"/>
            <a:ext cx="4484272" cy="2713539"/>
            <a:chOff x="0" y="0"/>
            <a:chExt cx="694731" cy="420398"/>
          </a:xfrm>
        </p:grpSpPr>
        <p:sp>
          <p:nvSpPr>
            <p:cNvPr id="13" name="Freeform 13"/>
            <p:cNvSpPr/>
            <p:nvPr/>
          </p:nvSpPr>
          <p:spPr>
            <a:xfrm>
              <a:off x="0" y="0"/>
              <a:ext cx="694731" cy="420398"/>
            </a:xfrm>
            <a:custGeom>
              <a:avLst/>
              <a:gdLst/>
              <a:ahLst/>
              <a:cxnLst/>
              <a:rect l="l" t="t" r="r" b="b"/>
              <a:pathLst>
                <a:path w="694731" h="420398">
                  <a:moveTo>
                    <a:pt x="0" y="0"/>
                  </a:moveTo>
                  <a:lnTo>
                    <a:pt x="694731" y="0"/>
                  </a:lnTo>
                  <a:lnTo>
                    <a:pt x="694731" y="420398"/>
                  </a:lnTo>
                  <a:lnTo>
                    <a:pt x="0" y="420398"/>
                  </a:lnTo>
                  <a:close/>
                </a:path>
              </a:pathLst>
            </a:custGeom>
            <a:blipFill>
              <a:blip r:embed="rId5"/>
              <a:stretch>
                <a:fillRect t="-9093" r="-17602" b="-10840"/>
              </a:stretch>
            </a:blipFill>
          </p:spPr>
          <p:txBody>
            <a:bodyPr/>
            <a:lstStyle/>
            <a:p>
              <a:endParaRPr lang="fr-MA"/>
            </a:p>
          </p:txBody>
        </p:sp>
      </p:grpSp>
      <p:sp>
        <p:nvSpPr>
          <p:cNvPr id="14" name="TextBox 14"/>
          <p:cNvSpPr txBox="1"/>
          <p:nvPr/>
        </p:nvSpPr>
        <p:spPr>
          <a:xfrm>
            <a:off x="1028700" y="1060404"/>
            <a:ext cx="6663097" cy="966061"/>
          </a:xfrm>
          <a:prstGeom prst="rect">
            <a:avLst/>
          </a:prstGeom>
        </p:spPr>
        <p:txBody>
          <a:bodyPr lIns="0" tIns="0" rIns="0" bIns="0" rtlCol="0" anchor="t">
            <a:spAutoFit/>
          </a:bodyPr>
          <a:lstStyle/>
          <a:p>
            <a:pPr marL="0" lvl="0" indent="0" algn="l">
              <a:lnSpc>
                <a:spcPts val="6452"/>
              </a:lnSpc>
            </a:pPr>
            <a:r>
              <a:rPr lang="en-US" sz="6517" b="1">
                <a:solidFill>
                  <a:srgbClr val="303030"/>
                </a:solidFill>
                <a:latin typeface="Codec Pro Bold"/>
                <a:ea typeface="Codec Pro Bold"/>
                <a:cs typeface="Codec Pro Bold"/>
                <a:sym typeface="Codec Pro Bold"/>
              </a:rPr>
              <a:t>Objectifs</a:t>
            </a:r>
          </a:p>
        </p:txBody>
      </p:sp>
      <p:sp>
        <p:nvSpPr>
          <p:cNvPr id="15" name="TextBox 15"/>
          <p:cNvSpPr txBox="1"/>
          <p:nvPr/>
        </p:nvSpPr>
        <p:spPr>
          <a:xfrm>
            <a:off x="1028669" y="6297480"/>
            <a:ext cx="5160061" cy="2161041"/>
          </a:xfrm>
          <a:prstGeom prst="rect">
            <a:avLst/>
          </a:prstGeom>
        </p:spPr>
        <p:txBody>
          <a:bodyPr lIns="0" tIns="0" rIns="0" bIns="0" rtlCol="0" anchor="t">
            <a:spAutoFit/>
          </a:bodyPr>
          <a:lstStyle/>
          <a:p>
            <a:pPr marL="614701" lvl="1" indent="-307351" algn="l">
              <a:lnSpc>
                <a:spcPts val="2818"/>
              </a:lnSpc>
              <a:buFont typeface="Arial"/>
              <a:buChar char="•"/>
            </a:pPr>
            <a:r>
              <a:rPr lang="en-US" sz="2847" dirty="0" err="1">
                <a:solidFill>
                  <a:srgbClr val="303030"/>
                </a:solidFill>
                <a:latin typeface="+mj-lt"/>
                <a:ea typeface="Codec Pro"/>
                <a:cs typeface="Codec Pro"/>
                <a:sym typeface="Codec Pro"/>
              </a:rPr>
              <a:t>Concevoir</a:t>
            </a:r>
            <a:r>
              <a:rPr lang="en-US" sz="2847" dirty="0">
                <a:solidFill>
                  <a:srgbClr val="303030"/>
                </a:solidFill>
                <a:latin typeface="+mj-lt"/>
                <a:ea typeface="Codec Pro"/>
                <a:cs typeface="Codec Pro"/>
                <a:sym typeface="Codec Pro"/>
              </a:rPr>
              <a:t> </a:t>
            </a:r>
            <a:r>
              <a:rPr lang="en-US" sz="2847" dirty="0" err="1">
                <a:solidFill>
                  <a:srgbClr val="303030"/>
                </a:solidFill>
                <a:latin typeface="+mj-lt"/>
                <a:ea typeface="Codec Pro"/>
                <a:cs typeface="Codec Pro"/>
                <a:sym typeface="Codec Pro"/>
              </a:rPr>
              <a:t>une</a:t>
            </a:r>
            <a:r>
              <a:rPr lang="en-US" sz="2847" dirty="0">
                <a:solidFill>
                  <a:srgbClr val="303030"/>
                </a:solidFill>
                <a:latin typeface="+mj-lt"/>
                <a:ea typeface="Codec Pro"/>
                <a:cs typeface="Codec Pro"/>
                <a:sym typeface="Codec Pro"/>
              </a:rPr>
              <a:t> application web de gestion de sondages simple et intuitive.</a:t>
            </a:r>
          </a:p>
          <a:p>
            <a:pPr marL="614701" lvl="1" indent="-307351" algn="l">
              <a:lnSpc>
                <a:spcPts val="2818"/>
              </a:lnSpc>
              <a:buFont typeface="Arial"/>
              <a:buChar char="•"/>
            </a:pPr>
            <a:r>
              <a:rPr lang="en-US" sz="2847" dirty="0" err="1">
                <a:solidFill>
                  <a:srgbClr val="303030"/>
                </a:solidFill>
                <a:latin typeface="+mj-lt"/>
                <a:ea typeface="Codec Pro"/>
                <a:cs typeface="Codec Pro"/>
                <a:sym typeface="Codec Pro"/>
              </a:rPr>
              <a:t>Permettre</a:t>
            </a:r>
            <a:r>
              <a:rPr lang="en-US" sz="2847" dirty="0">
                <a:solidFill>
                  <a:srgbClr val="303030"/>
                </a:solidFill>
                <a:latin typeface="+mj-lt"/>
                <a:ea typeface="Codec Pro"/>
                <a:cs typeface="Codec Pro"/>
                <a:sym typeface="Codec Pro"/>
              </a:rPr>
              <a:t> aux </a:t>
            </a:r>
            <a:r>
              <a:rPr lang="en-US" sz="2847" dirty="0" err="1">
                <a:solidFill>
                  <a:srgbClr val="303030"/>
                </a:solidFill>
                <a:latin typeface="+mj-lt"/>
                <a:ea typeface="Codec Pro"/>
                <a:cs typeface="Codec Pro"/>
                <a:sym typeface="Codec Pro"/>
              </a:rPr>
              <a:t>utilisateurs</a:t>
            </a:r>
            <a:r>
              <a:rPr lang="en-US" sz="2847" dirty="0">
                <a:solidFill>
                  <a:srgbClr val="303030"/>
                </a:solidFill>
                <a:latin typeface="+mj-lt"/>
                <a:ea typeface="Codec Pro"/>
                <a:cs typeface="Codec Pro"/>
                <a:sym typeface="Codec Pro"/>
              </a:rPr>
              <a:t> de </a:t>
            </a:r>
            <a:r>
              <a:rPr lang="en-US" sz="2847" dirty="0" err="1">
                <a:solidFill>
                  <a:srgbClr val="303030"/>
                </a:solidFill>
                <a:latin typeface="+mj-lt"/>
                <a:ea typeface="Codec Pro"/>
                <a:cs typeface="Codec Pro"/>
                <a:sym typeface="Codec Pro"/>
              </a:rPr>
              <a:t>créer</a:t>
            </a:r>
            <a:r>
              <a:rPr lang="en-US" sz="2847" dirty="0">
                <a:solidFill>
                  <a:srgbClr val="303030"/>
                </a:solidFill>
                <a:latin typeface="+mj-lt"/>
                <a:ea typeface="Codec Pro"/>
                <a:cs typeface="Codec Pro"/>
                <a:sym typeface="Codec Pro"/>
              </a:rPr>
              <a:t> et </a:t>
            </a:r>
            <a:r>
              <a:rPr lang="en-US" sz="2847" dirty="0" err="1">
                <a:solidFill>
                  <a:srgbClr val="303030"/>
                </a:solidFill>
                <a:latin typeface="+mj-lt"/>
                <a:ea typeface="Codec Pro"/>
                <a:cs typeface="Codec Pro"/>
                <a:sym typeface="Codec Pro"/>
              </a:rPr>
              <a:t>gérer</a:t>
            </a:r>
            <a:r>
              <a:rPr lang="en-US" sz="2847" dirty="0">
                <a:solidFill>
                  <a:srgbClr val="303030"/>
                </a:solidFill>
                <a:latin typeface="+mj-lt"/>
                <a:ea typeface="Codec Pro"/>
                <a:cs typeface="Codec Pro"/>
                <a:sym typeface="Codec Pro"/>
              </a:rPr>
              <a:t> des questionnaires </a:t>
            </a:r>
            <a:r>
              <a:rPr lang="en-US" sz="2847" dirty="0" err="1">
                <a:solidFill>
                  <a:srgbClr val="303030"/>
                </a:solidFill>
                <a:latin typeface="+mj-lt"/>
                <a:ea typeface="Codec Pro"/>
                <a:cs typeface="Codec Pro"/>
                <a:sym typeface="Codec Pro"/>
              </a:rPr>
              <a:t>en</a:t>
            </a:r>
            <a:r>
              <a:rPr lang="en-US" sz="2847" dirty="0">
                <a:solidFill>
                  <a:srgbClr val="303030"/>
                </a:solidFill>
                <a:latin typeface="+mj-lt"/>
                <a:ea typeface="Codec Pro"/>
                <a:cs typeface="Codec Pro"/>
                <a:sym typeface="Codec Pro"/>
              </a:rPr>
              <a:t> </a:t>
            </a:r>
            <a:r>
              <a:rPr lang="en-US" sz="2847" dirty="0" err="1">
                <a:solidFill>
                  <a:srgbClr val="303030"/>
                </a:solidFill>
                <a:latin typeface="+mj-lt"/>
                <a:ea typeface="Codec Pro"/>
                <a:cs typeface="Codec Pro"/>
                <a:sym typeface="Codec Pro"/>
              </a:rPr>
              <a:t>ligne</a:t>
            </a:r>
            <a:r>
              <a:rPr lang="en-US" sz="2847" dirty="0">
                <a:solidFill>
                  <a:srgbClr val="303030"/>
                </a:solidFill>
                <a:latin typeface="+mj-lt"/>
                <a:ea typeface="Codec Pro"/>
                <a:cs typeface="Codec Pro"/>
                <a:sym typeface="Codec Pro"/>
              </a:rPr>
              <a:t>.</a:t>
            </a:r>
          </a:p>
        </p:txBody>
      </p:sp>
      <p:sp>
        <p:nvSpPr>
          <p:cNvPr id="16" name="TextBox 16"/>
          <p:cNvSpPr txBox="1"/>
          <p:nvPr/>
        </p:nvSpPr>
        <p:spPr>
          <a:xfrm>
            <a:off x="6467539" y="6305754"/>
            <a:ext cx="5160061" cy="2161041"/>
          </a:xfrm>
          <a:prstGeom prst="rect">
            <a:avLst/>
          </a:prstGeom>
        </p:spPr>
        <p:txBody>
          <a:bodyPr lIns="0" tIns="0" rIns="0" bIns="0" rtlCol="0" anchor="t">
            <a:spAutoFit/>
          </a:bodyPr>
          <a:lstStyle/>
          <a:p>
            <a:pPr marL="614701" lvl="1" indent="-307351" algn="l">
              <a:lnSpc>
                <a:spcPts val="2818"/>
              </a:lnSpc>
              <a:buFont typeface="Arial"/>
              <a:buChar char="•"/>
            </a:pPr>
            <a:r>
              <a:rPr lang="en-US" sz="2847" dirty="0" err="1">
                <a:solidFill>
                  <a:srgbClr val="303030"/>
                </a:solidFill>
                <a:latin typeface="+mj-lt"/>
                <a:ea typeface="Codec Pro"/>
                <a:cs typeface="Codec Pro"/>
                <a:sym typeface="Codec Pro"/>
              </a:rPr>
              <a:t>Faciliter</a:t>
            </a:r>
            <a:r>
              <a:rPr lang="en-US" sz="2847" dirty="0">
                <a:solidFill>
                  <a:srgbClr val="303030"/>
                </a:solidFill>
                <a:latin typeface="+mj-lt"/>
                <a:ea typeface="Codec Pro"/>
                <a:cs typeface="Codec Pro"/>
                <a:sym typeface="Codec Pro"/>
              </a:rPr>
              <a:t> la </a:t>
            </a:r>
            <a:r>
              <a:rPr lang="en-US" sz="2847" dirty="0" err="1">
                <a:solidFill>
                  <a:srgbClr val="303030"/>
                </a:solidFill>
                <a:latin typeface="+mj-lt"/>
                <a:ea typeface="Codec Pro"/>
                <a:cs typeface="Codec Pro"/>
                <a:sym typeface="Codec Pro"/>
              </a:rPr>
              <a:t>collecte</a:t>
            </a:r>
            <a:r>
              <a:rPr lang="en-US" sz="2847" dirty="0">
                <a:solidFill>
                  <a:srgbClr val="303030"/>
                </a:solidFill>
                <a:latin typeface="+mj-lt"/>
                <a:ea typeface="Codec Pro"/>
                <a:cs typeface="Codec Pro"/>
                <a:sym typeface="Codec Pro"/>
              </a:rPr>
              <a:t> des </a:t>
            </a:r>
            <a:r>
              <a:rPr lang="en-US" sz="2847" dirty="0" err="1">
                <a:solidFill>
                  <a:srgbClr val="303030"/>
                </a:solidFill>
                <a:latin typeface="+mj-lt"/>
                <a:ea typeface="Codec Pro"/>
                <a:cs typeface="Codec Pro"/>
                <a:sym typeface="Codec Pro"/>
              </a:rPr>
              <a:t>réponses</a:t>
            </a:r>
            <a:r>
              <a:rPr lang="en-US" sz="2847" dirty="0">
                <a:solidFill>
                  <a:srgbClr val="303030"/>
                </a:solidFill>
                <a:latin typeface="+mj-lt"/>
                <a:ea typeface="Codec Pro"/>
                <a:cs typeface="Codec Pro"/>
                <a:sym typeface="Codec Pro"/>
              </a:rPr>
              <a:t> de manière </a:t>
            </a:r>
            <a:r>
              <a:rPr lang="en-US" sz="2847" dirty="0" err="1">
                <a:solidFill>
                  <a:srgbClr val="303030"/>
                </a:solidFill>
                <a:latin typeface="+mj-lt"/>
                <a:ea typeface="Codec Pro"/>
                <a:cs typeface="Codec Pro"/>
                <a:sym typeface="Codec Pro"/>
              </a:rPr>
              <a:t>rapide</a:t>
            </a:r>
            <a:r>
              <a:rPr lang="en-US" sz="2847" dirty="0">
                <a:solidFill>
                  <a:srgbClr val="303030"/>
                </a:solidFill>
                <a:latin typeface="+mj-lt"/>
                <a:ea typeface="Codec Pro"/>
                <a:cs typeface="Codec Pro"/>
                <a:sym typeface="Codec Pro"/>
              </a:rPr>
              <a:t> et </a:t>
            </a:r>
            <a:r>
              <a:rPr lang="en-US" sz="2847" dirty="0" err="1">
                <a:solidFill>
                  <a:srgbClr val="303030"/>
                </a:solidFill>
                <a:latin typeface="+mj-lt"/>
                <a:ea typeface="Codec Pro"/>
                <a:cs typeface="Codec Pro"/>
                <a:sym typeface="Codec Pro"/>
              </a:rPr>
              <a:t>organisée</a:t>
            </a:r>
            <a:r>
              <a:rPr lang="en-US" sz="2847" dirty="0">
                <a:solidFill>
                  <a:srgbClr val="303030"/>
                </a:solidFill>
                <a:latin typeface="+mj-lt"/>
                <a:ea typeface="Codec Pro"/>
                <a:cs typeface="Codec Pro"/>
                <a:sym typeface="Codec Pro"/>
              </a:rPr>
              <a:t>.</a:t>
            </a:r>
          </a:p>
          <a:p>
            <a:pPr marL="614701" lvl="1" indent="-307351" algn="l">
              <a:lnSpc>
                <a:spcPts val="2818"/>
              </a:lnSpc>
              <a:buFont typeface="Arial"/>
              <a:buChar char="•"/>
            </a:pPr>
            <a:r>
              <a:rPr lang="en-US" sz="2847" dirty="0" err="1">
                <a:solidFill>
                  <a:srgbClr val="303030"/>
                </a:solidFill>
                <a:latin typeface="+mj-lt"/>
                <a:ea typeface="Codec Pro"/>
                <a:cs typeface="Codec Pro"/>
                <a:sym typeface="Codec Pro"/>
              </a:rPr>
              <a:t>Afficher</a:t>
            </a:r>
            <a:r>
              <a:rPr lang="en-US" sz="2847" dirty="0">
                <a:solidFill>
                  <a:srgbClr val="303030"/>
                </a:solidFill>
                <a:latin typeface="+mj-lt"/>
                <a:ea typeface="Codec Pro"/>
                <a:cs typeface="Codec Pro"/>
                <a:sym typeface="Codec Pro"/>
              </a:rPr>
              <a:t> les </a:t>
            </a:r>
            <a:r>
              <a:rPr lang="en-US" sz="2847" dirty="0" err="1">
                <a:solidFill>
                  <a:srgbClr val="303030"/>
                </a:solidFill>
                <a:latin typeface="+mj-lt"/>
                <a:ea typeface="Codec Pro"/>
                <a:cs typeface="Codec Pro"/>
                <a:sym typeface="Codec Pro"/>
              </a:rPr>
              <a:t>résultats</a:t>
            </a:r>
            <a:r>
              <a:rPr lang="en-US" sz="2847" dirty="0">
                <a:solidFill>
                  <a:srgbClr val="303030"/>
                </a:solidFill>
                <a:latin typeface="+mj-lt"/>
                <a:ea typeface="Codec Pro"/>
                <a:cs typeface="Codec Pro"/>
                <a:sym typeface="Codec Pro"/>
              </a:rPr>
              <a:t> des sondages sous </a:t>
            </a:r>
            <a:r>
              <a:rPr lang="en-US" sz="2847" dirty="0" err="1">
                <a:solidFill>
                  <a:srgbClr val="303030"/>
                </a:solidFill>
                <a:latin typeface="+mj-lt"/>
                <a:ea typeface="Codec Pro"/>
                <a:cs typeface="Codec Pro"/>
                <a:sym typeface="Codec Pro"/>
              </a:rPr>
              <a:t>forme</a:t>
            </a:r>
            <a:r>
              <a:rPr lang="en-US" sz="2847" dirty="0">
                <a:solidFill>
                  <a:srgbClr val="303030"/>
                </a:solidFill>
                <a:latin typeface="+mj-lt"/>
                <a:ea typeface="Codec Pro"/>
                <a:cs typeface="Codec Pro"/>
                <a:sym typeface="Codec Pro"/>
              </a:rPr>
              <a:t> de </a:t>
            </a:r>
            <a:r>
              <a:rPr lang="en-US" sz="2847" dirty="0" err="1">
                <a:solidFill>
                  <a:srgbClr val="303030"/>
                </a:solidFill>
                <a:latin typeface="+mj-lt"/>
                <a:ea typeface="Codec Pro"/>
                <a:cs typeface="Codec Pro"/>
                <a:sym typeface="Codec Pro"/>
              </a:rPr>
              <a:t>statistiques</a:t>
            </a:r>
            <a:r>
              <a:rPr lang="en-US" sz="2847" dirty="0">
                <a:solidFill>
                  <a:srgbClr val="303030"/>
                </a:solidFill>
                <a:latin typeface="+mj-lt"/>
                <a:ea typeface="Codec Pro"/>
                <a:cs typeface="Codec Pro"/>
                <a:sym typeface="Codec Pro"/>
              </a:rPr>
              <a:t> et </a:t>
            </a:r>
            <a:r>
              <a:rPr lang="en-US" sz="2847" dirty="0" err="1">
                <a:solidFill>
                  <a:srgbClr val="303030"/>
                </a:solidFill>
                <a:latin typeface="+mj-lt"/>
                <a:ea typeface="Codec Pro"/>
                <a:cs typeface="Codec Pro"/>
                <a:sym typeface="Codec Pro"/>
              </a:rPr>
              <a:t>graphiques</a:t>
            </a:r>
            <a:r>
              <a:rPr lang="en-US" sz="2847" dirty="0">
                <a:solidFill>
                  <a:srgbClr val="303030"/>
                </a:solidFill>
                <a:latin typeface="+mj-lt"/>
                <a:ea typeface="Codec Pro"/>
                <a:cs typeface="Codec Pro"/>
                <a:sym typeface="Codec Pro"/>
              </a:rPr>
              <a:t>.</a:t>
            </a:r>
          </a:p>
        </p:txBody>
      </p:sp>
      <p:sp>
        <p:nvSpPr>
          <p:cNvPr id="17" name="TextBox 17"/>
          <p:cNvSpPr txBox="1"/>
          <p:nvPr/>
        </p:nvSpPr>
        <p:spPr>
          <a:xfrm>
            <a:off x="11683794" y="6159794"/>
            <a:ext cx="5160061" cy="2895334"/>
          </a:xfrm>
          <a:prstGeom prst="rect">
            <a:avLst/>
          </a:prstGeom>
        </p:spPr>
        <p:txBody>
          <a:bodyPr lIns="0" tIns="0" rIns="0" bIns="0" rtlCol="0" anchor="t">
            <a:spAutoFit/>
          </a:bodyPr>
          <a:lstStyle/>
          <a:p>
            <a:pPr marL="614701" lvl="1" indent="-307351" algn="l">
              <a:lnSpc>
                <a:spcPts val="2818"/>
              </a:lnSpc>
              <a:buFont typeface="Arial"/>
              <a:buChar char="•"/>
            </a:pPr>
            <a:r>
              <a:rPr lang="en-US" sz="2847" dirty="0">
                <a:solidFill>
                  <a:srgbClr val="303030"/>
                </a:solidFill>
                <a:latin typeface="+mj-lt"/>
                <a:ea typeface="Codec Pro"/>
                <a:cs typeface="Codec Pro"/>
                <a:sym typeface="Codec Pro"/>
              </a:rPr>
              <a:t>Assurer </a:t>
            </a:r>
            <a:r>
              <a:rPr lang="en-US" sz="2847" dirty="0" err="1">
                <a:solidFill>
                  <a:srgbClr val="303030"/>
                </a:solidFill>
                <a:latin typeface="+mj-lt"/>
                <a:ea typeface="Codec Pro"/>
                <a:cs typeface="Codec Pro"/>
                <a:sym typeface="Codec Pro"/>
              </a:rPr>
              <a:t>une</a:t>
            </a:r>
            <a:r>
              <a:rPr lang="en-US" sz="2847" dirty="0">
                <a:solidFill>
                  <a:srgbClr val="303030"/>
                </a:solidFill>
                <a:latin typeface="+mj-lt"/>
                <a:ea typeface="Codec Pro"/>
                <a:cs typeface="Codec Pro"/>
                <a:sym typeface="Codec Pro"/>
              </a:rPr>
              <a:t> gestion </a:t>
            </a:r>
            <a:r>
              <a:rPr lang="en-US" sz="2847" dirty="0" err="1">
                <a:solidFill>
                  <a:srgbClr val="303030"/>
                </a:solidFill>
                <a:latin typeface="+mj-lt"/>
                <a:ea typeface="Codec Pro"/>
                <a:cs typeface="Codec Pro"/>
                <a:sym typeface="Codec Pro"/>
              </a:rPr>
              <a:t>sécurisée</a:t>
            </a:r>
            <a:r>
              <a:rPr lang="en-US" sz="2847" dirty="0">
                <a:solidFill>
                  <a:srgbClr val="303030"/>
                </a:solidFill>
                <a:latin typeface="+mj-lt"/>
                <a:ea typeface="Codec Pro"/>
                <a:cs typeface="Codec Pro"/>
                <a:sym typeface="Codec Pro"/>
              </a:rPr>
              <a:t> des </a:t>
            </a:r>
            <a:r>
              <a:rPr lang="en-US" sz="2847" dirty="0" err="1">
                <a:solidFill>
                  <a:srgbClr val="303030"/>
                </a:solidFill>
                <a:latin typeface="+mj-lt"/>
                <a:ea typeface="Codec Pro"/>
                <a:cs typeface="Codec Pro"/>
                <a:sym typeface="Codec Pro"/>
              </a:rPr>
              <a:t>utilisateurs</a:t>
            </a:r>
            <a:r>
              <a:rPr lang="en-US" sz="2847" dirty="0">
                <a:solidFill>
                  <a:srgbClr val="303030"/>
                </a:solidFill>
                <a:latin typeface="+mj-lt"/>
                <a:ea typeface="Codec Pro"/>
                <a:cs typeface="Codec Pro"/>
                <a:sym typeface="Codec Pro"/>
              </a:rPr>
              <a:t> et des données.</a:t>
            </a:r>
          </a:p>
          <a:p>
            <a:pPr marL="614701" lvl="1" indent="-307351" algn="l">
              <a:lnSpc>
                <a:spcPts val="2818"/>
              </a:lnSpc>
              <a:buFont typeface="Arial"/>
              <a:buChar char="•"/>
            </a:pPr>
            <a:r>
              <a:rPr lang="en-US" sz="2847" dirty="0" err="1">
                <a:solidFill>
                  <a:srgbClr val="303030"/>
                </a:solidFill>
                <a:latin typeface="+mj-lt"/>
                <a:ea typeface="Codec Pro"/>
                <a:cs typeface="Codec Pro"/>
                <a:sym typeface="Codec Pro"/>
              </a:rPr>
              <a:t>Mettre</a:t>
            </a:r>
            <a:r>
              <a:rPr lang="en-US" sz="2847" dirty="0">
                <a:solidFill>
                  <a:srgbClr val="303030"/>
                </a:solidFill>
                <a:latin typeface="+mj-lt"/>
                <a:ea typeface="Codec Pro"/>
                <a:cs typeface="Codec Pro"/>
                <a:sym typeface="Codec Pro"/>
              </a:rPr>
              <a:t> </a:t>
            </a:r>
            <a:r>
              <a:rPr lang="en-US" sz="2847" dirty="0" err="1">
                <a:solidFill>
                  <a:srgbClr val="303030"/>
                </a:solidFill>
                <a:latin typeface="+mj-lt"/>
                <a:ea typeface="Codec Pro"/>
                <a:cs typeface="Codec Pro"/>
                <a:sym typeface="Codec Pro"/>
              </a:rPr>
              <a:t>en</a:t>
            </a:r>
            <a:r>
              <a:rPr lang="en-US" sz="2847" dirty="0">
                <a:solidFill>
                  <a:srgbClr val="303030"/>
                </a:solidFill>
                <a:latin typeface="+mj-lt"/>
                <a:ea typeface="Codec Pro"/>
                <a:cs typeface="Codec Pro"/>
                <a:sym typeface="Codec Pro"/>
              </a:rPr>
              <a:t> pratique les </a:t>
            </a:r>
            <a:r>
              <a:rPr lang="en-US" sz="2847" dirty="0" err="1">
                <a:solidFill>
                  <a:srgbClr val="303030"/>
                </a:solidFill>
                <a:latin typeface="+mj-lt"/>
                <a:ea typeface="Codec Pro"/>
                <a:cs typeface="Codec Pro"/>
                <a:sym typeface="Codec Pro"/>
              </a:rPr>
              <a:t>connaissances</a:t>
            </a:r>
            <a:r>
              <a:rPr lang="en-US" sz="2847" dirty="0">
                <a:solidFill>
                  <a:srgbClr val="303030"/>
                </a:solidFill>
                <a:latin typeface="+mj-lt"/>
                <a:ea typeface="Codec Pro"/>
                <a:cs typeface="Codec Pro"/>
                <a:sym typeface="Codec Pro"/>
              </a:rPr>
              <a:t> </a:t>
            </a:r>
            <a:r>
              <a:rPr lang="en-US" sz="2847" dirty="0" err="1">
                <a:solidFill>
                  <a:srgbClr val="303030"/>
                </a:solidFill>
                <a:latin typeface="+mj-lt"/>
                <a:ea typeface="Codec Pro"/>
                <a:cs typeface="Codec Pro"/>
                <a:sym typeface="Codec Pro"/>
              </a:rPr>
              <a:t>en</a:t>
            </a:r>
            <a:r>
              <a:rPr lang="en-US" sz="2847" dirty="0">
                <a:solidFill>
                  <a:srgbClr val="303030"/>
                </a:solidFill>
                <a:latin typeface="+mj-lt"/>
                <a:ea typeface="Codec Pro"/>
                <a:cs typeface="Codec Pro"/>
                <a:sym typeface="Codec Pro"/>
              </a:rPr>
              <a:t> </a:t>
            </a:r>
            <a:r>
              <a:rPr lang="en-US" sz="2847" dirty="0" err="1">
                <a:solidFill>
                  <a:srgbClr val="303030"/>
                </a:solidFill>
                <a:latin typeface="+mj-lt"/>
                <a:ea typeface="Codec Pro"/>
                <a:cs typeface="Codec Pro"/>
                <a:sym typeface="Codec Pro"/>
              </a:rPr>
              <a:t>développement</a:t>
            </a:r>
            <a:r>
              <a:rPr lang="en-US" sz="2847" dirty="0">
                <a:solidFill>
                  <a:srgbClr val="303030"/>
                </a:solidFill>
                <a:latin typeface="+mj-lt"/>
                <a:ea typeface="Codec Pro"/>
                <a:cs typeface="Codec Pro"/>
                <a:sym typeface="Codec Pro"/>
              </a:rPr>
              <a:t> web avec Django et </a:t>
            </a:r>
            <a:r>
              <a:rPr lang="en-US" sz="2847" dirty="0" err="1">
                <a:solidFill>
                  <a:srgbClr val="303030"/>
                </a:solidFill>
                <a:latin typeface="+mj-lt"/>
                <a:ea typeface="Codec Pro"/>
                <a:cs typeface="Codec Pro"/>
                <a:sym typeface="Codec Pro"/>
              </a:rPr>
              <a:t>en</a:t>
            </a:r>
            <a:r>
              <a:rPr lang="en-US" sz="2847" dirty="0">
                <a:solidFill>
                  <a:srgbClr val="303030"/>
                </a:solidFill>
                <a:latin typeface="+mj-lt"/>
                <a:ea typeface="Codec Pro"/>
                <a:cs typeface="Codec Pro"/>
                <a:sym typeface="Codec Pro"/>
              </a:rPr>
              <a:t> gestion de bases de données.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334536" y="5053190"/>
            <a:ext cx="3228002" cy="3733998"/>
            <a:chOff x="0" y="0"/>
            <a:chExt cx="833654" cy="964331"/>
          </a:xfrm>
        </p:grpSpPr>
        <p:sp>
          <p:nvSpPr>
            <p:cNvPr id="3" name="Freeform 3"/>
            <p:cNvSpPr/>
            <p:nvPr/>
          </p:nvSpPr>
          <p:spPr>
            <a:xfrm>
              <a:off x="0" y="0"/>
              <a:ext cx="833654" cy="964331"/>
            </a:xfrm>
            <a:custGeom>
              <a:avLst/>
              <a:gdLst/>
              <a:ahLst/>
              <a:cxnLst/>
              <a:rect l="l" t="t" r="r" b="b"/>
              <a:pathLst>
                <a:path w="833654" h="964331">
                  <a:moveTo>
                    <a:pt x="76748" y="0"/>
                  </a:moveTo>
                  <a:lnTo>
                    <a:pt x="756907" y="0"/>
                  </a:lnTo>
                  <a:cubicBezTo>
                    <a:pt x="777261" y="0"/>
                    <a:pt x="796782" y="8086"/>
                    <a:pt x="811175" y="22479"/>
                  </a:cubicBezTo>
                  <a:cubicBezTo>
                    <a:pt x="825568" y="36872"/>
                    <a:pt x="833654" y="56393"/>
                    <a:pt x="833654" y="76748"/>
                  </a:cubicBezTo>
                  <a:lnTo>
                    <a:pt x="833654" y="887584"/>
                  </a:lnTo>
                  <a:cubicBezTo>
                    <a:pt x="833654" y="929970"/>
                    <a:pt x="799293" y="964331"/>
                    <a:pt x="756907" y="964331"/>
                  </a:cubicBezTo>
                  <a:lnTo>
                    <a:pt x="76748" y="964331"/>
                  </a:lnTo>
                  <a:cubicBezTo>
                    <a:pt x="34361" y="964331"/>
                    <a:pt x="0" y="929970"/>
                    <a:pt x="0" y="887584"/>
                  </a:cubicBezTo>
                  <a:lnTo>
                    <a:pt x="0" y="76748"/>
                  </a:lnTo>
                  <a:cubicBezTo>
                    <a:pt x="0" y="34361"/>
                    <a:pt x="34361" y="0"/>
                    <a:pt x="76748" y="0"/>
                  </a:cubicBezTo>
                  <a:close/>
                </a:path>
              </a:pathLst>
            </a:custGeom>
            <a:solidFill>
              <a:srgbClr val="F8F5F1"/>
            </a:solidFill>
          </p:spPr>
          <p:txBody>
            <a:bodyPr/>
            <a:lstStyle/>
            <a:p>
              <a:endParaRPr lang="fr-MA"/>
            </a:p>
          </p:txBody>
        </p:sp>
        <p:sp>
          <p:nvSpPr>
            <p:cNvPr id="4" name="TextBox 4"/>
            <p:cNvSpPr txBox="1"/>
            <p:nvPr/>
          </p:nvSpPr>
          <p:spPr>
            <a:xfrm>
              <a:off x="0" y="-28575"/>
              <a:ext cx="833654" cy="992906"/>
            </a:xfrm>
            <a:prstGeom prst="rect">
              <a:avLst/>
            </a:prstGeom>
          </p:spPr>
          <p:txBody>
            <a:bodyPr lIns="98748" tIns="98748" rIns="98748" bIns="98748" rtlCol="0" anchor="ctr"/>
            <a:lstStyle/>
            <a:p>
              <a:pPr algn="ctr">
                <a:lnSpc>
                  <a:spcPts val="1639"/>
                </a:lnSpc>
              </a:pPr>
              <a:endParaRPr/>
            </a:p>
          </p:txBody>
        </p:sp>
      </p:grpSp>
      <p:grpSp>
        <p:nvGrpSpPr>
          <p:cNvPr id="5" name="Group 5"/>
          <p:cNvGrpSpPr/>
          <p:nvPr/>
        </p:nvGrpSpPr>
        <p:grpSpPr>
          <a:xfrm>
            <a:off x="13332653" y="3176335"/>
            <a:ext cx="3231768" cy="2089859"/>
            <a:chOff x="0" y="0"/>
            <a:chExt cx="4309024" cy="2786479"/>
          </a:xfrm>
        </p:grpSpPr>
        <p:grpSp>
          <p:nvGrpSpPr>
            <p:cNvPr id="6" name="Group 6"/>
            <p:cNvGrpSpPr/>
            <p:nvPr/>
          </p:nvGrpSpPr>
          <p:grpSpPr>
            <a:xfrm>
              <a:off x="0" y="0"/>
              <a:ext cx="4306513" cy="2761079"/>
              <a:chOff x="0" y="0"/>
              <a:chExt cx="850669" cy="545398"/>
            </a:xfrm>
          </p:grpSpPr>
          <p:sp>
            <p:nvSpPr>
              <p:cNvPr id="7" name="Freeform 7"/>
              <p:cNvSpPr/>
              <p:nvPr/>
            </p:nvSpPr>
            <p:spPr>
              <a:xfrm>
                <a:off x="0" y="0"/>
                <a:ext cx="850669" cy="545398"/>
              </a:xfrm>
              <a:custGeom>
                <a:avLst/>
                <a:gdLst/>
                <a:ahLst/>
                <a:cxnLst/>
                <a:rect l="l" t="t" r="r" b="b"/>
                <a:pathLst>
                  <a:path w="850669" h="545398">
                    <a:moveTo>
                      <a:pt x="23970" y="0"/>
                    </a:moveTo>
                    <a:lnTo>
                      <a:pt x="826700" y="0"/>
                    </a:lnTo>
                    <a:cubicBezTo>
                      <a:pt x="839938" y="0"/>
                      <a:pt x="850669" y="10732"/>
                      <a:pt x="850669" y="23970"/>
                    </a:cubicBezTo>
                    <a:lnTo>
                      <a:pt x="850669" y="521429"/>
                    </a:lnTo>
                    <a:cubicBezTo>
                      <a:pt x="850669" y="527786"/>
                      <a:pt x="848144" y="533883"/>
                      <a:pt x="843649" y="538378"/>
                    </a:cubicBezTo>
                    <a:cubicBezTo>
                      <a:pt x="839154" y="542873"/>
                      <a:pt x="833057" y="545398"/>
                      <a:pt x="826700" y="545398"/>
                    </a:cubicBezTo>
                    <a:lnTo>
                      <a:pt x="23970" y="545398"/>
                    </a:lnTo>
                    <a:cubicBezTo>
                      <a:pt x="10732" y="545398"/>
                      <a:pt x="0" y="534667"/>
                      <a:pt x="0" y="521429"/>
                    </a:cubicBezTo>
                    <a:lnTo>
                      <a:pt x="0" y="23970"/>
                    </a:lnTo>
                    <a:cubicBezTo>
                      <a:pt x="0" y="10732"/>
                      <a:pt x="10732" y="0"/>
                      <a:pt x="23970" y="0"/>
                    </a:cubicBezTo>
                    <a:close/>
                  </a:path>
                </a:pathLst>
              </a:custGeom>
              <a:solidFill>
                <a:srgbClr val="214159"/>
              </a:solidFill>
            </p:spPr>
            <p:txBody>
              <a:bodyPr/>
              <a:lstStyle/>
              <a:p>
                <a:endParaRPr lang="fr-MA"/>
              </a:p>
            </p:txBody>
          </p:sp>
          <p:sp>
            <p:nvSpPr>
              <p:cNvPr id="8" name="TextBox 8"/>
              <p:cNvSpPr txBox="1"/>
              <p:nvPr/>
            </p:nvSpPr>
            <p:spPr>
              <a:xfrm>
                <a:off x="0" y="-38100"/>
                <a:ext cx="850669" cy="583498"/>
              </a:xfrm>
              <a:prstGeom prst="rect">
                <a:avLst/>
              </a:prstGeom>
            </p:spPr>
            <p:txBody>
              <a:bodyPr lIns="50800" tIns="50800" rIns="50800" bIns="50800" rtlCol="0" anchor="ctr"/>
              <a:lstStyle/>
              <a:p>
                <a:pPr algn="ctr">
                  <a:lnSpc>
                    <a:spcPts val="2799"/>
                  </a:lnSpc>
                  <a:spcBef>
                    <a:spcPct val="0"/>
                  </a:spcBef>
                </a:pPr>
                <a:endParaRPr/>
              </a:p>
            </p:txBody>
          </p:sp>
        </p:grpSp>
        <p:grpSp>
          <p:nvGrpSpPr>
            <p:cNvPr id="9" name="Group 9"/>
            <p:cNvGrpSpPr/>
            <p:nvPr/>
          </p:nvGrpSpPr>
          <p:grpSpPr>
            <a:xfrm>
              <a:off x="2510" y="1496143"/>
              <a:ext cx="4306513" cy="1290336"/>
              <a:chOff x="0" y="0"/>
              <a:chExt cx="850669" cy="254881"/>
            </a:xfrm>
          </p:grpSpPr>
          <p:sp>
            <p:nvSpPr>
              <p:cNvPr id="10" name="Freeform 10"/>
              <p:cNvSpPr/>
              <p:nvPr/>
            </p:nvSpPr>
            <p:spPr>
              <a:xfrm>
                <a:off x="0" y="0"/>
                <a:ext cx="850669" cy="254881"/>
              </a:xfrm>
              <a:custGeom>
                <a:avLst/>
                <a:gdLst/>
                <a:ahLst/>
                <a:cxnLst/>
                <a:rect l="l" t="t" r="r" b="b"/>
                <a:pathLst>
                  <a:path w="850669" h="254881">
                    <a:moveTo>
                      <a:pt x="0" y="0"/>
                    </a:moveTo>
                    <a:lnTo>
                      <a:pt x="850669" y="0"/>
                    </a:lnTo>
                    <a:lnTo>
                      <a:pt x="850669" y="254881"/>
                    </a:lnTo>
                    <a:lnTo>
                      <a:pt x="0" y="254881"/>
                    </a:lnTo>
                    <a:close/>
                  </a:path>
                </a:pathLst>
              </a:custGeom>
              <a:solidFill>
                <a:srgbClr val="214159"/>
              </a:solidFill>
            </p:spPr>
            <p:txBody>
              <a:bodyPr/>
              <a:lstStyle/>
              <a:p>
                <a:endParaRPr lang="fr-MA"/>
              </a:p>
            </p:txBody>
          </p:sp>
          <p:sp>
            <p:nvSpPr>
              <p:cNvPr id="11" name="TextBox 11"/>
              <p:cNvSpPr txBox="1"/>
              <p:nvPr/>
            </p:nvSpPr>
            <p:spPr>
              <a:xfrm>
                <a:off x="0" y="-38100"/>
                <a:ext cx="850669" cy="292981"/>
              </a:xfrm>
              <a:prstGeom prst="rect">
                <a:avLst/>
              </a:prstGeom>
            </p:spPr>
            <p:txBody>
              <a:bodyPr lIns="50800" tIns="50800" rIns="50800" bIns="50800" rtlCol="0" anchor="ctr"/>
              <a:lstStyle/>
              <a:p>
                <a:pPr algn="ctr">
                  <a:lnSpc>
                    <a:spcPts val="2799"/>
                  </a:lnSpc>
                  <a:spcBef>
                    <a:spcPct val="0"/>
                  </a:spcBef>
                </a:pPr>
                <a:endParaRPr/>
              </a:p>
            </p:txBody>
          </p:sp>
        </p:grpSp>
      </p:grpSp>
      <p:grpSp>
        <p:nvGrpSpPr>
          <p:cNvPr id="12" name="Group 12"/>
          <p:cNvGrpSpPr/>
          <p:nvPr/>
        </p:nvGrpSpPr>
        <p:grpSpPr>
          <a:xfrm>
            <a:off x="13375589" y="3176335"/>
            <a:ext cx="3229885" cy="5610852"/>
            <a:chOff x="0" y="0"/>
            <a:chExt cx="1229579" cy="2135985"/>
          </a:xfrm>
        </p:grpSpPr>
        <p:sp>
          <p:nvSpPr>
            <p:cNvPr id="13" name="Freeform 13"/>
            <p:cNvSpPr/>
            <p:nvPr/>
          </p:nvSpPr>
          <p:spPr>
            <a:xfrm>
              <a:off x="0" y="0"/>
              <a:ext cx="1229579" cy="2135985"/>
            </a:xfrm>
            <a:custGeom>
              <a:avLst/>
              <a:gdLst/>
              <a:ahLst/>
              <a:cxnLst/>
              <a:rect l="l" t="t" r="r" b="b"/>
              <a:pathLst>
                <a:path w="1229579" h="2135985">
                  <a:moveTo>
                    <a:pt x="23970" y="0"/>
                  </a:moveTo>
                  <a:lnTo>
                    <a:pt x="1205609" y="0"/>
                  </a:lnTo>
                  <a:cubicBezTo>
                    <a:pt x="1218847" y="0"/>
                    <a:pt x="1229579" y="10732"/>
                    <a:pt x="1229579" y="23970"/>
                  </a:cubicBezTo>
                  <a:lnTo>
                    <a:pt x="1229579" y="2112015"/>
                  </a:lnTo>
                  <a:cubicBezTo>
                    <a:pt x="1229579" y="2125253"/>
                    <a:pt x="1218847" y="2135985"/>
                    <a:pt x="1205609" y="2135985"/>
                  </a:cubicBezTo>
                  <a:lnTo>
                    <a:pt x="23970" y="2135985"/>
                  </a:lnTo>
                  <a:cubicBezTo>
                    <a:pt x="10732" y="2135985"/>
                    <a:pt x="0" y="2125253"/>
                    <a:pt x="0" y="2112015"/>
                  </a:cubicBezTo>
                  <a:lnTo>
                    <a:pt x="0" y="23970"/>
                  </a:lnTo>
                  <a:cubicBezTo>
                    <a:pt x="0" y="10732"/>
                    <a:pt x="10732" y="0"/>
                    <a:pt x="23970" y="0"/>
                  </a:cubicBezTo>
                  <a:close/>
                </a:path>
              </a:pathLst>
            </a:custGeom>
            <a:ln w="19050" cap="sq">
              <a:solidFill>
                <a:srgbClr val="30292F"/>
              </a:solidFill>
              <a:prstDash val="solid"/>
              <a:miter/>
            </a:ln>
          </p:spPr>
          <p:txBody>
            <a:bodyPr/>
            <a:lstStyle/>
            <a:p>
              <a:endParaRPr lang="fr-MA"/>
            </a:p>
          </p:txBody>
        </p:sp>
        <p:sp>
          <p:nvSpPr>
            <p:cNvPr id="14" name="TextBox 14"/>
            <p:cNvSpPr txBox="1"/>
            <p:nvPr/>
          </p:nvSpPr>
          <p:spPr>
            <a:xfrm>
              <a:off x="0" y="-38100"/>
              <a:ext cx="1229579" cy="2174085"/>
            </a:xfrm>
            <a:prstGeom prst="rect">
              <a:avLst/>
            </a:prstGeom>
          </p:spPr>
          <p:txBody>
            <a:bodyPr lIns="33859" tIns="33859" rIns="33859" bIns="33859" rtlCol="0" anchor="ctr"/>
            <a:lstStyle/>
            <a:p>
              <a:pPr algn="ctr">
                <a:lnSpc>
                  <a:spcPts val="2775"/>
                </a:lnSpc>
              </a:pPr>
              <a:endParaRPr/>
            </a:p>
          </p:txBody>
        </p:sp>
      </p:grpSp>
      <p:grpSp>
        <p:nvGrpSpPr>
          <p:cNvPr id="15" name="Group 15"/>
          <p:cNvGrpSpPr/>
          <p:nvPr/>
        </p:nvGrpSpPr>
        <p:grpSpPr>
          <a:xfrm>
            <a:off x="9465472" y="5053190"/>
            <a:ext cx="3228002" cy="3733998"/>
            <a:chOff x="0" y="0"/>
            <a:chExt cx="833654" cy="964331"/>
          </a:xfrm>
        </p:grpSpPr>
        <p:sp>
          <p:nvSpPr>
            <p:cNvPr id="16" name="Freeform 16"/>
            <p:cNvSpPr/>
            <p:nvPr/>
          </p:nvSpPr>
          <p:spPr>
            <a:xfrm>
              <a:off x="0" y="0"/>
              <a:ext cx="833654" cy="964331"/>
            </a:xfrm>
            <a:custGeom>
              <a:avLst/>
              <a:gdLst/>
              <a:ahLst/>
              <a:cxnLst/>
              <a:rect l="l" t="t" r="r" b="b"/>
              <a:pathLst>
                <a:path w="833654" h="964331">
                  <a:moveTo>
                    <a:pt x="76748" y="0"/>
                  </a:moveTo>
                  <a:lnTo>
                    <a:pt x="756907" y="0"/>
                  </a:lnTo>
                  <a:cubicBezTo>
                    <a:pt x="777261" y="0"/>
                    <a:pt x="796782" y="8086"/>
                    <a:pt x="811175" y="22479"/>
                  </a:cubicBezTo>
                  <a:cubicBezTo>
                    <a:pt x="825568" y="36872"/>
                    <a:pt x="833654" y="56393"/>
                    <a:pt x="833654" y="76748"/>
                  </a:cubicBezTo>
                  <a:lnTo>
                    <a:pt x="833654" y="887584"/>
                  </a:lnTo>
                  <a:cubicBezTo>
                    <a:pt x="833654" y="929970"/>
                    <a:pt x="799293" y="964331"/>
                    <a:pt x="756907" y="964331"/>
                  </a:cubicBezTo>
                  <a:lnTo>
                    <a:pt x="76748" y="964331"/>
                  </a:lnTo>
                  <a:cubicBezTo>
                    <a:pt x="34361" y="964331"/>
                    <a:pt x="0" y="929970"/>
                    <a:pt x="0" y="887584"/>
                  </a:cubicBezTo>
                  <a:lnTo>
                    <a:pt x="0" y="76748"/>
                  </a:lnTo>
                  <a:cubicBezTo>
                    <a:pt x="0" y="34361"/>
                    <a:pt x="34361" y="0"/>
                    <a:pt x="76748" y="0"/>
                  </a:cubicBezTo>
                  <a:close/>
                </a:path>
              </a:pathLst>
            </a:custGeom>
            <a:solidFill>
              <a:srgbClr val="F8F5F1"/>
            </a:solidFill>
          </p:spPr>
          <p:txBody>
            <a:bodyPr/>
            <a:lstStyle/>
            <a:p>
              <a:endParaRPr lang="fr-MA"/>
            </a:p>
          </p:txBody>
        </p:sp>
        <p:sp>
          <p:nvSpPr>
            <p:cNvPr id="17" name="TextBox 17"/>
            <p:cNvSpPr txBox="1"/>
            <p:nvPr/>
          </p:nvSpPr>
          <p:spPr>
            <a:xfrm>
              <a:off x="0" y="-28575"/>
              <a:ext cx="833654" cy="992906"/>
            </a:xfrm>
            <a:prstGeom prst="rect">
              <a:avLst/>
            </a:prstGeom>
          </p:spPr>
          <p:txBody>
            <a:bodyPr lIns="98748" tIns="98748" rIns="98748" bIns="98748" rtlCol="0" anchor="ctr"/>
            <a:lstStyle/>
            <a:p>
              <a:pPr algn="ctr">
                <a:lnSpc>
                  <a:spcPts val="1639"/>
                </a:lnSpc>
              </a:pPr>
              <a:endParaRPr/>
            </a:p>
          </p:txBody>
        </p:sp>
      </p:grpSp>
      <p:grpSp>
        <p:nvGrpSpPr>
          <p:cNvPr id="18" name="Group 18"/>
          <p:cNvGrpSpPr/>
          <p:nvPr/>
        </p:nvGrpSpPr>
        <p:grpSpPr>
          <a:xfrm>
            <a:off x="9463589" y="3176335"/>
            <a:ext cx="3231768" cy="2089859"/>
            <a:chOff x="0" y="0"/>
            <a:chExt cx="4309024" cy="2786479"/>
          </a:xfrm>
        </p:grpSpPr>
        <p:grpSp>
          <p:nvGrpSpPr>
            <p:cNvPr id="19" name="Group 19"/>
            <p:cNvGrpSpPr/>
            <p:nvPr/>
          </p:nvGrpSpPr>
          <p:grpSpPr>
            <a:xfrm>
              <a:off x="0" y="0"/>
              <a:ext cx="4306513" cy="2761079"/>
              <a:chOff x="0" y="0"/>
              <a:chExt cx="850669" cy="545398"/>
            </a:xfrm>
          </p:grpSpPr>
          <p:sp>
            <p:nvSpPr>
              <p:cNvPr id="20" name="Freeform 20"/>
              <p:cNvSpPr/>
              <p:nvPr/>
            </p:nvSpPr>
            <p:spPr>
              <a:xfrm>
                <a:off x="0" y="0"/>
                <a:ext cx="850669" cy="545398"/>
              </a:xfrm>
              <a:custGeom>
                <a:avLst/>
                <a:gdLst/>
                <a:ahLst/>
                <a:cxnLst/>
                <a:rect l="l" t="t" r="r" b="b"/>
                <a:pathLst>
                  <a:path w="850669" h="545398">
                    <a:moveTo>
                      <a:pt x="23970" y="0"/>
                    </a:moveTo>
                    <a:lnTo>
                      <a:pt x="826700" y="0"/>
                    </a:lnTo>
                    <a:cubicBezTo>
                      <a:pt x="839938" y="0"/>
                      <a:pt x="850669" y="10732"/>
                      <a:pt x="850669" y="23970"/>
                    </a:cubicBezTo>
                    <a:lnTo>
                      <a:pt x="850669" y="521429"/>
                    </a:lnTo>
                    <a:cubicBezTo>
                      <a:pt x="850669" y="527786"/>
                      <a:pt x="848144" y="533883"/>
                      <a:pt x="843649" y="538378"/>
                    </a:cubicBezTo>
                    <a:cubicBezTo>
                      <a:pt x="839154" y="542873"/>
                      <a:pt x="833057" y="545398"/>
                      <a:pt x="826700" y="545398"/>
                    </a:cubicBezTo>
                    <a:lnTo>
                      <a:pt x="23970" y="545398"/>
                    </a:lnTo>
                    <a:cubicBezTo>
                      <a:pt x="10732" y="545398"/>
                      <a:pt x="0" y="534667"/>
                      <a:pt x="0" y="521429"/>
                    </a:cubicBezTo>
                    <a:lnTo>
                      <a:pt x="0" y="23970"/>
                    </a:lnTo>
                    <a:cubicBezTo>
                      <a:pt x="0" y="10732"/>
                      <a:pt x="10732" y="0"/>
                      <a:pt x="23970" y="0"/>
                    </a:cubicBezTo>
                    <a:close/>
                  </a:path>
                </a:pathLst>
              </a:custGeom>
              <a:solidFill>
                <a:srgbClr val="376C95"/>
              </a:solidFill>
            </p:spPr>
            <p:txBody>
              <a:bodyPr/>
              <a:lstStyle/>
              <a:p>
                <a:endParaRPr lang="fr-MA"/>
              </a:p>
            </p:txBody>
          </p:sp>
          <p:sp>
            <p:nvSpPr>
              <p:cNvPr id="21" name="TextBox 21"/>
              <p:cNvSpPr txBox="1"/>
              <p:nvPr/>
            </p:nvSpPr>
            <p:spPr>
              <a:xfrm>
                <a:off x="0" y="-38100"/>
                <a:ext cx="850669" cy="583498"/>
              </a:xfrm>
              <a:prstGeom prst="rect">
                <a:avLst/>
              </a:prstGeom>
            </p:spPr>
            <p:txBody>
              <a:bodyPr lIns="50800" tIns="50800" rIns="50800" bIns="50800" rtlCol="0" anchor="ctr"/>
              <a:lstStyle/>
              <a:p>
                <a:pPr algn="ctr">
                  <a:lnSpc>
                    <a:spcPts val="2799"/>
                  </a:lnSpc>
                  <a:spcBef>
                    <a:spcPct val="0"/>
                  </a:spcBef>
                </a:pPr>
                <a:endParaRPr/>
              </a:p>
            </p:txBody>
          </p:sp>
        </p:grpSp>
        <p:grpSp>
          <p:nvGrpSpPr>
            <p:cNvPr id="22" name="Group 22"/>
            <p:cNvGrpSpPr/>
            <p:nvPr/>
          </p:nvGrpSpPr>
          <p:grpSpPr>
            <a:xfrm>
              <a:off x="2510" y="1496143"/>
              <a:ext cx="4306513" cy="1290336"/>
              <a:chOff x="0" y="0"/>
              <a:chExt cx="850669" cy="254881"/>
            </a:xfrm>
          </p:grpSpPr>
          <p:sp>
            <p:nvSpPr>
              <p:cNvPr id="23" name="Freeform 23"/>
              <p:cNvSpPr/>
              <p:nvPr/>
            </p:nvSpPr>
            <p:spPr>
              <a:xfrm>
                <a:off x="0" y="0"/>
                <a:ext cx="850669" cy="254881"/>
              </a:xfrm>
              <a:custGeom>
                <a:avLst/>
                <a:gdLst/>
                <a:ahLst/>
                <a:cxnLst/>
                <a:rect l="l" t="t" r="r" b="b"/>
                <a:pathLst>
                  <a:path w="850669" h="254881">
                    <a:moveTo>
                      <a:pt x="0" y="0"/>
                    </a:moveTo>
                    <a:lnTo>
                      <a:pt x="850669" y="0"/>
                    </a:lnTo>
                    <a:lnTo>
                      <a:pt x="850669" y="254881"/>
                    </a:lnTo>
                    <a:lnTo>
                      <a:pt x="0" y="254881"/>
                    </a:lnTo>
                    <a:close/>
                  </a:path>
                </a:pathLst>
              </a:custGeom>
              <a:solidFill>
                <a:srgbClr val="376C95"/>
              </a:solidFill>
            </p:spPr>
            <p:txBody>
              <a:bodyPr/>
              <a:lstStyle/>
              <a:p>
                <a:endParaRPr lang="fr-MA"/>
              </a:p>
            </p:txBody>
          </p:sp>
          <p:sp>
            <p:nvSpPr>
              <p:cNvPr id="24" name="TextBox 24"/>
              <p:cNvSpPr txBox="1"/>
              <p:nvPr/>
            </p:nvSpPr>
            <p:spPr>
              <a:xfrm>
                <a:off x="0" y="-38100"/>
                <a:ext cx="850669" cy="292981"/>
              </a:xfrm>
              <a:prstGeom prst="rect">
                <a:avLst/>
              </a:prstGeom>
            </p:spPr>
            <p:txBody>
              <a:bodyPr lIns="50800" tIns="50800" rIns="50800" bIns="50800" rtlCol="0" anchor="ctr"/>
              <a:lstStyle/>
              <a:p>
                <a:pPr algn="ctr">
                  <a:lnSpc>
                    <a:spcPts val="2799"/>
                  </a:lnSpc>
                  <a:spcBef>
                    <a:spcPct val="0"/>
                  </a:spcBef>
                </a:pPr>
                <a:endParaRPr/>
              </a:p>
            </p:txBody>
          </p:sp>
        </p:grpSp>
      </p:grpSp>
      <p:grpSp>
        <p:nvGrpSpPr>
          <p:cNvPr id="25" name="Group 25"/>
          <p:cNvGrpSpPr/>
          <p:nvPr/>
        </p:nvGrpSpPr>
        <p:grpSpPr>
          <a:xfrm>
            <a:off x="9463589" y="3176335"/>
            <a:ext cx="3229885" cy="5610852"/>
            <a:chOff x="0" y="0"/>
            <a:chExt cx="1229579" cy="2135985"/>
          </a:xfrm>
        </p:grpSpPr>
        <p:sp>
          <p:nvSpPr>
            <p:cNvPr id="26" name="Freeform 26"/>
            <p:cNvSpPr/>
            <p:nvPr/>
          </p:nvSpPr>
          <p:spPr>
            <a:xfrm>
              <a:off x="0" y="0"/>
              <a:ext cx="1229579" cy="2135985"/>
            </a:xfrm>
            <a:custGeom>
              <a:avLst/>
              <a:gdLst/>
              <a:ahLst/>
              <a:cxnLst/>
              <a:rect l="l" t="t" r="r" b="b"/>
              <a:pathLst>
                <a:path w="1229579" h="2135985">
                  <a:moveTo>
                    <a:pt x="23970" y="0"/>
                  </a:moveTo>
                  <a:lnTo>
                    <a:pt x="1205609" y="0"/>
                  </a:lnTo>
                  <a:cubicBezTo>
                    <a:pt x="1218847" y="0"/>
                    <a:pt x="1229579" y="10732"/>
                    <a:pt x="1229579" y="23970"/>
                  </a:cubicBezTo>
                  <a:lnTo>
                    <a:pt x="1229579" y="2112015"/>
                  </a:lnTo>
                  <a:cubicBezTo>
                    <a:pt x="1229579" y="2125253"/>
                    <a:pt x="1218847" y="2135985"/>
                    <a:pt x="1205609" y="2135985"/>
                  </a:cubicBezTo>
                  <a:lnTo>
                    <a:pt x="23970" y="2135985"/>
                  </a:lnTo>
                  <a:cubicBezTo>
                    <a:pt x="10732" y="2135985"/>
                    <a:pt x="0" y="2125253"/>
                    <a:pt x="0" y="2112015"/>
                  </a:cubicBezTo>
                  <a:lnTo>
                    <a:pt x="0" y="23970"/>
                  </a:lnTo>
                  <a:cubicBezTo>
                    <a:pt x="0" y="10732"/>
                    <a:pt x="10732" y="0"/>
                    <a:pt x="23970" y="0"/>
                  </a:cubicBezTo>
                  <a:close/>
                </a:path>
              </a:pathLst>
            </a:custGeom>
            <a:ln w="19050" cap="sq">
              <a:solidFill>
                <a:srgbClr val="30292F"/>
              </a:solidFill>
              <a:prstDash val="solid"/>
              <a:miter/>
            </a:ln>
          </p:spPr>
          <p:txBody>
            <a:bodyPr/>
            <a:lstStyle/>
            <a:p>
              <a:endParaRPr lang="fr-MA"/>
            </a:p>
          </p:txBody>
        </p:sp>
        <p:sp>
          <p:nvSpPr>
            <p:cNvPr id="27" name="TextBox 27"/>
            <p:cNvSpPr txBox="1"/>
            <p:nvPr/>
          </p:nvSpPr>
          <p:spPr>
            <a:xfrm>
              <a:off x="0" y="-38100"/>
              <a:ext cx="1229579" cy="2174085"/>
            </a:xfrm>
            <a:prstGeom prst="rect">
              <a:avLst/>
            </a:prstGeom>
          </p:spPr>
          <p:txBody>
            <a:bodyPr lIns="33859" tIns="33859" rIns="33859" bIns="33859" rtlCol="0" anchor="ctr"/>
            <a:lstStyle/>
            <a:p>
              <a:pPr algn="ctr">
                <a:lnSpc>
                  <a:spcPts val="2775"/>
                </a:lnSpc>
              </a:pPr>
              <a:endParaRPr/>
            </a:p>
          </p:txBody>
        </p:sp>
      </p:grpSp>
      <p:grpSp>
        <p:nvGrpSpPr>
          <p:cNvPr id="28" name="Group 28"/>
          <p:cNvGrpSpPr/>
          <p:nvPr/>
        </p:nvGrpSpPr>
        <p:grpSpPr>
          <a:xfrm>
            <a:off x="5596409" y="5053190"/>
            <a:ext cx="3228002" cy="3733998"/>
            <a:chOff x="0" y="0"/>
            <a:chExt cx="833654" cy="964331"/>
          </a:xfrm>
        </p:grpSpPr>
        <p:sp>
          <p:nvSpPr>
            <p:cNvPr id="29" name="Freeform 29"/>
            <p:cNvSpPr/>
            <p:nvPr/>
          </p:nvSpPr>
          <p:spPr>
            <a:xfrm>
              <a:off x="0" y="0"/>
              <a:ext cx="833654" cy="964331"/>
            </a:xfrm>
            <a:custGeom>
              <a:avLst/>
              <a:gdLst/>
              <a:ahLst/>
              <a:cxnLst/>
              <a:rect l="l" t="t" r="r" b="b"/>
              <a:pathLst>
                <a:path w="833654" h="964331">
                  <a:moveTo>
                    <a:pt x="76748" y="0"/>
                  </a:moveTo>
                  <a:lnTo>
                    <a:pt x="756907" y="0"/>
                  </a:lnTo>
                  <a:cubicBezTo>
                    <a:pt x="777261" y="0"/>
                    <a:pt x="796782" y="8086"/>
                    <a:pt x="811175" y="22479"/>
                  </a:cubicBezTo>
                  <a:cubicBezTo>
                    <a:pt x="825568" y="36872"/>
                    <a:pt x="833654" y="56393"/>
                    <a:pt x="833654" y="76748"/>
                  </a:cubicBezTo>
                  <a:lnTo>
                    <a:pt x="833654" y="887584"/>
                  </a:lnTo>
                  <a:cubicBezTo>
                    <a:pt x="833654" y="929970"/>
                    <a:pt x="799293" y="964331"/>
                    <a:pt x="756907" y="964331"/>
                  </a:cubicBezTo>
                  <a:lnTo>
                    <a:pt x="76748" y="964331"/>
                  </a:lnTo>
                  <a:cubicBezTo>
                    <a:pt x="34361" y="964331"/>
                    <a:pt x="0" y="929970"/>
                    <a:pt x="0" y="887584"/>
                  </a:cubicBezTo>
                  <a:lnTo>
                    <a:pt x="0" y="76748"/>
                  </a:lnTo>
                  <a:cubicBezTo>
                    <a:pt x="0" y="34361"/>
                    <a:pt x="34361" y="0"/>
                    <a:pt x="76748" y="0"/>
                  </a:cubicBezTo>
                  <a:close/>
                </a:path>
              </a:pathLst>
            </a:custGeom>
            <a:solidFill>
              <a:srgbClr val="F8F5F1"/>
            </a:solidFill>
          </p:spPr>
          <p:txBody>
            <a:bodyPr/>
            <a:lstStyle/>
            <a:p>
              <a:endParaRPr lang="fr-MA"/>
            </a:p>
          </p:txBody>
        </p:sp>
        <p:sp>
          <p:nvSpPr>
            <p:cNvPr id="30" name="TextBox 30"/>
            <p:cNvSpPr txBox="1"/>
            <p:nvPr/>
          </p:nvSpPr>
          <p:spPr>
            <a:xfrm>
              <a:off x="0" y="-28575"/>
              <a:ext cx="833654" cy="992906"/>
            </a:xfrm>
            <a:prstGeom prst="rect">
              <a:avLst/>
            </a:prstGeom>
          </p:spPr>
          <p:txBody>
            <a:bodyPr lIns="98748" tIns="98748" rIns="98748" bIns="98748" rtlCol="0" anchor="ctr"/>
            <a:lstStyle/>
            <a:p>
              <a:pPr algn="ctr">
                <a:lnSpc>
                  <a:spcPts val="1639"/>
                </a:lnSpc>
              </a:pPr>
              <a:endParaRPr/>
            </a:p>
          </p:txBody>
        </p:sp>
      </p:grpSp>
      <p:grpSp>
        <p:nvGrpSpPr>
          <p:cNvPr id="31" name="Group 31"/>
          <p:cNvGrpSpPr/>
          <p:nvPr/>
        </p:nvGrpSpPr>
        <p:grpSpPr>
          <a:xfrm>
            <a:off x="5594526" y="3176335"/>
            <a:ext cx="3231768" cy="2089859"/>
            <a:chOff x="0" y="0"/>
            <a:chExt cx="4309024" cy="2786479"/>
          </a:xfrm>
        </p:grpSpPr>
        <p:grpSp>
          <p:nvGrpSpPr>
            <p:cNvPr id="32" name="Group 32"/>
            <p:cNvGrpSpPr/>
            <p:nvPr/>
          </p:nvGrpSpPr>
          <p:grpSpPr>
            <a:xfrm>
              <a:off x="0" y="0"/>
              <a:ext cx="4306513" cy="2761079"/>
              <a:chOff x="0" y="0"/>
              <a:chExt cx="850669" cy="545398"/>
            </a:xfrm>
          </p:grpSpPr>
          <p:sp>
            <p:nvSpPr>
              <p:cNvPr id="33" name="Freeform 33"/>
              <p:cNvSpPr/>
              <p:nvPr/>
            </p:nvSpPr>
            <p:spPr>
              <a:xfrm>
                <a:off x="0" y="0"/>
                <a:ext cx="850669" cy="545398"/>
              </a:xfrm>
              <a:custGeom>
                <a:avLst/>
                <a:gdLst/>
                <a:ahLst/>
                <a:cxnLst/>
                <a:rect l="l" t="t" r="r" b="b"/>
                <a:pathLst>
                  <a:path w="850669" h="545398">
                    <a:moveTo>
                      <a:pt x="23970" y="0"/>
                    </a:moveTo>
                    <a:lnTo>
                      <a:pt x="826700" y="0"/>
                    </a:lnTo>
                    <a:cubicBezTo>
                      <a:pt x="839938" y="0"/>
                      <a:pt x="850669" y="10732"/>
                      <a:pt x="850669" y="23970"/>
                    </a:cubicBezTo>
                    <a:lnTo>
                      <a:pt x="850669" y="521429"/>
                    </a:lnTo>
                    <a:cubicBezTo>
                      <a:pt x="850669" y="527786"/>
                      <a:pt x="848144" y="533883"/>
                      <a:pt x="843649" y="538378"/>
                    </a:cubicBezTo>
                    <a:cubicBezTo>
                      <a:pt x="839154" y="542873"/>
                      <a:pt x="833057" y="545398"/>
                      <a:pt x="826700" y="545398"/>
                    </a:cubicBezTo>
                    <a:lnTo>
                      <a:pt x="23970" y="545398"/>
                    </a:lnTo>
                    <a:cubicBezTo>
                      <a:pt x="10732" y="545398"/>
                      <a:pt x="0" y="534667"/>
                      <a:pt x="0" y="521429"/>
                    </a:cubicBezTo>
                    <a:lnTo>
                      <a:pt x="0" y="23970"/>
                    </a:lnTo>
                    <a:cubicBezTo>
                      <a:pt x="0" y="10732"/>
                      <a:pt x="10732" y="0"/>
                      <a:pt x="23970" y="0"/>
                    </a:cubicBezTo>
                    <a:close/>
                  </a:path>
                </a:pathLst>
              </a:custGeom>
              <a:solidFill>
                <a:srgbClr val="5C96C1"/>
              </a:solidFill>
            </p:spPr>
            <p:txBody>
              <a:bodyPr/>
              <a:lstStyle/>
              <a:p>
                <a:endParaRPr lang="fr-MA"/>
              </a:p>
            </p:txBody>
          </p:sp>
          <p:sp>
            <p:nvSpPr>
              <p:cNvPr id="34" name="TextBox 34"/>
              <p:cNvSpPr txBox="1"/>
              <p:nvPr/>
            </p:nvSpPr>
            <p:spPr>
              <a:xfrm>
                <a:off x="0" y="-38100"/>
                <a:ext cx="850669" cy="583498"/>
              </a:xfrm>
              <a:prstGeom prst="rect">
                <a:avLst/>
              </a:prstGeom>
            </p:spPr>
            <p:txBody>
              <a:bodyPr lIns="50800" tIns="50800" rIns="50800" bIns="50800" rtlCol="0" anchor="ctr"/>
              <a:lstStyle/>
              <a:p>
                <a:pPr algn="ctr">
                  <a:lnSpc>
                    <a:spcPts val="2799"/>
                  </a:lnSpc>
                  <a:spcBef>
                    <a:spcPct val="0"/>
                  </a:spcBef>
                </a:pPr>
                <a:endParaRPr/>
              </a:p>
            </p:txBody>
          </p:sp>
        </p:grpSp>
        <p:grpSp>
          <p:nvGrpSpPr>
            <p:cNvPr id="35" name="Group 35"/>
            <p:cNvGrpSpPr/>
            <p:nvPr/>
          </p:nvGrpSpPr>
          <p:grpSpPr>
            <a:xfrm>
              <a:off x="2510" y="1496143"/>
              <a:ext cx="4306513" cy="1290336"/>
              <a:chOff x="0" y="0"/>
              <a:chExt cx="850669" cy="254881"/>
            </a:xfrm>
          </p:grpSpPr>
          <p:sp>
            <p:nvSpPr>
              <p:cNvPr id="36" name="Freeform 36"/>
              <p:cNvSpPr/>
              <p:nvPr/>
            </p:nvSpPr>
            <p:spPr>
              <a:xfrm>
                <a:off x="0" y="0"/>
                <a:ext cx="850669" cy="254881"/>
              </a:xfrm>
              <a:custGeom>
                <a:avLst/>
                <a:gdLst/>
                <a:ahLst/>
                <a:cxnLst/>
                <a:rect l="l" t="t" r="r" b="b"/>
                <a:pathLst>
                  <a:path w="850669" h="254881">
                    <a:moveTo>
                      <a:pt x="0" y="0"/>
                    </a:moveTo>
                    <a:lnTo>
                      <a:pt x="850669" y="0"/>
                    </a:lnTo>
                    <a:lnTo>
                      <a:pt x="850669" y="254881"/>
                    </a:lnTo>
                    <a:lnTo>
                      <a:pt x="0" y="254881"/>
                    </a:lnTo>
                    <a:close/>
                  </a:path>
                </a:pathLst>
              </a:custGeom>
              <a:solidFill>
                <a:srgbClr val="5C96C1"/>
              </a:solidFill>
            </p:spPr>
            <p:txBody>
              <a:bodyPr/>
              <a:lstStyle/>
              <a:p>
                <a:endParaRPr lang="fr-MA"/>
              </a:p>
            </p:txBody>
          </p:sp>
          <p:sp>
            <p:nvSpPr>
              <p:cNvPr id="37" name="TextBox 37"/>
              <p:cNvSpPr txBox="1"/>
              <p:nvPr/>
            </p:nvSpPr>
            <p:spPr>
              <a:xfrm>
                <a:off x="0" y="-38100"/>
                <a:ext cx="850669" cy="292981"/>
              </a:xfrm>
              <a:prstGeom prst="rect">
                <a:avLst/>
              </a:prstGeom>
            </p:spPr>
            <p:txBody>
              <a:bodyPr lIns="50800" tIns="50800" rIns="50800" bIns="50800" rtlCol="0" anchor="ctr"/>
              <a:lstStyle/>
              <a:p>
                <a:pPr algn="ctr">
                  <a:lnSpc>
                    <a:spcPts val="2799"/>
                  </a:lnSpc>
                  <a:spcBef>
                    <a:spcPct val="0"/>
                  </a:spcBef>
                </a:pPr>
                <a:endParaRPr/>
              </a:p>
            </p:txBody>
          </p:sp>
        </p:grpSp>
      </p:grpSp>
      <p:grpSp>
        <p:nvGrpSpPr>
          <p:cNvPr id="38" name="Group 38"/>
          <p:cNvGrpSpPr/>
          <p:nvPr/>
        </p:nvGrpSpPr>
        <p:grpSpPr>
          <a:xfrm>
            <a:off x="5594526" y="3176335"/>
            <a:ext cx="3229885" cy="5610852"/>
            <a:chOff x="0" y="0"/>
            <a:chExt cx="1229579" cy="2135985"/>
          </a:xfrm>
        </p:grpSpPr>
        <p:sp>
          <p:nvSpPr>
            <p:cNvPr id="39" name="Freeform 39"/>
            <p:cNvSpPr/>
            <p:nvPr/>
          </p:nvSpPr>
          <p:spPr>
            <a:xfrm>
              <a:off x="0" y="0"/>
              <a:ext cx="1229579" cy="2135985"/>
            </a:xfrm>
            <a:custGeom>
              <a:avLst/>
              <a:gdLst/>
              <a:ahLst/>
              <a:cxnLst/>
              <a:rect l="l" t="t" r="r" b="b"/>
              <a:pathLst>
                <a:path w="1229579" h="2135985">
                  <a:moveTo>
                    <a:pt x="23970" y="0"/>
                  </a:moveTo>
                  <a:lnTo>
                    <a:pt x="1205609" y="0"/>
                  </a:lnTo>
                  <a:cubicBezTo>
                    <a:pt x="1218847" y="0"/>
                    <a:pt x="1229579" y="10732"/>
                    <a:pt x="1229579" y="23970"/>
                  </a:cubicBezTo>
                  <a:lnTo>
                    <a:pt x="1229579" y="2112015"/>
                  </a:lnTo>
                  <a:cubicBezTo>
                    <a:pt x="1229579" y="2125253"/>
                    <a:pt x="1218847" y="2135985"/>
                    <a:pt x="1205609" y="2135985"/>
                  </a:cubicBezTo>
                  <a:lnTo>
                    <a:pt x="23970" y="2135985"/>
                  </a:lnTo>
                  <a:cubicBezTo>
                    <a:pt x="10732" y="2135985"/>
                    <a:pt x="0" y="2125253"/>
                    <a:pt x="0" y="2112015"/>
                  </a:cubicBezTo>
                  <a:lnTo>
                    <a:pt x="0" y="23970"/>
                  </a:lnTo>
                  <a:cubicBezTo>
                    <a:pt x="0" y="10732"/>
                    <a:pt x="10732" y="0"/>
                    <a:pt x="23970" y="0"/>
                  </a:cubicBezTo>
                  <a:close/>
                </a:path>
              </a:pathLst>
            </a:custGeom>
            <a:ln w="19050" cap="sq">
              <a:solidFill>
                <a:srgbClr val="30292F"/>
              </a:solidFill>
              <a:prstDash val="solid"/>
              <a:miter/>
            </a:ln>
          </p:spPr>
          <p:txBody>
            <a:bodyPr/>
            <a:lstStyle/>
            <a:p>
              <a:endParaRPr lang="fr-MA"/>
            </a:p>
          </p:txBody>
        </p:sp>
        <p:sp>
          <p:nvSpPr>
            <p:cNvPr id="40" name="TextBox 40"/>
            <p:cNvSpPr txBox="1"/>
            <p:nvPr/>
          </p:nvSpPr>
          <p:spPr>
            <a:xfrm>
              <a:off x="0" y="-38100"/>
              <a:ext cx="1229579" cy="2174085"/>
            </a:xfrm>
            <a:prstGeom prst="rect">
              <a:avLst/>
            </a:prstGeom>
          </p:spPr>
          <p:txBody>
            <a:bodyPr lIns="33859" tIns="33859" rIns="33859" bIns="33859" rtlCol="0" anchor="ctr"/>
            <a:lstStyle/>
            <a:p>
              <a:pPr algn="ctr">
                <a:lnSpc>
                  <a:spcPts val="2775"/>
                </a:lnSpc>
              </a:pPr>
              <a:endParaRPr/>
            </a:p>
          </p:txBody>
        </p:sp>
      </p:grpSp>
      <p:grpSp>
        <p:nvGrpSpPr>
          <p:cNvPr id="41" name="Group 41"/>
          <p:cNvGrpSpPr/>
          <p:nvPr/>
        </p:nvGrpSpPr>
        <p:grpSpPr>
          <a:xfrm>
            <a:off x="1725462" y="3176335"/>
            <a:ext cx="3231768" cy="2089859"/>
            <a:chOff x="0" y="0"/>
            <a:chExt cx="4309024" cy="2786479"/>
          </a:xfrm>
        </p:grpSpPr>
        <p:grpSp>
          <p:nvGrpSpPr>
            <p:cNvPr id="42" name="Group 42"/>
            <p:cNvGrpSpPr/>
            <p:nvPr/>
          </p:nvGrpSpPr>
          <p:grpSpPr>
            <a:xfrm>
              <a:off x="0" y="0"/>
              <a:ext cx="4306513" cy="2761079"/>
              <a:chOff x="0" y="0"/>
              <a:chExt cx="850669" cy="545398"/>
            </a:xfrm>
          </p:grpSpPr>
          <p:sp>
            <p:nvSpPr>
              <p:cNvPr id="43" name="Freeform 43"/>
              <p:cNvSpPr/>
              <p:nvPr/>
            </p:nvSpPr>
            <p:spPr>
              <a:xfrm>
                <a:off x="0" y="0"/>
                <a:ext cx="850669" cy="545398"/>
              </a:xfrm>
              <a:custGeom>
                <a:avLst/>
                <a:gdLst/>
                <a:ahLst/>
                <a:cxnLst/>
                <a:rect l="l" t="t" r="r" b="b"/>
                <a:pathLst>
                  <a:path w="850669" h="545398">
                    <a:moveTo>
                      <a:pt x="23970" y="0"/>
                    </a:moveTo>
                    <a:lnTo>
                      <a:pt x="826700" y="0"/>
                    </a:lnTo>
                    <a:cubicBezTo>
                      <a:pt x="839938" y="0"/>
                      <a:pt x="850669" y="10732"/>
                      <a:pt x="850669" y="23970"/>
                    </a:cubicBezTo>
                    <a:lnTo>
                      <a:pt x="850669" y="521429"/>
                    </a:lnTo>
                    <a:cubicBezTo>
                      <a:pt x="850669" y="527786"/>
                      <a:pt x="848144" y="533883"/>
                      <a:pt x="843649" y="538378"/>
                    </a:cubicBezTo>
                    <a:cubicBezTo>
                      <a:pt x="839154" y="542873"/>
                      <a:pt x="833057" y="545398"/>
                      <a:pt x="826700" y="545398"/>
                    </a:cubicBezTo>
                    <a:lnTo>
                      <a:pt x="23970" y="545398"/>
                    </a:lnTo>
                    <a:cubicBezTo>
                      <a:pt x="10732" y="545398"/>
                      <a:pt x="0" y="534667"/>
                      <a:pt x="0" y="521429"/>
                    </a:cubicBezTo>
                    <a:lnTo>
                      <a:pt x="0" y="23970"/>
                    </a:lnTo>
                    <a:cubicBezTo>
                      <a:pt x="0" y="10732"/>
                      <a:pt x="10732" y="0"/>
                      <a:pt x="23970" y="0"/>
                    </a:cubicBezTo>
                    <a:close/>
                  </a:path>
                </a:pathLst>
              </a:custGeom>
              <a:solidFill>
                <a:srgbClr val="97BCD8"/>
              </a:solidFill>
            </p:spPr>
            <p:txBody>
              <a:bodyPr/>
              <a:lstStyle/>
              <a:p>
                <a:endParaRPr lang="fr-MA"/>
              </a:p>
            </p:txBody>
          </p:sp>
          <p:sp>
            <p:nvSpPr>
              <p:cNvPr id="44" name="TextBox 44"/>
              <p:cNvSpPr txBox="1"/>
              <p:nvPr/>
            </p:nvSpPr>
            <p:spPr>
              <a:xfrm>
                <a:off x="0" y="-38100"/>
                <a:ext cx="850669" cy="583498"/>
              </a:xfrm>
              <a:prstGeom prst="rect">
                <a:avLst/>
              </a:prstGeom>
            </p:spPr>
            <p:txBody>
              <a:bodyPr lIns="50800" tIns="50800" rIns="50800" bIns="50800" rtlCol="0" anchor="ctr"/>
              <a:lstStyle/>
              <a:p>
                <a:pPr algn="ctr">
                  <a:lnSpc>
                    <a:spcPts val="2799"/>
                  </a:lnSpc>
                  <a:spcBef>
                    <a:spcPct val="0"/>
                  </a:spcBef>
                </a:pPr>
                <a:endParaRPr/>
              </a:p>
            </p:txBody>
          </p:sp>
        </p:grpSp>
        <p:grpSp>
          <p:nvGrpSpPr>
            <p:cNvPr id="45" name="Group 45"/>
            <p:cNvGrpSpPr/>
            <p:nvPr/>
          </p:nvGrpSpPr>
          <p:grpSpPr>
            <a:xfrm>
              <a:off x="2510" y="1496143"/>
              <a:ext cx="4306513" cy="1290336"/>
              <a:chOff x="0" y="0"/>
              <a:chExt cx="850669" cy="254881"/>
            </a:xfrm>
          </p:grpSpPr>
          <p:sp>
            <p:nvSpPr>
              <p:cNvPr id="46" name="Freeform 46"/>
              <p:cNvSpPr/>
              <p:nvPr/>
            </p:nvSpPr>
            <p:spPr>
              <a:xfrm>
                <a:off x="0" y="0"/>
                <a:ext cx="850669" cy="254881"/>
              </a:xfrm>
              <a:custGeom>
                <a:avLst/>
                <a:gdLst/>
                <a:ahLst/>
                <a:cxnLst/>
                <a:rect l="l" t="t" r="r" b="b"/>
                <a:pathLst>
                  <a:path w="850669" h="254881">
                    <a:moveTo>
                      <a:pt x="0" y="0"/>
                    </a:moveTo>
                    <a:lnTo>
                      <a:pt x="850669" y="0"/>
                    </a:lnTo>
                    <a:lnTo>
                      <a:pt x="850669" y="254881"/>
                    </a:lnTo>
                    <a:lnTo>
                      <a:pt x="0" y="254881"/>
                    </a:lnTo>
                    <a:close/>
                  </a:path>
                </a:pathLst>
              </a:custGeom>
              <a:solidFill>
                <a:srgbClr val="97BCD8"/>
              </a:solidFill>
            </p:spPr>
            <p:txBody>
              <a:bodyPr/>
              <a:lstStyle/>
              <a:p>
                <a:endParaRPr lang="fr-MA"/>
              </a:p>
            </p:txBody>
          </p:sp>
          <p:sp>
            <p:nvSpPr>
              <p:cNvPr id="47" name="TextBox 47"/>
              <p:cNvSpPr txBox="1"/>
              <p:nvPr/>
            </p:nvSpPr>
            <p:spPr>
              <a:xfrm>
                <a:off x="0" y="-38100"/>
                <a:ext cx="850669" cy="292981"/>
              </a:xfrm>
              <a:prstGeom prst="rect">
                <a:avLst/>
              </a:prstGeom>
            </p:spPr>
            <p:txBody>
              <a:bodyPr lIns="50800" tIns="50800" rIns="50800" bIns="50800" rtlCol="0" anchor="ctr"/>
              <a:lstStyle/>
              <a:p>
                <a:pPr algn="ctr">
                  <a:lnSpc>
                    <a:spcPts val="2799"/>
                  </a:lnSpc>
                  <a:spcBef>
                    <a:spcPct val="0"/>
                  </a:spcBef>
                </a:pPr>
                <a:endParaRPr/>
              </a:p>
            </p:txBody>
          </p:sp>
        </p:grpSp>
      </p:grpSp>
      <p:grpSp>
        <p:nvGrpSpPr>
          <p:cNvPr id="48" name="Group 48"/>
          <p:cNvGrpSpPr/>
          <p:nvPr/>
        </p:nvGrpSpPr>
        <p:grpSpPr>
          <a:xfrm>
            <a:off x="1725462" y="3176335"/>
            <a:ext cx="3229885" cy="5610852"/>
            <a:chOff x="0" y="0"/>
            <a:chExt cx="1229579" cy="2135985"/>
          </a:xfrm>
        </p:grpSpPr>
        <p:sp>
          <p:nvSpPr>
            <p:cNvPr id="49" name="Freeform 49"/>
            <p:cNvSpPr/>
            <p:nvPr/>
          </p:nvSpPr>
          <p:spPr>
            <a:xfrm>
              <a:off x="0" y="0"/>
              <a:ext cx="1229579" cy="2135985"/>
            </a:xfrm>
            <a:custGeom>
              <a:avLst/>
              <a:gdLst/>
              <a:ahLst/>
              <a:cxnLst/>
              <a:rect l="l" t="t" r="r" b="b"/>
              <a:pathLst>
                <a:path w="1229579" h="2135985">
                  <a:moveTo>
                    <a:pt x="23970" y="0"/>
                  </a:moveTo>
                  <a:lnTo>
                    <a:pt x="1205609" y="0"/>
                  </a:lnTo>
                  <a:cubicBezTo>
                    <a:pt x="1218847" y="0"/>
                    <a:pt x="1229579" y="10732"/>
                    <a:pt x="1229579" y="23970"/>
                  </a:cubicBezTo>
                  <a:lnTo>
                    <a:pt x="1229579" y="2112015"/>
                  </a:lnTo>
                  <a:cubicBezTo>
                    <a:pt x="1229579" y="2125253"/>
                    <a:pt x="1218847" y="2135985"/>
                    <a:pt x="1205609" y="2135985"/>
                  </a:cubicBezTo>
                  <a:lnTo>
                    <a:pt x="23970" y="2135985"/>
                  </a:lnTo>
                  <a:cubicBezTo>
                    <a:pt x="10732" y="2135985"/>
                    <a:pt x="0" y="2125253"/>
                    <a:pt x="0" y="2112015"/>
                  </a:cubicBezTo>
                  <a:lnTo>
                    <a:pt x="0" y="23970"/>
                  </a:lnTo>
                  <a:cubicBezTo>
                    <a:pt x="0" y="10732"/>
                    <a:pt x="10732" y="0"/>
                    <a:pt x="23970" y="0"/>
                  </a:cubicBezTo>
                  <a:close/>
                </a:path>
              </a:pathLst>
            </a:custGeom>
            <a:ln w="19050" cap="sq">
              <a:solidFill>
                <a:srgbClr val="30292F"/>
              </a:solidFill>
              <a:prstDash val="solid"/>
              <a:miter/>
            </a:ln>
          </p:spPr>
          <p:txBody>
            <a:bodyPr/>
            <a:lstStyle/>
            <a:p>
              <a:endParaRPr lang="fr-MA"/>
            </a:p>
          </p:txBody>
        </p:sp>
        <p:sp>
          <p:nvSpPr>
            <p:cNvPr id="50" name="TextBox 50"/>
            <p:cNvSpPr txBox="1"/>
            <p:nvPr/>
          </p:nvSpPr>
          <p:spPr>
            <a:xfrm>
              <a:off x="0" y="-38100"/>
              <a:ext cx="1229579" cy="2174085"/>
            </a:xfrm>
            <a:prstGeom prst="rect">
              <a:avLst/>
            </a:prstGeom>
          </p:spPr>
          <p:txBody>
            <a:bodyPr lIns="33859" tIns="33859" rIns="33859" bIns="33859" rtlCol="0" anchor="ctr"/>
            <a:lstStyle/>
            <a:p>
              <a:pPr algn="ctr">
                <a:lnSpc>
                  <a:spcPts val="2775"/>
                </a:lnSpc>
              </a:pPr>
              <a:endParaRPr/>
            </a:p>
          </p:txBody>
        </p:sp>
      </p:grpSp>
      <p:sp>
        <p:nvSpPr>
          <p:cNvPr id="51" name="Freeform 51"/>
          <p:cNvSpPr/>
          <p:nvPr/>
        </p:nvSpPr>
        <p:spPr>
          <a:xfrm>
            <a:off x="7256288" y="3525230"/>
            <a:ext cx="257072" cy="244920"/>
          </a:xfrm>
          <a:custGeom>
            <a:avLst/>
            <a:gdLst/>
            <a:ahLst/>
            <a:cxnLst/>
            <a:rect l="l" t="t" r="r" b="b"/>
            <a:pathLst>
              <a:path w="257072" h="244920">
                <a:moveTo>
                  <a:pt x="0" y="0"/>
                </a:moveTo>
                <a:lnTo>
                  <a:pt x="257073" y="0"/>
                </a:lnTo>
                <a:lnTo>
                  <a:pt x="257073" y="244920"/>
                </a:lnTo>
                <a:lnTo>
                  <a:pt x="0" y="24492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MA"/>
          </a:p>
        </p:txBody>
      </p:sp>
      <p:sp>
        <p:nvSpPr>
          <p:cNvPr id="52" name="Freeform 52"/>
          <p:cNvSpPr/>
          <p:nvPr/>
        </p:nvSpPr>
        <p:spPr>
          <a:xfrm>
            <a:off x="6905576" y="3525230"/>
            <a:ext cx="257072" cy="244920"/>
          </a:xfrm>
          <a:custGeom>
            <a:avLst/>
            <a:gdLst/>
            <a:ahLst/>
            <a:cxnLst/>
            <a:rect l="l" t="t" r="r" b="b"/>
            <a:pathLst>
              <a:path w="257072" h="244920">
                <a:moveTo>
                  <a:pt x="0" y="0"/>
                </a:moveTo>
                <a:lnTo>
                  <a:pt x="257072" y="0"/>
                </a:lnTo>
                <a:lnTo>
                  <a:pt x="257072" y="244920"/>
                </a:lnTo>
                <a:lnTo>
                  <a:pt x="0" y="24492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MA"/>
          </a:p>
        </p:txBody>
      </p:sp>
      <p:sp>
        <p:nvSpPr>
          <p:cNvPr id="53" name="Freeform 53"/>
          <p:cNvSpPr/>
          <p:nvPr/>
        </p:nvSpPr>
        <p:spPr>
          <a:xfrm>
            <a:off x="10949996" y="3568852"/>
            <a:ext cx="257072" cy="244920"/>
          </a:xfrm>
          <a:custGeom>
            <a:avLst/>
            <a:gdLst/>
            <a:ahLst/>
            <a:cxnLst/>
            <a:rect l="l" t="t" r="r" b="b"/>
            <a:pathLst>
              <a:path w="257072" h="244920">
                <a:moveTo>
                  <a:pt x="0" y="0"/>
                </a:moveTo>
                <a:lnTo>
                  <a:pt x="257072" y="0"/>
                </a:lnTo>
                <a:lnTo>
                  <a:pt x="257072" y="244920"/>
                </a:lnTo>
                <a:lnTo>
                  <a:pt x="0" y="24492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MA"/>
          </a:p>
        </p:txBody>
      </p:sp>
      <p:sp>
        <p:nvSpPr>
          <p:cNvPr id="54" name="Freeform 54"/>
          <p:cNvSpPr/>
          <p:nvPr/>
        </p:nvSpPr>
        <p:spPr>
          <a:xfrm>
            <a:off x="11293015" y="3568852"/>
            <a:ext cx="257072" cy="244920"/>
          </a:xfrm>
          <a:custGeom>
            <a:avLst/>
            <a:gdLst/>
            <a:ahLst/>
            <a:cxnLst/>
            <a:rect l="l" t="t" r="r" b="b"/>
            <a:pathLst>
              <a:path w="257072" h="244920">
                <a:moveTo>
                  <a:pt x="0" y="0"/>
                </a:moveTo>
                <a:lnTo>
                  <a:pt x="257072" y="0"/>
                </a:lnTo>
                <a:lnTo>
                  <a:pt x="257072" y="244920"/>
                </a:lnTo>
                <a:lnTo>
                  <a:pt x="0" y="24492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MA"/>
          </a:p>
        </p:txBody>
      </p:sp>
      <p:sp>
        <p:nvSpPr>
          <p:cNvPr id="55" name="Freeform 55"/>
          <p:cNvSpPr/>
          <p:nvPr/>
        </p:nvSpPr>
        <p:spPr>
          <a:xfrm>
            <a:off x="10606977" y="3568852"/>
            <a:ext cx="257072" cy="244920"/>
          </a:xfrm>
          <a:custGeom>
            <a:avLst/>
            <a:gdLst/>
            <a:ahLst/>
            <a:cxnLst/>
            <a:rect l="l" t="t" r="r" b="b"/>
            <a:pathLst>
              <a:path w="257072" h="244920">
                <a:moveTo>
                  <a:pt x="0" y="0"/>
                </a:moveTo>
                <a:lnTo>
                  <a:pt x="257072" y="0"/>
                </a:lnTo>
                <a:lnTo>
                  <a:pt x="257072" y="244920"/>
                </a:lnTo>
                <a:lnTo>
                  <a:pt x="0" y="24492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MA"/>
          </a:p>
        </p:txBody>
      </p:sp>
      <p:sp>
        <p:nvSpPr>
          <p:cNvPr id="56" name="Freeform 56"/>
          <p:cNvSpPr/>
          <p:nvPr/>
        </p:nvSpPr>
        <p:spPr>
          <a:xfrm>
            <a:off x="14647587" y="3568852"/>
            <a:ext cx="257072" cy="244920"/>
          </a:xfrm>
          <a:custGeom>
            <a:avLst/>
            <a:gdLst/>
            <a:ahLst/>
            <a:cxnLst/>
            <a:rect l="l" t="t" r="r" b="b"/>
            <a:pathLst>
              <a:path w="257072" h="244920">
                <a:moveTo>
                  <a:pt x="0" y="0"/>
                </a:moveTo>
                <a:lnTo>
                  <a:pt x="257072" y="0"/>
                </a:lnTo>
                <a:lnTo>
                  <a:pt x="257072" y="244920"/>
                </a:lnTo>
                <a:lnTo>
                  <a:pt x="0" y="24492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MA"/>
          </a:p>
        </p:txBody>
      </p:sp>
      <p:sp>
        <p:nvSpPr>
          <p:cNvPr id="57" name="Freeform 57"/>
          <p:cNvSpPr/>
          <p:nvPr/>
        </p:nvSpPr>
        <p:spPr>
          <a:xfrm>
            <a:off x="14990532" y="3568852"/>
            <a:ext cx="257072" cy="244920"/>
          </a:xfrm>
          <a:custGeom>
            <a:avLst/>
            <a:gdLst/>
            <a:ahLst/>
            <a:cxnLst/>
            <a:rect l="l" t="t" r="r" b="b"/>
            <a:pathLst>
              <a:path w="257072" h="244920">
                <a:moveTo>
                  <a:pt x="0" y="0"/>
                </a:moveTo>
                <a:lnTo>
                  <a:pt x="257072" y="0"/>
                </a:lnTo>
                <a:lnTo>
                  <a:pt x="257072" y="244920"/>
                </a:lnTo>
                <a:lnTo>
                  <a:pt x="0" y="24492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MA"/>
          </a:p>
        </p:txBody>
      </p:sp>
      <p:sp>
        <p:nvSpPr>
          <p:cNvPr id="58" name="Freeform 58"/>
          <p:cNvSpPr/>
          <p:nvPr/>
        </p:nvSpPr>
        <p:spPr>
          <a:xfrm>
            <a:off x="15333477" y="3568852"/>
            <a:ext cx="257072" cy="244920"/>
          </a:xfrm>
          <a:custGeom>
            <a:avLst/>
            <a:gdLst/>
            <a:ahLst/>
            <a:cxnLst/>
            <a:rect l="l" t="t" r="r" b="b"/>
            <a:pathLst>
              <a:path w="257072" h="244920">
                <a:moveTo>
                  <a:pt x="0" y="0"/>
                </a:moveTo>
                <a:lnTo>
                  <a:pt x="257072" y="0"/>
                </a:lnTo>
                <a:lnTo>
                  <a:pt x="257072" y="244920"/>
                </a:lnTo>
                <a:lnTo>
                  <a:pt x="0" y="24492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MA"/>
          </a:p>
        </p:txBody>
      </p:sp>
      <p:sp>
        <p:nvSpPr>
          <p:cNvPr id="59" name="Freeform 59"/>
          <p:cNvSpPr/>
          <p:nvPr/>
        </p:nvSpPr>
        <p:spPr>
          <a:xfrm>
            <a:off x="14304642" y="3568852"/>
            <a:ext cx="257072" cy="244920"/>
          </a:xfrm>
          <a:custGeom>
            <a:avLst/>
            <a:gdLst/>
            <a:ahLst/>
            <a:cxnLst/>
            <a:rect l="l" t="t" r="r" b="b"/>
            <a:pathLst>
              <a:path w="257072" h="244920">
                <a:moveTo>
                  <a:pt x="0" y="0"/>
                </a:moveTo>
                <a:lnTo>
                  <a:pt x="257072" y="0"/>
                </a:lnTo>
                <a:lnTo>
                  <a:pt x="257072" y="244920"/>
                </a:lnTo>
                <a:lnTo>
                  <a:pt x="0" y="24492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MA"/>
          </a:p>
        </p:txBody>
      </p:sp>
      <p:sp>
        <p:nvSpPr>
          <p:cNvPr id="60" name="Freeform 60"/>
          <p:cNvSpPr/>
          <p:nvPr/>
        </p:nvSpPr>
        <p:spPr>
          <a:xfrm>
            <a:off x="3211869" y="3525230"/>
            <a:ext cx="257072" cy="244920"/>
          </a:xfrm>
          <a:custGeom>
            <a:avLst/>
            <a:gdLst/>
            <a:ahLst/>
            <a:cxnLst/>
            <a:rect l="l" t="t" r="r" b="b"/>
            <a:pathLst>
              <a:path w="257072" h="244920">
                <a:moveTo>
                  <a:pt x="0" y="0"/>
                </a:moveTo>
                <a:lnTo>
                  <a:pt x="257072" y="0"/>
                </a:lnTo>
                <a:lnTo>
                  <a:pt x="257072" y="244920"/>
                </a:lnTo>
                <a:lnTo>
                  <a:pt x="0" y="24492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MA"/>
          </a:p>
        </p:txBody>
      </p:sp>
      <p:sp>
        <p:nvSpPr>
          <p:cNvPr id="61" name="TextBox 61"/>
          <p:cNvSpPr txBox="1"/>
          <p:nvPr/>
        </p:nvSpPr>
        <p:spPr>
          <a:xfrm>
            <a:off x="13619035" y="5547706"/>
            <a:ext cx="2571247" cy="2731045"/>
          </a:xfrm>
          <a:prstGeom prst="rect">
            <a:avLst/>
          </a:prstGeom>
        </p:spPr>
        <p:txBody>
          <a:bodyPr lIns="0" tIns="0" rIns="0" bIns="0" rtlCol="0" anchor="t">
            <a:spAutoFit/>
          </a:bodyPr>
          <a:lstStyle/>
          <a:p>
            <a:pPr algn="just">
              <a:lnSpc>
                <a:spcPts val="2769"/>
              </a:lnSpc>
            </a:pPr>
            <a:r>
              <a:rPr lang="en-US" sz="1978">
                <a:solidFill>
                  <a:srgbClr val="30292F"/>
                </a:solidFill>
                <a:latin typeface="Inter"/>
                <a:ea typeface="Inter"/>
                <a:cs typeface="Inter"/>
                <a:sym typeface="Inter"/>
              </a:rPr>
              <a:t>Module intégré pour la gestion des utilisateurs: inscription, connexion . Sécuriser l’accès aux sondages et aux données des utilisateurs.</a:t>
            </a:r>
          </a:p>
        </p:txBody>
      </p:sp>
      <p:sp>
        <p:nvSpPr>
          <p:cNvPr id="62" name="TextBox 62"/>
          <p:cNvSpPr txBox="1"/>
          <p:nvPr/>
        </p:nvSpPr>
        <p:spPr>
          <a:xfrm>
            <a:off x="13381524" y="4241293"/>
            <a:ext cx="3132143" cy="834757"/>
          </a:xfrm>
          <a:prstGeom prst="rect">
            <a:avLst/>
          </a:prstGeom>
        </p:spPr>
        <p:txBody>
          <a:bodyPr lIns="0" tIns="0" rIns="0" bIns="0" rtlCol="0" anchor="t">
            <a:spAutoFit/>
          </a:bodyPr>
          <a:lstStyle/>
          <a:p>
            <a:pPr algn="ctr">
              <a:lnSpc>
                <a:spcPts val="3339"/>
              </a:lnSpc>
            </a:pPr>
            <a:r>
              <a:rPr lang="en-US" sz="2385" b="1">
                <a:solidFill>
                  <a:srgbClr val="FFFFFF"/>
                </a:solidFill>
                <a:latin typeface="Inter Bold"/>
                <a:ea typeface="Inter Bold"/>
                <a:cs typeface="Inter Bold"/>
                <a:sym typeface="Inter Bold"/>
              </a:rPr>
              <a:t>Django Authentification</a:t>
            </a:r>
          </a:p>
        </p:txBody>
      </p:sp>
      <p:sp>
        <p:nvSpPr>
          <p:cNvPr id="63" name="TextBox 63"/>
          <p:cNvSpPr txBox="1"/>
          <p:nvPr/>
        </p:nvSpPr>
        <p:spPr>
          <a:xfrm>
            <a:off x="9767202" y="6024999"/>
            <a:ext cx="2571247" cy="1702345"/>
          </a:xfrm>
          <a:prstGeom prst="rect">
            <a:avLst/>
          </a:prstGeom>
        </p:spPr>
        <p:txBody>
          <a:bodyPr lIns="0" tIns="0" rIns="0" bIns="0" rtlCol="0" anchor="t">
            <a:spAutoFit/>
          </a:bodyPr>
          <a:lstStyle/>
          <a:p>
            <a:pPr algn="just">
              <a:lnSpc>
                <a:spcPts val="2769"/>
              </a:lnSpc>
            </a:pPr>
            <a:r>
              <a:rPr lang="en-US" sz="1978">
                <a:solidFill>
                  <a:srgbClr val="30292F"/>
                </a:solidFill>
                <a:latin typeface="Inter"/>
                <a:ea typeface="Inter"/>
                <a:cs typeface="Inter"/>
                <a:sym typeface="Inter"/>
              </a:rPr>
              <a:t>SGBD relationnel pour stocker utilisateurs, sondages et réponses.</a:t>
            </a:r>
          </a:p>
        </p:txBody>
      </p:sp>
      <p:sp>
        <p:nvSpPr>
          <p:cNvPr id="64" name="TextBox 64"/>
          <p:cNvSpPr txBox="1"/>
          <p:nvPr/>
        </p:nvSpPr>
        <p:spPr>
          <a:xfrm>
            <a:off x="9512460" y="4250818"/>
            <a:ext cx="3132143" cy="789671"/>
          </a:xfrm>
          <a:prstGeom prst="rect">
            <a:avLst/>
          </a:prstGeom>
        </p:spPr>
        <p:txBody>
          <a:bodyPr lIns="0" tIns="0" rIns="0" bIns="0" rtlCol="0" anchor="t">
            <a:spAutoFit/>
          </a:bodyPr>
          <a:lstStyle/>
          <a:p>
            <a:pPr algn="ctr">
              <a:lnSpc>
                <a:spcPts val="3199"/>
              </a:lnSpc>
            </a:pPr>
            <a:r>
              <a:rPr lang="en-US" sz="2285" b="1">
                <a:solidFill>
                  <a:srgbClr val="FFFFFF"/>
                </a:solidFill>
                <a:latin typeface="Inter Bold"/>
                <a:ea typeface="Inter Bold"/>
                <a:cs typeface="Inter Bold"/>
                <a:sym typeface="Inter Bold"/>
              </a:rPr>
              <a:t>Base de données(MySQL)</a:t>
            </a:r>
          </a:p>
        </p:txBody>
      </p:sp>
      <p:sp>
        <p:nvSpPr>
          <p:cNvPr id="65" name="TextBox 65"/>
          <p:cNvSpPr txBox="1"/>
          <p:nvPr/>
        </p:nvSpPr>
        <p:spPr>
          <a:xfrm>
            <a:off x="5724302" y="5954469"/>
            <a:ext cx="2896267" cy="2324283"/>
          </a:xfrm>
          <a:prstGeom prst="rect">
            <a:avLst/>
          </a:prstGeom>
        </p:spPr>
        <p:txBody>
          <a:bodyPr lIns="0" tIns="0" rIns="0" bIns="0" rtlCol="0" anchor="t">
            <a:spAutoFit/>
          </a:bodyPr>
          <a:lstStyle/>
          <a:p>
            <a:pPr algn="just">
              <a:lnSpc>
                <a:spcPts val="2694"/>
              </a:lnSpc>
            </a:pPr>
            <a:r>
              <a:rPr lang="en-US" sz="1924">
                <a:solidFill>
                  <a:srgbClr val="30292F"/>
                </a:solidFill>
                <a:latin typeface="Inter"/>
                <a:ea typeface="Inter"/>
                <a:cs typeface="Inter"/>
                <a:sym typeface="Inter"/>
              </a:rPr>
              <a:t>Système qui fait lien entre base de donnée et les modèles Python . Gère automatiquement les relations entre les tables : (ex : sondage-&gt;questions-&gt;réponses).</a:t>
            </a:r>
          </a:p>
        </p:txBody>
      </p:sp>
      <p:sp>
        <p:nvSpPr>
          <p:cNvPr id="66" name="TextBox 66"/>
          <p:cNvSpPr txBox="1"/>
          <p:nvPr/>
        </p:nvSpPr>
        <p:spPr>
          <a:xfrm>
            <a:off x="5643397" y="4269868"/>
            <a:ext cx="2977172" cy="507487"/>
          </a:xfrm>
          <a:prstGeom prst="rect">
            <a:avLst/>
          </a:prstGeom>
        </p:spPr>
        <p:txBody>
          <a:bodyPr lIns="0" tIns="0" rIns="0" bIns="0" rtlCol="0" anchor="t">
            <a:spAutoFit/>
          </a:bodyPr>
          <a:lstStyle/>
          <a:p>
            <a:pPr algn="ctr">
              <a:lnSpc>
                <a:spcPts val="2042"/>
              </a:lnSpc>
            </a:pPr>
            <a:r>
              <a:rPr lang="en-US" sz="1458" b="1">
                <a:solidFill>
                  <a:srgbClr val="FFFFFF"/>
                </a:solidFill>
                <a:latin typeface="Inter Bold"/>
                <a:ea typeface="Inter Bold"/>
                <a:cs typeface="Inter Bold"/>
                <a:sym typeface="Inter Bold"/>
              </a:rPr>
              <a:t>Django ORM---Object-Relational Mapping</a:t>
            </a:r>
          </a:p>
        </p:txBody>
      </p:sp>
      <p:sp>
        <p:nvSpPr>
          <p:cNvPr id="67" name="TextBox 67"/>
          <p:cNvSpPr txBox="1"/>
          <p:nvPr/>
        </p:nvSpPr>
        <p:spPr>
          <a:xfrm>
            <a:off x="1799032" y="5934136"/>
            <a:ext cx="2988769" cy="2595380"/>
          </a:xfrm>
          <a:prstGeom prst="rect">
            <a:avLst/>
          </a:prstGeom>
        </p:spPr>
        <p:txBody>
          <a:bodyPr lIns="0" tIns="0" rIns="0" bIns="0" rtlCol="0" anchor="t">
            <a:spAutoFit/>
          </a:bodyPr>
          <a:lstStyle/>
          <a:p>
            <a:pPr algn="just">
              <a:lnSpc>
                <a:spcPts val="2620"/>
              </a:lnSpc>
            </a:pPr>
            <a:r>
              <a:rPr lang="en-US" sz="1871">
                <a:solidFill>
                  <a:srgbClr val="30292F"/>
                </a:solidFill>
                <a:latin typeface="Inter"/>
                <a:ea typeface="Inter"/>
                <a:cs typeface="Inter"/>
                <a:sym typeface="Inter"/>
              </a:rPr>
              <a:t>Framework web basé sur MVT(Model-View-Template). Permet de structurer l’application de manière claire:modèles pour la base, vues pour la logique métier, templates pour l’interface </a:t>
            </a:r>
          </a:p>
        </p:txBody>
      </p:sp>
      <p:sp>
        <p:nvSpPr>
          <p:cNvPr id="68" name="TextBox 68"/>
          <p:cNvSpPr txBox="1"/>
          <p:nvPr/>
        </p:nvSpPr>
        <p:spPr>
          <a:xfrm>
            <a:off x="1727345" y="3941255"/>
            <a:ext cx="3132143" cy="1145272"/>
          </a:xfrm>
          <a:prstGeom prst="rect">
            <a:avLst/>
          </a:prstGeom>
        </p:spPr>
        <p:txBody>
          <a:bodyPr lIns="0" tIns="0" rIns="0" bIns="0" rtlCol="0" anchor="t">
            <a:spAutoFit/>
          </a:bodyPr>
          <a:lstStyle/>
          <a:p>
            <a:pPr algn="ctr">
              <a:lnSpc>
                <a:spcPts val="4599"/>
              </a:lnSpc>
            </a:pPr>
            <a:r>
              <a:rPr lang="en-US" sz="3285" b="1">
                <a:solidFill>
                  <a:srgbClr val="FFFFFF"/>
                </a:solidFill>
                <a:latin typeface="Inter Bold"/>
                <a:ea typeface="Inter Bold"/>
                <a:cs typeface="Inter Bold"/>
                <a:sym typeface="Inter Bold"/>
              </a:rPr>
              <a:t>Django (Python)</a:t>
            </a:r>
          </a:p>
        </p:txBody>
      </p:sp>
      <p:sp>
        <p:nvSpPr>
          <p:cNvPr id="69" name="TextBox 69"/>
          <p:cNvSpPr txBox="1"/>
          <p:nvPr/>
        </p:nvSpPr>
        <p:spPr>
          <a:xfrm>
            <a:off x="3852457" y="85725"/>
            <a:ext cx="9947674" cy="2623048"/>
          </a:xfrm>
          <a:prstGeom prst="rect">
            <a:avLst/>
          </a:prstGeom>
        </p:spPr>
        <p:txBody>
          <a:bodyPr lIns="0" tIns="0" rIns="0" bIns="0" rtlCol="0" anchor="t">
            <a:spAutoFit/>
          </a:bodyPr>
          <a:lstStyle/>
          <a:p>
            <a:pPr algn="ctr">
              <a:lnSpc>
                <a:spcPts val="10218"/>
              </a:lnSpc>
            </a:pPr>
            <a:r>
              <a:rPr lang="en-US" sz="9289" spc="-92">
                <a:solidFill>
                  <a:srgbClr val="30292F"/>
                </a:solidFill>
                <a:latin typeface="Playfair Display"/>
                <a:ea typeface="Playfair Display"/>
                <a:cs typeface="Playfair Display"/>
                <a:sym typeface="Playfair Display"/>
              </a:rPr>
              <a:t>Technologies utilisées-Backend</a:t>
            </a:r>
          </a:p>
        </p:txBody>
      </p:sp>
      <p:sp>
        <p:nvSpPr>
          <p:cNvPr id="70" name="TextBox 70"/>
          <p:cNvSpPr txBox="1"/>
          <p:nvPr/>
        </p:nvSpPr>
        <p:spPr>
          <a:xfrm>
            <a:off x="1725462"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Open Sans"/>
                <a:ea typeface="Open Sans"/>
                <a:cs typeface="Open Sans"/>
                <a:sym typeface="Open Sans"/>
              </a:rPr>
              <a:t>6</a:t>
            </a:r>
          </a:p>
        </p:txBody>
      </p:sp>
      <p:sp>
        <p:nvSpPr>
          <p:cNvPr id="71" name="Freeform 6">
            <a:extLst>
              <a:ext uri="{FF2B5EF4-FFF2-40B4-BE49-F238E27FC236}">
                <a16:creationId xmlns:a16="http://schemas.microsoft.com/office/drawing/2014/main" id="{1369EF23-487D-BAAF-4852-928C63961195}"/>
              </a:ext>
            </a:extLst>
          </p:cNvPr>
          <p:cNvSpPr/>
          <p:nvPr/>
        </p:nvSpPr>
        <p:spPr>
          <a:xfrm>
            <a:off x="16916400" y="8929655"/>
            <a:ext cx="870158" cy="762063"/>
          </a:xfrm>
          <a:custGeom>
            <a:avLst/>
            <a:gdLst/>
            <a:ahLst/>
            <a:cxnLst/>
            <a:rect l="l" t="t" r="r" b="b"/>
            <a:pathLst>
              <a:path w="229177" h="200708">
                <a:moveTo>
                  <a:pt x="0" y="0"/>
                </a:moveTo>
                <a:lnTo>
                  <a:pt x="229177" y="0"/>
                </a:lnTo>
                <a:lnTo>
                  <a:pt x="229177" y="200708"/>
                </a:lnTo>
                <a:lnTo>
                  <a:pt x="0" y="200708"/>
                </a:lnTo>
                <a:close/>
              </a:path>
            </a:pathLst>
          </a:custGeom>
          <a:solidFill>
            <a:srgbClr val="269649"/>
          </a:solidFill>
        </p:spPr>
        <p:txBody>
          <a:bodyPr/>
          <a:lstStyle/>
          <a:p>
            <a:r>
              <a:rPr lang="en-US" sz="3200" b="1" dirty="0">
                <a:solidFill>
                  <a:srgbClr val="FAFAFA"/>
                </a:solidFill>
                <a:latin typeface="Codec Pro Bold"/>
                <a:ea typeface="Codec Pro Bold"/>
                <a:cs typeface="Codec Pro Bold"/>
                <a:sym typeface="Codec Pro Bold"/>
              </a:rPr>
              <a:t>05</a:t>
            </a:r>
            <a:endParaRPr lang="fr-MA" sz="3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334536" y="5053190"/>
            <a:ext cx="3228002" cy="3733998"/>
            <a:chOff x="0" y="0"/>
            <a:chExt cx="833654" cy="964331"/>
          </a:xfrm>
        </p:grpSpPr>
        <p:sp>
          <p:nvSpPr>
            <p:cNvPr id="3" name="Freeform 3"/>
            <p:cNvSpPr/>
            <p:nvPr/>
          </p:nvSpPr>
          <p:spPr>
            <a:xfrm>
              <a:off x="0" y="0"/>
              <a:ext cx="833654" cy="964331"/>
            </a:xfrm>
            <a:custGeom>
              <a:avLst/>
              <a:gdLst/>
              <a:ahLst/>
              <a:cxnLst/>
              <a:rect l="l" t="t" r="r" b="b"/>
              <a:pathLst>
                <a:path w="833654" h="964331">
                  <a:moveTo>
                    <a:pt x="76748" y="0"/>
                  </a:moveTo>
                  <a:lnTo>
                    <a:pt x="756907" y="0"/>
                  </a:lnTo>
                  <a:cubicBezTo>
                    <a:pt x="777261" y="0"/>
                    <a:pt x="796782" y="8086"/>
                    <a:pt x="811175" y="22479"/>
                  </a:cubicBezTo>
                  <a:cubicBezTo>
                    <a:pt x="825568" y="36872"/>
                    <a:pt x="833654" y="56393"/>
                    <a:pt x="833654" y="76748"/>
                  </a:cubicBezTo>
                  <a:lnTo>
                    <a:pt x="833654" y="887584"/>
                  </a:lnTo>
                  <a:cubicBezTo>
                    <a:pt x="833654" y="929970"/>
                    <a:pt x="799293" y="964331"/>
                    <a:pt x="756907" y="964331"/>
                  </a:cubicBezTo>
                  <a:lnTo>
                    <a:pt x="76748" y="964331"/>
                  </a:lnTo>
                  <a:cubicBezTo>
                    <a:pt x="34361" y="964331"/>
                    <a:pt x="0" y="929970"/>
                    <a:pt x="0" y="887584"/>
                  </a:cubicBezTo>
                  <a:lnTo>
                    <a:pt x="0" y="76748"/>
                  </a:lnTo>
                  <a:cubicBezTo>
                    <a:pt x="0" y="34361"/>
                    <a:pt x="34361" y="0"/>
                    <a:pt x="76748" y="0"/>
                  </a:cubicBezTo>
                  <a:close/>
                </a:path>
              </a:pathLst>
            </a:custGeom>
            <a:solidFill>
              <a:srgbClr val="F8F5F1"/>
            </a:solidFill>
          </p:spPr>
          <p:txBody>
            <a:bodyPr/>
            <a:lstStyle/>
            <a:p>
              <a:endParaRPr lang="fr-MA"/>
            </a:p>
          </p:txBody>
        </p:sp>
        <p:sp>
          <p:nvSpPr>
            <p:cNvPr id="4" name="TextBox 4"/>
            <p:cNvSpPr txBox="1"/>
            <p:nvPr/>
          </p:nvSpPr>
          <p:spPr>
            <a:xfrm>
              <a:off x="0" y="-28575"/>
              <a:ext cx="833654" cy="992906"/>
            </a:xfrm>
            <a:prstGeom prst="rect">
              <a:avLst/>
            </a:prstGeom>
          </p:spPr>
          <p:txBody>
            <a:bodyPr lIns="98748" tIns="98748" rIns="98748" bIns="98748" rtlCol="0" anchor="ctr"/>
            <a:lstStyle/>
            <a:p>
              <a:pPr algn="ctr">
                <a:lnSpc>
                  <a:spcPts val="1639"/>
                </a:lnSpc>
              </a:pPr>
              <a:endParaRPr/>
            </a:p>
          </p:txBody>
        </p:sp>
      </p:grpSp>
      <p:grpSp>
        <p:nvGrpSpPr>
          <p:cNvPr id="5" name="Group 5"/>
          <p:cNvGrpSpPr/>
          <p:nvPr/>
        </p:nvGrpSpPr>
        <p:grpSpPr>
          <a:xfrm>
            <a:off x="13332653" y="3176335"/>
            <a:ext cx="3231768" cy="2089859"/>
            <a:chOff x="0" y="0"/>
            <a:chExt cx="4309024" cy="2786479"/>
          </a:xfrm>
        </p:grpSpPr>
        <p:grpSp>
          <p:nvGrpSpPr>
            <p:cNvPr id="6" name="Group 6"/>
            <p:cNvGrpSpPr/>
            <p:nvPr/>
          </p:nvGrpSpPr>
          <p:grpSpPr>
            <a:xfrm>
              <a:off x="0" y="0"/>
              <a:ext cx="4306513" cy="2761079"/>
              <a:chOff x="0" y="0"/>
              <a:chExt cx="850669" cy="545398"/>
            </a:xfrm>
          </p:grpSpPr>
          <p:sp>
            <p:nvSpPr>
              <p:cNvPr id="7" name="Freeform 7"/>
              <p:cNvSpPr/>
              <p:nvPr/>
            </p:nvSpPr>
            <p:spPr>
              <a:xfrm>
                <a:off x="0" y="0"/>
                <a:ext cx="850669" cy="545398"/>
              </a:xfrm>
              <a:custGeom>
                <a:avLst/>
                <a:gdLst/>
                <a:ahLst/>
                <a:cxnLst/>
                <a:rect l="l" t="t" r="r" b="b"/>
                <a:pathLst>
                  <a:path w="850669" h="545398">
                    <a:moveTo>
                      <a:pt x="23970" y="0"/>
                    </a:moveTo>
                    <a:lnTo>
                      <a:pt x="826700" y="0"/>
                    </a:lnTo>
                    <a:cubicBezTo>
                      <a:pt x="839938" y="0"/>
                      <a:pt x="850669" y="10732"/>
                      <a:pt x="850669" y="23970"/>
                    </a:cubicBezTo>
                    <a:lnTo>
                      <a:pt x="850669" y="521429"/>
                    </a:lnTo>
                    <a:cubicBezTo>
                      <a:pt x="850669" y="527786"/>
                      <a:pt x="848144" y="533883"/>
                      <a:pt x="843649" y="538378"/>
                    </a:cubicBezTo>
                    <a:cubicBezTo>
                      <a:pt x="839154" y="542873"/>
                      <a:pt x="833057" y="545398"/>
                      <a:pt x="826700" y="545398"/>
                    </a:cubicBezTo>
                    <a:lnTo>
                      <a:pt x="23970" y="545398"/>
                    </a:lnTo>
                    <a:cubicBezTo>
                      <a:pt x="10732" y="545398"/>
                      <a:pt x="0" y="534667"/>
                      <a:pt x="0" y="521429"/>
                    </a:cubicBezTo>
                    <a:lnTo>
                      <a:pt x="0" y="23970"/>
                    </a:lnTo>
                    <a:cubicBezTo>
                      <a:pt x="0" y="10732"/>
                      <a:pt x="10732" y="0"/>
                      <a:pt x="23970" y="0"/>
                    </a:cubicBezTo>
                    <a:close/>
                  </a:path>
                </a:pathLst>
              </a:custGeom>
              <a:solidFill>
                <a:srgbClr val="214159"/>
              </a:solidFill>
            </p:spPr>
            <p:txBody>
              <a:bodyPr/>
              <a:lstStyle/>
              <a:p>
                <a:endParaRPr lang="fr-MA"/>
              </a:p>
            </p:txBody>
          </p:sp>
          <p:sp>
            <p:nvSpPr>
              <p:cNvPr id="8" name="TextBox 8"/>
              <p:cNvSpPr txBox="1"/>
              <p:nvPr/>
            </p:nvSpPr>
            <p:spPr>
              <a:xfrm>
                <a:off x="0" y="-38100"/>
                <a:ext cx="850669" cy="583498"/>
              </a:xfrm>
              <a:prstGeom prst="rect">
                <a:avLst/>
              </a:prstGeom>
            </p:spPr>
            <p:txBody>
              <a:bodyPr lIns="50800" tIns="50800" rIns="50800" bIns="50800" rtlCol="0" anchor="ctr"/>
              <a:lstStyle/>
              <a:p>
                <a:pPr algn="ctr">
                  <a:lnSpc>
                    <a:spcPts val="2799"/>
                  </a:lnSpc>
                  <a:spcBef>
                    <a:spcPct val="0"/>
                  </a:spcBef>
                </a:pPr>
                <a:endParaRPr/>
              </a:p>
            </p:txBody>
          </p:sp>
        </p:grpSp>
        <p:grpSp>
          <p:nvGrpSpPr>
            <p:cNvPr id="9" name="Group 9"/>
            <p:cNvGrpSpPr/>
            <p:nvPr/>
          </p:nvGrpSpPr>
          <p:grpSpPr>
            <a:xfrm>
              <a:off x="2510" y="1496143"/>
              <a:ext cx="4306513" cy="1290336"/>
              <a:chOff x="0" y="0"/>
              <a:chExt cx="850669" cy="254881"/>
            </a:xfrm>
          </p:grpSpPr>
          <p:sp>
            <p:nvSpPr>
              <p:cNvPr id="10" name="Freeform 10"/>
              <p:cNvSpPr/>
              <p:nvPr/>
            </p:nvSpPr>
            <p:spPr>
              <a:xfrm>
                <a:off x="0" y="0"/>
                <a:ext cx="850669" cy="254881"/>
              </a:xfrm>
              <a:custGeom>
                <a:avLst/>
                <a:gdLst/>
                <a:ahLst/>
                <a:cxnLst/>
                <a:rect l="l" t="t" r="r" b="b"/>
                <a:pathLst>
                  <a:path w="850669" h="254881">
                    <a:moveTo>
                      <a:pt x="0" y="0"/>
                    </a:moveTo>
                    <a:lnTo>
                      <a:pt x="850669" y="0"/>
                    </a:lnTo>
                    <a:lnTo>
                      <a:pt x="850669" y="254881"/>
                    </a:lnTo>
                    <a:lnTo>
                      <a:pt x="0" y="254881"/>
                    </a:lnTo>
                    <a:close/>
                  </a:path>
                </a:pathLst>
              </a:custGeom>
              <a:solidFill>
                <a:srgbClr val="214159"/>
              </a:solidFill>
            </p:spPr>
            <p:txBody>
              <a:bodyPr/>
              <a:lstStyle/>
              <a:p>
                <a:endParaRPr lang="fr-MA"/>
              </a:p>
            </p:txBody>
          </p:sp>
          <p:sp>
            <p:nvSpPr>
              <p:cNvPr id="11" name="TextBox 11"/>
              <p:cNvSpPr txBox="1"/>
              <p:nvPr/>
            </p:nvSpPr>
            <p:spPr>
              <a:xfrm>
                <a:off x="0" y="-38100"/>
                <a:ext cx="850669" cy="292981"/>
              </a:xfrm>
              <a:prstGeom prst="rect">
                <a:avLst/>
              </a:prstGeom>
            </p:spPr>
            <p:txBody>
              <a:bodyPr lIns="50800" tIns="50800" rIns="50800" bIns="50800" rtlCol="0" anchor="ctr"/>
              <a:lstStyle/>
              <a:p>
                <a:pPr algn="ctr">
                  <a:lnSpc>
                    <a:spcPts val="2799"/>
                  </a:lnSpc>
                  <a:spcBef>
                    <a:spcPct val="0"/>
                  </a:spcBef>
                </a:pPr>
                <a:endParaRPr/>
              </a:p>
            </p:txBody>
          </p:sp>
        </p:grpSp>
      </p:grpSp>
      <p:grpSp>
        <p:nvGrpSpPr>
          <p:cNvPr id="12" name="Group 12"/>
          <p:cNvGrpSpPr/>
          <p:nvPr/>
        </p:nvGrpSpPr>
        <p:grpSpPr>
          <a:xfrm>
            <a:off x="13375589" y="3176335"/>
            <a:ext cx="3229885" cy="5610852"/>
            <a:chOff x="0" y="0"/>
            <a:chExt cx="1229579" cy="2135985"/>
          </a:xfrm>
        </p:grpSpPr>
        <p:sp>
          <p:nvSpPr>
            <p:cNvPr id="13" name="Freeform 13"/>
            <p:cNvSpPr/>
            <p:nvPr/>
          </p:nvSpPr>
          <p:spPr>
            <a:xfrm>
              <a:off x="0" y="0"/>
              <a:ext cx="1229579" cy="2135985"/>
            </a:xfrm>
            <a:custGeom>
              <a:avLst/>
              <a:gdLst/>
              <a:ahLst/>
              <a:cxnLst/>
              <a:rect l="l" t="t" r="r" b="b"/>
              <a:pathLst>
                <a:path w="1229579" h="2135985">
                  <a:moveTo>
                    <a:pt x="23970" y="0"/>
                  </a:moveTo>
                  <a:lnTo>
                    <a:pt x="1205609" y="0"/>
                  </a:lnTo>
                  <a:cubicBezTo>
                    <a:pt x="1218847" y="0"/>
                    <a:pt x="1229579" y="10732"/>
                    <a:pt x="1229579" y="23970"/>
                  </a:cubicBezTo>
                  <a:lnTo>
                    <a:pt x="1229579" y="2112015"/>
                  </a:lnTo>
                  <a:cubicBezTo>
                    <a:pt x="1229579" y="2125253"/>
                    <a:pt x="1218847" y="2135985"/>
                    <a:pt x="1205609" y="2135985"/>
                  </a:cubicBezTo>
                  <a:lnTo>
                    <a:pt x="23970" y="2135985"/>
                  </a:lnTo>
                  <a:cubicBezTo>
                    <a:pt x="10732" y="2135985"/>
                    <a:pt x="0" y="2125253"/>
                    <a:pt x="0" y="2112015"/>
                  </a:cubicBezTo>
                  <a:lnTo>
                    <a:pt x="0" y="23970"/>
                  </a:lnTo>
                  <a:cubicBezTo>
                    <a:pt x="0" y="10732"/>
                    <a:pt x="10732" y="0"/>
                    <a:pt x="23970" y="0"/>
                  </a:cubicBezTo>
                  <a:close/>
                </a:path>
              </a:pathLst>
            </a:custGeom>
            <a:ln w="19050" cap="sq">
              <a:solidFill>
                <a:srgbClr val="30292F"/>
              </a:solidFill>
              <a:prstDash val="solid"/>
              <a:miter/>
            </a:ln>
          </p:spPr>
          <p:txBody>
            <a:bodyPr/>
            <a:lstStyle/>
            <a:p>
              <a:endParaRPr lang="fr-MA"/>
            </a:p>
          </p:txBody>
        </p:sp>
        <p:sp>
          <p:nvSpPr>
            <p:cNvPr id="14" name="TextBox 14"/>
            <p:cNvSpPr txBox="1"/>
            <p:nvPr/>
          </p:nvSpPr>
          <p:spPr>
            <a:xfrm>
              <a:off x="0" y="-38100"/>
              <a:ext cx="1229579" cy="2174085"/>
            </a:xfrm>
            <a:prstGeom prst="rect">
              <a:avLst/>
            </a:prstGeom>
          </p:spPr>
          <p:txBody>
            <a:bodyPr lIns="33859" tIns="33859" rIns="33859" bIns="33859" rtlCol="0" anchor="ctr"/>
            <a:lstStyle/>
            <a:p>
              <a:pPr algn="ctr">
                <a:lnSpc>
                  <a:spcPts val="2775"/>
                </a:lnSpc>
              </a:pPr>
              <a:endParaRPr/>
            </a:p>
          </p:txBody>
        </p:sp>
      </p:grpSp>
      <p:grpSp>
        <p:nvGrpSpPr>
          <p:cNvPr id="15" name="Group 15"/>
          <p:cNvGrpSpPr/>
          <p:nvPr/>
        </p:nvGrpSpPr>
        <p:grpSpPr>
          <a:xfrm>
            <a:off x="9465472" y="5053190"/>
            <a:ext cx="3228002" cy="3733998"/>
            <a:chOff x="0" y="0"/>
            <a:chExt cx="833654" cy="964331"/>
          </a:xfrm>
        </p:grpSpPr>
        <p:sp>
          <p:nvSpPr>
            <p:cNvPr id="16" name="Freeform 16"/>
            <p:cNvSpPr/>
            <p:nvPr/>
          </p:nvSpPr>
          <p:spPr>
            <a:xfrm>
              <a:off x="0" y="0"/>
              <a:ext cx="833654" cy="964331"/>
            </a:xfrm>
            <a:custGeom>
              <a:avLst/>
              <a:gdLst/>
              <a:ahLst/>
              <a:cxnLst/>
              <a:rect l="l" t="t" r="r" b="b"/>
              <a:pathLst>
                <a:path w="833654" h="964331">
                  <a:moveTo>
                    <a:pt x="76748" y="0"/>
                  </a:moveTo>
                  <a:lnTo>
                    <a:pt x="756907" y="0"/>
                  </a:lnTo>
                  <a:cubicBezTo>
                    <a:pt x="777261" y="0"/>
                    <a:pt x="796782" y="8086"/>
                    <a:pt x="811175" y="22479"/>
                  </a:cubicBezTo>
                  <a:cubicBezTo>
                    <a:pt x="825568" y="36872"/>
                    <a:pt x="833654" y="56393"/>
                    <a:pt x="833654" y="76748"/>
                  </a:cubicBezTo>
                  <a:lnTo>
                    <a:pt x="833654" y="887584"/>
                  </a:lnTo>
                  <a:cubicBezTo>
                    <a:pt x="833654" y="929970"/>
                    <a:pt x="799293" y="964331"/>
                    <a:pt x="756907" y="964331"/>
                  </a:cubicBezTo>
                  <a:lnTo>
                    <a:pt x="76748" y="964331"/>
                  </a:lnTo>
                  <a:cubicBezTo>
                    <a:pt x="34361" y="964331"/>
                    <a:pt x="0" y="929970"/>
                    <a:pt x="0" y="887584"/>
                  </a:cubicBezTo>
                  <a:lnTo>
                    <a:pt x="0" y="76748"/>
                  </a:lnTo>
                  <a:cubicBezTo>
                    <a:pt x="0" y="34361"/>
                    <a:pt x="34361" y="0"/>
                    <a:pt x="76748" y="0"/>
                  </a:cubicBezTo>
                  <a:close/>
                </a:path>
              </a:pathLst>
            </a:custGeom>
            <a:solidFill>
              <a:srgbClr val="F8F5F1"/>
            </a:solidFill>
          </p:spPr>
          <p:txBody>
            <a:bodyPr/>
            <a:lstStyle/>
            <a:p>
              <a:endParaRPr lang="fr-MA"/>
            </a:p>
          </p:txBody>
        </p:sp>
        <p:sp>
          <p:nvSpPr>
            <p:cNvPr id="17" name="TextBox 17"/>
            <p:cNvSpPr txBox="1"/>
            <p:nvPr/>
          </p:nvSpPr>
          <p:spPr>
            <a:xfrm>
              <a:off x="0" y="-28575"/>
              <a:ext cx="833654" cy="992906"/>
            </a:xfrm>
            <a:prstGeom prst="rect">
              <a:avLst/>
            </a:prstGeom>
          </p:spPr>
          <p:txBody>
            <a:bodyPr lIns="98748" tIns="98748" rIns="98748" bIns="98748" rtlCol="0" anchor="ctr"/>
            <a:lstStyle/>
            <a:p>
              <a:pPr algn="ctr">
                <a:lnSpc>
                  <a:spcPts val="1639"/>
                </a:lnSpc>
              </a:pPr>
              <a:endParaRPr/>
            </a:p>
          </p:txBody>
        </p:sp>
      </p:grpSp>
      <p:grpSp>
        <p:nvGrpSpPr>
          <p:cNvPr id="18" name="Group 18"/>
          <p:cNvGrpSpPr/>
          <p:nvPr/>
        </p:nvGrpSpPr>
        <p:grpSpPr>
          <a:xfrm>
            <a:off x="9463589" y="3176335"/>
            <a:ext cx="3231768" cy="2089859"/>
            <a:chOff x="0" y="0"/>
            <a:chExt cx="4309024" cy="2786479"/>
          </a:xfrm>
        </p:grpSpPr>
        <p:grpSp>
          <p:nvGrpSpPr>
            <p:cNvPr id="19" name="Group 19"/>
            <p:cNvGrpSpPr/>
            <p:nvPr/>
          </p:nvGrpSpPr>
          <p:grpSpPr>
            <a:xfrm>
              <a:off x="0" y="0"/>
              <a:ext cx="4306513" cy="2761079"/>
              <a:chOff x="0" y="0"/>
              <a:chExt cx="850669" cy="545398"/>
            </a:xfrm>
          </p:grpSpPr>
          <p:sp>
            <p:nvSpPr>
              <p:cNvPr id="20" name="Freeform 20"/>
              <p:cNvSpPr/>
              <p:nvPr/>
            </p:nvSpPr>
            <p:spPr>
              <a:xfrm>
                <a:off x="0" y="0"/>
                <a:ext cx="850669" cy="545398"/>
              </a:xfrm>
              <a:custGeom>
                <a:avLst/>
                <a:gdLst/>
                <a:ahLst/>
                <a:cxnLst/>
                <a:rect l="l" t="t" r="r" b="b"/>
                <a:pathLst>
                  <a:path w="850669" h="545398">
                    <a:moveTo>
                      <a:pt x="23970" y="0"/>
                    </a:moveTo>
                    <a:lnTo>
                      <a:pt x="826700" y="0"/>
                    </a:lnTo>
                    <a:cubicBezTo>
                      <a:pt x="839938" y="0"/>
                      <a:pt x="850669" y="10732"/>
                      <a:pt x="850669" y="23970"/>
                    </a:cubicBezTo>
                    <a:lnTo>
                      <a:pt x="850669" y="521429"/>
                    </a:lnTo>
                    <a:cubicBezTo>
                      <a:pt x="850669" y="527786"/>
                      <a:pt x="848144" y="533883"/>
                      <a:pt x="843649" y="538378"/>
                    </a:cubicBezTo>
                    <a:cubicBezTo>
                      <a:pt x="839154" y="542873"/>
                      <a:pt x="833057" y="545398"/>
                      <a:pt x="826700" y="545398"/>
                    </a:cubicBezTo>
                    <a:lnTo>
                      <a:pt x="23970" y="545398"/>
                    </a:lnTo>
                    <a:cubicBezTo>
                      <a:pt x="10732" y="545398"/>
                      <a:pt x="0" y="534667"/>
                      <a:pt x="0" y="521429"/>
                    </a:cubicBezTo>
                    <a:lnTo>
                      <a:pt x="0" y="23970"/>
                    </a:lnTo>
                    <a:cubicBezTo>
                      <a:pt x="0" y="10732"/>
                      <a:pt x="10732" y="0"/>
                      <a:pt x="23970" y="0"/>
                    </a:cubicBezTo>
                    <a:close/>
                  </a:path>
                </a:pathLst>
              </a:custGeom>
              <a:solidFill>
                <a:srgbClr val="376C95"/>
              </a:solidFill>
            </p:spPr>
            <p:txBody>
              <a:bodyPr/>
              <a:lstStyle/>
              <a:p>
                <a:endParaRPr lang="fr-MA"/>
              </a:p>
            </p:txBody>
          </p:sp>
          <p:sp>
            <p:nvSpPr>
              <p:cNvPr id="21" name="TextBox 21"/>
              <p:cNvSpPr txBox="1"/>
              <p:nvPr/>
            </p:nvSpPr>
            <p:spPr>
              <a:xfrm>
                <a:off x="0" y="-38100"/>
                <a:ext cx="850669" cy="583498"/>
              </a:xfrm>
              <a:prstGeom prst="rect">
                <a:avLst/>
              </a:prstGeom>
            </p:spPr>
            <p:txBody>
              <a:bodyPr lIns="50800" tIns="50800" rIns="50800" bIns="50800" rtlCol="0" anchor="ctr"/>
              <a:lstStyle/>
              <a:p>
                <a:pPr algn="ctr">
                  <a:lnSpc>
                    <a:spcPts val="2799"/>
                  </a:lnSpc>
                  <a:spcBef>
                    <a:spcPct val="0"/>
                  </a:spcBef>
                </a:pPr>
                <a:endParaRPr/>
              </a:p>
            </p:txBody>
          </p:sp>
        </p:grpSp>
        <p:grpSp>
          <p:nvGrpSpPr>
            <p:cNvPr id="22" name="Group 22"/>
            <p:cNvGrpSpPr/>
            <p:nvPr/>
          </p:nvGrpSpPr>
          <p:grpSpPr>
            <a:xfrm>
              <a:off x="2510" y="1496143"/>
              <a:ext cx="4306513" cy="1290336"/>
              <a:chOff x="0" y="0"/>
              <a:chExt cx="850669" cy="254881"/>
            </a:xfrm>
          </p:grpSpPr>
          <p:sp>
            <p:nvSpPr>
              <p:cNvPr id="23" name="Freeform 23"/>
              <p:cNvSpPr/>
              <p:nvPr/>
            </p:nvSpPr>
            <p:spPr>
              <a:xfrm>
                <a:off x="0" y="0"/>
                <a:ext cx="850669" cy="254881"/>
              </a:xfrm>
              <a:custGeom>
                <a:avLst/>
                <a:gdLst/>
                <a:ahLst/>
                <a:cxnLst/>
                <a:rect l="l" t="t" r="r" b="b"/>
                <a:pathLst>
                  <a:path w="850669" h="254881">
                    <a:moveTo>
                      <a:pt x="0" y="0"/>
                    </a:moveTo>
                    <a:lnTo>
                      <a:pt x="850669" y="0"/>
                    </a:lnTo>
                    <a:lnTo>
                      <a:pt x="850669" y="254881"/>
                    </a:lnTo>
                    <a:lnTo>
                      <a:pt x="0" y="254881"/>
                    </a:lnTo>
                    <a:close/>
                  </a:path>
                </a:pathLst>
              </a:custGeom>
              <a:solidFill>
                <a:srgbClr val="376C95"/>
              </a:solidFill>
            </p:spPr>
            <p:txBody>
              <a:bodyPr/>
              <a:lstStyle/>
              <a:p>
                <a:endParaRPr lang="fr-MA"/>
              </a:p>
            </p:txBody>
          </p:sp>
          <p:sp>
            <p:nvSpPr>
              <p:cNvPr id="24" name="TextBox 24"/>
              <p:cNvSpPr txBox="1"/>
              <p:nvPr/>
            </p:nvSpPr>
            <p:spPr>
              <a:xfrm>
                <a:off x="0" y="-38100"/>
                <a:ext cx="850669" cy="292981"/>
              </a:xfrm>
              <a:prstGeom prst="rect">
                <a:avLst/>
              </a:prstGeom>
            </p:spPr>
            <p:txBody>
              <a:bodyPr lIns="50800" tIns="50800" rIns="50800" bIns="50800" rtlCol="0" anchor="ctr"/>
              <a:lstStyle/>
              <a:p>
                <a:pPr algn="ctr">
                  <a:lnSpc>
                    <a:spcPts val="2799"/>
                  </a:lnSpc>
                  <a:spcBef>
                    <a:spcPct val="0"/>
                  </a:spcBef>
                </a:pPr>
                <a:endParaRPr/>
              </a:p>
            </p:txBody>
          </p:sp>
        </p:grpSp>
      </p:grpSp>
      <p:grpSp>
        <p:nvGrpSpPr>
          <p:cNvPr id="25" name="Group 25"/>
          <p:cNvGrpSpPr/>
          <p:nvPr/>
        </p:nvGrpSpPr>
        <p:grpSpPr>
          <a:xfrm>
            <a:off x="9463589" y="3176335"/>
            <a:ext cx="3229885" cy="5610852"/>
            <a:chOff x="0" y="0"/>
            <a:chExt cx="1229579" cy="2135985"/>
          </a:xfrm>
        </p:grpSpPr>
        <p:sp>
          <p:nvSpPr>
            <p:cNvPr id="26" name="Freeform 26"/>
            <p:cNvSpPr/>
            <p:nvPr/>
          </p:nvSpPr>
          <p:spPr>
            <a:xfrm>
              <a:off x="0" y="0"/>
              <a:ext cx="1229579" cy="2135985"/>
            </a:xfrm>
            <a:custGeom>
              <a:avLst/>
              <a:gdLst/>
              <a:ahLst/>
              <a:cxnLst/>
              <a:rect l="l" t="t" r="r" b="b"/>
              <a:pathLst>
                <a:path w="1229579" h="2135985">
                  <a:moveTo>
                    <a:pt x="23970" y="0"/>
                  </a:moveTo>
                  <a:lnTo>
                    <a:pt x="1205609" y="0"/>
                  </a:lnTo>
                  <a:cubicBezTo>
                    <a:pt x="1218847" y="0"/>
                    <a:pt x="1229579" y="10732"/>
                    <a:pt x="1229579" y="23970"/>
                  </a:cubicBezTo>
                  <a:lnTo>
                    <a:pt x="1229579" y="2112015"/>
                  </a:lnTo>
                  <a:cubicBezTo>
                    <a:pt x="1229579" y="2125253"/>
                    <a:pt x="1218847" y="2135985"/>
                    <a:pt x="1205609" y="2135985"/>
                  </a:cubicBezTo>
                  <a:lnTo>
                    <a:pt x="23970" y="2135985"/>
                  </a:lnTo>
                  <a:cubicBezTo>
                    <a:pt x="10732" y="2135985"/>
                    <a:pt x="0" y="2125253"/>
                    <a:pt x="0" y="2112015"/>
                  </a:cubicBezTo>
                  <a:lnTo>
                    <a:pt x="0" y="23970"/>
                  </a:lnTo>
                  <a:cubicBezTo>
                    <a:pt x="0" y="10732"/>
                    <a:pt x="10732" y="0"/>
                    <a:pt x="23970" y="0"/>
                  </a:cubicBezTo>
                  <a:close/>
                </a:path>
              </a:pathLst>
            </a:custGeom>
            <a:ln w="19050" cap="sq">
              <a:solidFill>
                <a:srgbClr val="30292F"/>
              </a:solidFill>
              <a:prstDash val="solid"/>
              <a:miter/>
            </a:ln>
          </p:spPr>
          <p:txBody>
            <a:bodyPr/>
            <a:lstStyle/>
            <a:p>
              <a:endParaRPr lang="fr-MA"/>
            </a:p>
          </p:txBody>
        </p:sp>
        <p:sp>
          <p:nvSpPr>
            <p:cNvPr id="27" name="TextBox 27"/>
            <p:cNvSpPr txBox="1"/>
            <p:nvPr/>
          </p:nvSpPr>
          <p:spPr>
            <a:xfrm>
              <a:off x="0" y="-38100"/>
              <a:ext cx="1229579" cy="2174085"/>
            </a:xfrm>
            <a:prstGeom prst="rect">
              <a:avLst/>
            </a:prstGeom>
          </p:spPr>
          <p:txBody>
            <a:bodyPr lIns="33859" tIns="33859" rIns="33859" bIns="33859" rtlCol="0" anchor="ctr"/>
            <a:lstStyle/>
            <a:p>
              <a:pPr algn="ctr">
                <a:lnSpc>
                  <a:spcPts val="2775"/>
                </a:lnSpc>
              </a:pPr>
              <a:endParaRPr/>
            </a:p>
          </p:txBody>
        </p:sp>
      </p:grpSp>
      <p:grpSp>
        <p:nvGrpSpPr>
          <p:cNvPr id="28" name="Group 28"/>
          <p:cNvGrpSpPr/>
          <p:nvPr/>
        </p:nvGrpSpPr>
        <p:grpSpPr>
          <a:xfrm>
            <a:off x="5596409" y="5053190"/>
            <a:ext cx="3228002" cy="3733998"/>
            <a:chOff x="0" y="0"/>
            <a:chExt cx="833654" cy="964331"/>
          </a:xfrm>
        </p:grpSpPr>
        <p:sp>
          <p:nvSpPr>
            <p:cNvPr id="29" name="Freeform 29"/>
            <p:cNvSpPr/>
            <p:nvPr/>
          </p:nvSpPr>
          <p:spPr>
            <a:xfrm>
              <a:off x="0" y="0"/>
              <a:ext cx="833654" cy="964331"/>
            </a:xfrm>
            <a:custGeom>
              <a:avLst/>
              <a:gdLst/>
              <a:ahLst/>
              <a:cxnLst/>
              <a:rect l="l" t="t" r="r" b="b"/>
              <a:pathLst>
                <a:path w="833654" h="964331">
                  <a:moveTo>
                    <a:pt x="76748" y="0"/>
                  </a:moveTo>
                  <a:lnTo>
                    <a:pt x="756907" y="0"/>
                  </a:lnTo>
                  <a:cubicBezTo>
                    <a:pt x="777261" y="0"/>
                    <a:pt x="796782" y="8086"/>
                    <a:pt x="811175" y="22479"/>
                  </a:cubicBezTo>
                  <a:cubicBezTo>
                    <a:pt x="825568" y="36872"/>
                    <a:pt x="833654" y="56393"/>
                    <a:pt x="833654" y="76748"/>
                  </a:cubicBezTo>
                  <a:lnTo>
                    <a:pt x="833654" y="887584"/>
                  </a:lnTo>
                  <a:cubicBezTo>
                    <a:pt x="833654" y="929970"/>
                    <a:pt x="799293" y="964331"/>
                    <a:pt x="756907" y="964331"/>
                  </a:cubicBezTo>
                  <a:lnTo>
                    <a:pt x="76748" y="964331"/>
                  </a:lnTo>
                  <a:cubicBezTo>
                    <a:pt x="34361" y="964331"/>
                    <a:pt x="0" y="929970"/>
                    <a:pt x="0" y="887584"/>
                  </a:cubicBezTo>
                  <a:lnTo>
                    <a:pt x="0" y="76748"/>
                  </a:lnTo>
                  <a:cubicBezTo>
                    <a:pt x="0" y="34361"/>
                    <a:pt x="34361" y="0"/>
                    <a:pt x="76748" y="0"/>
                  </a:cubicBezTo>
                  <a:close/>
                </a:path>
              </a:pathLst>
            </a:custGeom>
            <a:solidFill>
              <a:srgbClr val="F8F5F1"/>
            </a:solidFill>
          </p:spPr>
          <p:txBody>
            <a:bodyPr/>
            <a:lstStyle/>
            <a:p>
              <a:endParaRPr lang="fr-MA"/>
            </a:p>
          </p:txBody>
        </p:sp>
        <p:sp>
          <p:nvSpPr>
            <p:cNvPr id="30" name="TextBox 30"/>
            <p:cNvSpPr txBox="1"/>
            <p:nvPr/>
          </p:nvSpPr>
          <p:spPr>
            <a:xfrm>
              <a:off x="0" y="-28575"/>
              <a:ext cx="833654" cy="992906"/>
            </a:xfrm>
            <a:prstGeom prst="rect">
              <a:avLst/>
            </a:prstGeom>
          </p:spPr>
          <p:txBody>
            <a:bodyPr lIns="98748" tIns="98748" rIns="98748" bIns="98748" rtlCol="0" anchor="ctr"/>
            <a:lstStyle/>
            <a:p>
              <a:pPr algn="ctr">
                <a:lnSpc>
                  <a:spcPts val="1639"/>
                </a:lnSpc>
              </a:pPr>
              <a:endParaRPr/>
            </a:p>
          </p:txBody>
        </p:sp>
      </p:grpSp>
      <p:grpSp>
        <p:nvGrpSpPr>
          <p:cNvPr id="31" name="Group 31"/>
          <p:cNvGrpSpPr/>
          <p:nvPr/>
        </p:nvGrpSpPr>
        <p:grpSpPr>
          <a:xfrm>
            <a:off x="5594526" y="3176335"/>
            <a:ext cx="3231768" cy="2089859"/>
            <a:chOff x="0" y="0"/>
            <a:chExt cx="4309024" cy="2786479"/>
          </a:xfrm>
        </p:grpSpPr>
        <p:grpSp>
          <p:nvGrpSpPr>
            <p:cNvPr id="32" name="Group 32"/>
            <p:cNvGrpSpPr/>
            <p:nvPr/>
          </p:nvGrpSpPr>
          <p:grpSpPr>
            <a:xfrm>
              <a:off x="0" y="0"/>
              <a:ext cx="4306513" cy="2761079"/>
              <a:chOff x="0" y="0"/>
              <a:chExt cx="850669" cy="545398"/>
            </a:xfrm>
          </p:grpSpPr>
          <p:sp>
            <p:nvSpPr>
              <p:cNvPr id="33" name="Freeform 33"/>
              <p:cNvSpPr/>
              <p:nvPr/>
            </p:nvSpPr>
            <p:spPr>
              <a:xfrm>
                <a:off x="0" y="0"/>
                <a:ext cx="850669" cy="545398"/>
              </a:xfrm>
              <a:custGeom>
                <a:avLst/>
                <a:gdLst/>
                <a:ahLst/>
                <a:cxnLst/>
                <a:rect l="l" t="t" r="r" b="b"/>
                <a:pathLst>
                  <a:path w="850669" h="545398">
                    <a:moveTo>
                      <a:pt x="23970" y="0"/>
                    </a:moveTo>
                    <a:lnTo>
                      <a:pt x="826700" y="0"/>
                    </a:lnTo>
                    <a:cubicBezTo>
                      <a:pt x="839938" y="0"/>
                      <a:pt x="850669" y="10732"/>
                      <a:pt x="850669" y="23970"/>
                    </a:cubicBezTo>
                    <a:lnTo>
                      <a:pt x="850669" y="521429"/>
                    </a:lnTo>
                    <a:cubicBezTo>
                      <a:pt x="850669" y="527786"/>
                      <a:pt x="848144" y="533883"/>
                      <a:pt x="843649" y="538378"/>
                    </a:cubicBezTo>
                    <a:cubicBezTo>
                      <a:pt x="839154" y="542873"/>
                      <a:pt x="833057" y="545398"/>
                      <a:pt x="826700" y="545398"/>
                    </a:cubicBezTo>
                    <a:lnTo>
                      <a:pt x="23970" y="545398"/>
                    </a:lnTo>
                    <a:cubicBezTo>
                      <a:pt x="10732" y="545398"/>
                      <a:pt x="0" y="534667"/>
                      <a:pt x="0" y="521429"/>
                    </a:cubicBezTo>
                    <a:lnTo>
                      <a:pt x="0" y="23970"/>
                    </a:lnTo>
                    <a:cubicBezTo>
                      <a:pt x="0" y="10732"/>
                      <a:pt x="10732" y="0"/>
                      <a:pt x="23970" y="0"/>
                    </a:cubicBezTo>
                    <a:close/>
                  </a:path>
                </a:pathLst>
              </a:custGeom>
              <a:solidFill>
                <a:srgbClr val="5C96C1"/>
              </a:solidFill>
            </p:spPr>
            <p:txBody>
              <a:bodyPr/>
              <a:lstStyle/>
              <a:p>
                <a:endParaRPr lang="fr-MA"/>
              </a:p>
            </p:txBody>
          </p:sp>
          <p:sp>
            <p:nvSpPr>
              <p:cNvPr id="34" name="TextBox 34"/>
              <p:cNvSpPr txBox="1"/>
              <p:nvPr/>
            </p:nvSpPr>
            <p:spPr>
              <a:xfrm>
                <a:off x="0" y="-38100"/>
                <a:ext cx="850669" cy="583498"/>
              </a:xfrm>
              <a:prstGeom prst="rect">
                <a:avLst/>
              </a:prstGeom>
            </p:spPr>
            <p:txBody>
              <a:bodyPr lIns="50800" tIns="50800" rIns="50800" bIns="50800" rtlCol="0" anchor="ctr"/>
              <a:lstStyle/>
              <a:p>
                <a:pPr algn="ctr">
                  <a:lnSpc>
                    <a:spcPts val="2799"/>
                  </a:lnSpc>
                  <a:spcBef>
                    <a:spcPct val="0"/>
                  </a:spcBef>
                </a:pPr>
                <a:endParaRPr/>
              </a:p>
            </p:txBody>
          </p:sp>
        </p:grpSp>
        <p:grpSp>
          <p:nvGrpSpPr>
            <p:cNvPr id="35" name="Group 35"/>
            <p:cNvGrpSpPr/>
            <p:nvPr/>
          </p:nvGrpSpPr>
          <p:grpSpPr>
            <a:xfrm>
              <a:off x="2510" y="1496143"/>
              <a:ext cx="4306513" cy="1290336"/>
              <a:chOff x="0" y="0"/>
              <a:chExt cx="850669" cy="254881"/>
            </a:xfrm>
          </p:grpSpPr>
          <p:sp>
            <p:nvSpPr>
              <p:cNvPr id="36" name="Freeform 36"/>
              <p:cNvSpPr/>
              <p:nvPr/>
            </p:nvSpPr>
            <p:spPr>
              <a:xfrm>
                <a:off x="0" y="0"/>
                <a:ext cx="850669" cy="254881"/>
              </a:xfrm>
              <a:custGeom>
                <a:avLst/>
                <a:gdLst/>
                <a:ahLst/>
                <a:cxnLst/>
                <a:rect l="l" t="t" r="r" b="b"/>
                <a:pathLst>
                  <a:path w="850669" h="254881">
                    <a:moveTo>
                      <a:pt x="0" y="0"/>
                    </a:moveTo>
                    <a:lnTo>
                      <a:pt x="850669" y="0"/>
                    </a:lnTo>
                    <a:lnTo>
                      <a:pt x="850669" y="254881"/>
                    </a:lnTo>
                    <a:lnTo>
                      <a:pt x="0" y="254881"/>
                    </a:lnTo>
                    <a:close/>
                  </a:path>
                </a:pathLst>
              </a:custGeom>
              <a:solidFill>
                <a:srgbClr val="5C96C1"/>
              </a:solidFill>
            </p:spPr>
            <p:txBody>
              <a:bodyPr/>
              <a:lstStyle/>
              <a:p>
                <a:endParaRPr lang="fr-MA"/>
              </a:p>
            </p:txBody>
          </p:sp>
          <p:sp>
            <p:nvSpPr>
              <p:cNvPr id="37" name="TextBox 37"/>
              <p:cNvSpPr txBox="1"/>
              <p:nvPr/>
            </p:nvSpPr>
            <p:spPr>
              <a:xfrm>
                <a:off x="0" y="-38100"/>
                <a:ext cx="850669" cy="292981"/>
              </a:xfrm>
              <a:prstGeom prst="rect">
                <a:avLst/>
              </a:prstGeom>
            </p:spPr>
            <p:txBody>
              <a:bodyPr lIns="50800" tIns="50800" rIns="50800" bIns="50800" rtlCol="0" anchor="ctr"/>
              <a:lstStyle/>
              <a:p>
                <a:pPr algn="ctr">
                  <a:lnSpc>
                    <a:spcPts val="2799"/>
                  </a:lnSpc>
                  <a:spcBef>
                    <a:spcPct val="0"/>
                  </a:spcBef>
                </a:pPr>
                <a:endParaRPr/>
              </a:p>
            </p:txBody>
          </p:sp>
        </p:grpSp>
      </p:grpSp>
      <p:grpSp>
        <p:nvGrpSpPr>
          <p:cNvPr id="38" name="Group 38"/>
          <p:cNvGrpSpPr/>
          <p:nvPr/>
        </p:nvGrpSpPr>
        <p:grpSpPr>
          <a:xfrm>
            <a:off x="5594526" y="3176335"/>
            <a:ext cx="3229885" cy="5610852"/>
            <a:chOff x="0" y="0"/>
            <a:chExt cx="1229579" cy="2135985"/>
          </a:xfrm>
        </p:grpSpPr>
        <p:sp>
          <p:nvSpPr>
            <p:cNvPr id="39" name="Freeform 39"/>
            <p:cNvSpPr/>
            <p:nvPr/>
          </p:nvSpPr>
          <p:spPr>
            <a:xfrm>
              <a:off x="0" y="0"/>
              <a:ext cx="1229579" cy="2135985"/>
            </a:xfrm>
            <a:custGeom>
              <a:avLst/>
              <a:gdLst/>
              <a:ahLst/>
              <a:cxnLst/>
              <a:rect l="l" t="t" r="r" b="b"/>
              <a:pathLst>
                <a:path w="1229579" h="2135985">
                  <a:moveTo>
                    <a:pt x="23970" y="0"/>
                  </a:moveTo>
                  <a:lnTo>
                    <a:pt x="1205609" y="0"/>
                  </a:lnTo>
                  <a:cubicBezTo>
                    <a:pt x="1218847" y="0"/>
                    <a:pt x="1229579" y="10732"/>
                    <a:pt x="1229579" y="23970"/>
                  </a:cubicBezTo>
                  <a:lnTo>
                    <a:pt x="1229579" y="2112015"/>
                  </a:lnTo>
                  <a:cubicBezTo>
                    <a:pt x="1229579" y="2125253"/>
                    <a:pt x="1218847" y="2135985"/>
                    <a:pt x="1205609" y="2135985"/>
                  </a:cubicBezTo>
                  <a:lnTo>
                    <a:pt x="23970" y="2135985"/>
                  </a:lnTo>
                  <a:cubicBezTo>
                    <a:pt x="10732" y="2135985"/>
                    <a:pt x="0" y="2125253"/>
                    <a:pt x="0" y="2112015"/>
                  </a:cubicBezTo>
                  <a:lnTo>
                    <a:pt x="0" y="23970"/>
                  </a:lnTo>
                  <a:cubicBezTo>
                    <a:pt x="0" y="10732"/>
                    <a:pt x="10732" y="0"/>
                    <a:pt x="23970" y="0"/>
                  </a:cubicBezTo>
                  <a:close/>
                </a:path>
              </a:pathLst>
            </a:custGeom>
            <a:ln w="19050" cap="sq">
              <a:solidFill>
                <a:srgbClr val="30292F"/>
              </a:solidFill>
              <a:prstDash val="solid"/>
              <a:miter/>
            </a:ln>
          </p:spPr>
          <p:txBody>
            <a:bodyPr/>
            <a:lstStyle/>
            <a:p>
              <a:endParaRPr lang="fr-MA"/>
            </a:p>
          </p:txBody>
        </p:sp>
        <p:sp>
          <p:nvSpPr>
            <p:cNvPr id="40" name="TextBox 40"/>
            <p:cNvSpPr txBox="1"/>
            <p:nvPr/>
          </p:nvSpPr>
          <p:spPr>
            <a:xfrm>
              <a:off x="0" y="-38100"/>
              <a:ext cx="1229579" cy="2174085"/>
            </a:xfrm>
            <a:prstGeom prst="rect">
              <a:avLst/>
            </a:prstGeom>
          </p:spPr>
          <p:txBody>
            <a:bodyPr lIns="33859" tIns="33859" rIns="33859" bIns="33859" rtlCol="0" anchor="ctr"/>
            <a:lstStyle/>
            <a:p>
              <a:pPr algn="ctr">
                <a:lnSpc>
                  <a:spcPts val="2775"/>
                </a:lnSpc>
              </a:pPr>
              <a:endParaRPr/>
            </a:p>
          </p:txBody>
        </p:sp>
      </p:grpSp>
      <p:grpSp>
        <p:nvGrpSpPr>
          <p:cNvPr id="41" name="Group 41"/>
          <p:cNvGrpSpPr/>
          <p:nvPr/>
        </p:nvGrpSpPr>
        <p:grpSpPr>
          <a:xfrm>
            <a:off x="1725462" y="3176335"/>
            <a:ext cx="3231768" cy="2089859"/>
            <a:chOff x="0" y="0"/>
            <a:chExt cx="4309024" cy="2786479"/>
          </a:xfrm>
        </p:grpSpPr>
        <p:grpSp>
          <p:nvGrpSpPr>
            <p:cNvPr id="42" name="Group 42"/>
            <p:cNvGrpSpPr/>
            <p:nvPr/>
          </p:nvGrpSpPr>
          <p:grpSpPr>
            <a:xfrm>
              <a:off x="0" y="0"/>
              <a:ext cx="4306513" cy="2761079"/>
              <a:chOff x="0" y="0"/>
              <a:chExt cx="850669" cy="545398"/>
            </a:xfrm>
          </p:grpSpPr>
          <p:sp>
            <p:nvSpPr>
              <p:cNvPr id="43" name="Freeform 43"/>
              <p:cNvSpPr/>
              <p:nvPr/>
            </p:nvSpPr>
            <p:spPr>
              <a:xfrm>
                <a:off x="0" y="0"/>
                <a:ext cx="850669" cy="545398"/>
              </a:xfrm>
              <a:custGeom>
                <a:avLst/>
                <a:gdLst/>
                <a:ahLst/>
                <a:cxnLst/>
                <a:rect l="l" t="t" r="r" b="b"/>
                <a:pathLst>
                  <a:path w="850669" h="545398">
                    <a:moveTo>
                      <a:pt x="23970" y="0"/>
                    </a:moveTo>
                    <a:lnTo>
                      <a:pt x="826700" y="0"/>
                    </a:lnTo>
                    <a:cubicBezTo>
                      <a:pt x="839938" y="0"/>
                      <a:pt x="850669" y="10732"/>
                      <a:pt x="850669" y="23970"/>
                    </a:cubicBezTo>
                    <a:lnTo>
                      <a:pt x="850669" y="521429"/>
                    </a:lnTo>
                    <a:cubicBezTo>
                      <a:pt x="850669" y="527786"/>
                      <a:pt x="848144" y="533883"/>
                      <a:pt x="843649" y="538378"/>
                    </a:cubicBezTo>
                    <a:cubicBezTo>
                      <a:pt x="839154" y="542873"/>
                      <a:pt x="833057" y="545398"/>
                      <a:pt x="826700" y="545398"/>
                    </a:cubicBezTo>
                    <a:lnTo>
                      <a:pt x="23970" y="545398"/>
                    </a:lnTo>
                    <a:cubicBezTo>
                      <a:pt x="10732" y="545398"/>
                      <a:pt x="0" y="534667"/>
                      <a:pt x="0" y="521429"/>
                    </a:cubicBezTo>
                    <a:lnTo>
                      <a:pt x="0" y="23970"/>
                    </a:lnTo>
                    <a:cubicBezTo>
                      <a:pt x="0" y="10732"/>
                      <a:pt x="10732" y="0"/>
                      <a:pt x="23970" y="0"/>
                    </a:cubicBezTo>
                    <a:close/>
                  </a:path>
                </a:pathLst>
              </a:custGeom>
              <a:solidFill>
                <a:srgbClr val="97BCD8"/>
              </a:solidFill>
            </p:spPr>
            <p:txBody>
              <a:bodyPr/>
              <a:lstStyle/>
              <a:p>
                <a:endParaRPr lang="fr-MA"/>
              </a:p>
            </p:txBody>
          </p:sp>
          <p:sp>
            <p:nvSpPr>
              <p:cNvPr id="44" name="TextBox 44"/>
              <p:cNvSpPr txBox="1"/>
              <p:nvPr/>
            </p:nvSpPr>
            <p:spPr>
              <a:xfrm>
                <a:off x="0" y="-38100"/>
                <a:ext cx="850669" cy="583498"/>
              </a:xfrm>
              <a:prstGeom prst="rect">
                <a:avLst/>
              </a:prstGeom>
            </p:spPr>
            <p:txBody>
              <a:bodyPr lIns="50800" tIns="50800" rIns="50800" bIns="50800" rtlCol="0" anchor="ctr"/>
              <a:lstStyle/>
              <a:p>
                <a:pPr algn="ctr">
                  <a:lnSpc>
                    <a:spcPts val="2799"/>
                  </a:lnSpc>
                  <a:spcBef>
                    <a:spcPct val="0"/>
                  </a:spcBef>
                </a:pPr>
                <a:endParaRPr/>
              </a:p>
            </p:txBody>
          </p:sp>
        </p:grpSp>
        <p:grpSp>
          <p:nvGrpSpPr>
            <p:cNvPr id="45" name="Group 45"/>
            <p:cNvGrpSpPr/>
            <p:nvPr/>
          </p:nvGrpSpPr>
          <p:grpSpPr>
            <a:xfrm>
              <a:off x="2510" y="1496143"/>
              <a:ext cx="4306513" cy="1290336"/>
              <a:chOff x="0" y="0"/>
              <a:chExt cx="850669" cy="254881"/>
            </a:xfrm>
          </p:grpSpPr>
          <p:sp>
            <p:nvSpPr>
              <p:cNvPr id="46" name="Freeform 46"/>
              <p:cNvSpPr/>
              <p:nvPr/>
            </p:nvSpPr>
            <p:spPr>
              <a:xfrm>
                <a:off x="0" y="0"/>
                <a:ext cx="850669" cy="254881"/>
              </a:xfrm>
              <a:custGeom>
                <a:avLst/>
                <a:gdLst/>
                <a:ahLst/>
                <a:cxnLst/>
                <a:rect l="l" t="t" r="r" b="b"/>
                <a:pathLst>
                  <a:path w="850669" h="254881">
                    <a:moveTo>
                      <a:pt x="0" y="0"/>
                    </a:moveTo>
                    <a:lnTo>
                      <a:pt x="850669" y="0"/>
                    </a:lnTo>
                    <a:lnTo>
                      <a:pt x="850669" y="254881"/>
                    </a:lnTo>
                    <a:lnTo>
                      <a:pt x="0" y="254881"/>
                    </a:lnTo>
                    <a:close/>
                  </a:path>
                </a:pathLst>
              </a:custGeom>
              <a:solidFill>
                <a:srgbClr val="97BCD8"/>
              </a:solidFill>
            </p:spPr>
            <p:txBody>
              <a:bodyPr/>
              <a:lstStyle/>
              <a:p>
                <a:endParaRPr lang="fr-MA"/>
              </a:p>
            </p:txBody>
          </p:sp>
          <p:sp>
            <p:nvSpPr>
              <p:cNvPr id="47" name="TextBox 47"/>
              <p:cNvSpPr txBox="1"/>
              <p:nvPr/>
            </p:nvSpPr>
            <p:spPr>
              <a:xfrm>
                <a:off x="0" y="-38100"/>
                <a:ext cx="850669" cy="292981"/>
              </a:xfrm>
              <a:prstGeom prst="rect">
                <a:avLst/>
              </a:prstGeom>
            </p:spPr>
            <p:txBody>
              <a:bodyPr lIns="50800" tIns="50800" rIns="50800" bIns="50800" rtlCol="0" anchor="ctr"/>
              <a:lstStyle/>
              <a:p>
                <a:pPr algn="ctr">
                  <a:lnSpc>
                    <a:spcPts val="2799"/>
                  </a:lnSpc>
                  <a:spcBef>
                    <a:spcPct val="0"/>
                  </a:spcBef>
                </a:pPr>
                <a:endParaRPr/>
              </a:p>
            </p:txBody>
          </p:sp>
        </p:grpSp>
      </p:grpSp>
      <p:grpSp>
        <p:nvGrpSpPr>
          <p:cNvPr id="48" name="Group 48"/>
          <p:cNvGrpSpPr/>
          <p:nvPr/>
        </p:nvGrpSpPr>
        <p:grpSpPr>
          <a:xfrm>
            <a:off x="1725462" y="3176335"/>
            <a:ext cx="3229885" cy="5610852"/>
            <a:chOff x="0" y="0"/>
            <a:chExt cx="1229579" cy="2135985"/>
          </a:xfrm>
        </p:grpSpPr>
        <p:sp>
          <p:nvSpPr>
            <p:cNvPr id="49" name="Freeform 49"/>
            <p:cNvSpPr/>
            <p:nvPr/>
          </p:nvSpPr>
          <p:spPr>
            <a:xfrm>
              <a:off x="0" y="0"/>
              <a:ext cx="1229579" cy="2135985"/>
            </a:xfrm>
            <a:custGeom>
              <a:avLst/>
              <a:gdLst/>
              <a:ahLst/>
              <a:cxnLst/>
              <a:rect l="l" t="t" r="r" b="b"/>
              <a:pathLst>
                <a:path w="1229579" h="2135985">
                  <a:moveTo>
                    <a:pt x="23970" y="0"/>
                  </a:moveTo>
                  <a:lnTo>
                    <a:pt x="1205609" y="0"/>
                  </a:lnTo>
                  <a:cubicBezTo>
                    <a:pt x="1218847" y="0"/>
                    <a:pt x="1229579" y="10732"/>
                    <a:pt x="1229579" y="23970"/>
                  </a:cubicBezTo>
                  <a:lnTo>
                    <a:pt x="1229579" y="2112015"/>
                  </a:lnTo>
                  <a:cubicBezTo>
                    <a:pt x="1229579" y="2125253"/>
                    <a:pt x="1218847" y="2135985"/>
                    <a:pt x="1205609" y="2135985"/>
                  </a:cubicBezTo>
                  <a:lnTo>
                    <a:pt x="23970" y="2135985"/>
                  </a:lnTo>
                  <a:cubicBezTo>
                    <a:pt x="10732" y="2135985"/>
                    <a:pt x="0" y="2125253"/>
                    <a:pt x="0" y="2112015"/>
                  </a:cubicBezTo>
                  <a:lnTo>
                    <a:pt x="0" y="23970"/>
                  </a:lnTo>
                  <a:cubicBezTo>
                    <a:pt x="0" y="10732"/>
                    <a:pt x="10732" y="0"/>
                    <a:pt x="23970" y="0"/>
                  </a:cubicBezTo>
                  <a:close/>
                </a:path>
              </a:pathLst>
            </a:custGeom>
            <a:ln w="19050" cap="sq">
              <a:solidFill>
                <a:srgbClr val="30292F"/>
              </a:solidFill>
              <a:prstDash val="solid"/>
              <a:miter/>
            </a:ln>
          </p:spPr>
          <p:txBody>
            <a:bodyPr/>
            <a:lstStyle/>
            <a:p>
              <a:endParaRPr lang="fr-MA"/>
            </a:p>
          </p:txBody>
        </p:sp>
        <p:sp>
          <p:nvSpPr>
            <p:cNvPr id="50" name="TextBox 50"/>
            <p:cNvSpPr txBox="1"/>
            <p:nvPr/>
          </p:nvSpPr>
          <p:spPr>
            <a:xfrm>
              <a:off x="0" y="-38100"/>
              <a:ext cx="1229579" cy="2174085"/>
            </a:xfrm>
            <a:prstGeom prst="rect">
              <a:avLst/>
            </a:prstGeom>
          </p:spPr>
          <p:txBody>
            <a:bodyPr lIns="33859" tIns="33859" rIns="33859" bIns="33859" rtlCol="0" anchor="ctr"/>
            <a:lstStyle/>
            <a:p>
              <a:pPr algn="ctr">
                <a:lnSpc>
                  <a:spcPts val="2775"/>
                </a:lnSpc>
              </a:pPr>
              <a:endParaRPr/>
            </a:p>
          </p:txBody>
        </p:sp>
      </p:grpSp>
      <p:sp>
        <p:nvSpPr>
          <p:cNvPr id="51" name="Freeform 51"/>
          <p:cNvSpPr/>
          <p:nvPr/>
        </p:nvSpPr>
        <p:spPr>
          <a:xfrm>
            <a:off x="7256288" y="3525230"/>
            <a:ext cx="257072" cy="244920"/>
          </a:xfrm>
          <a:custGeom>
            <a:avLst/>
            <a:gdLst/>
            <a:ahLst/>
            <a:cxnLst/>
            <a:rect l="l" t="t" r="r" b="b"/>
            <a:pathLst>
              <a:path w="257072" h="244920">
                <a:moveTo>
                  <a:pt x="0" y="0"/>
                </a:moveTo>
                <a:lnTo>
                  <a:pt x="257073" y="0"/>
                </a:lnTo>
                <a:lnTo>
                  <a:pt x="257073" y="244920"/>
                </a:lnTo>
                <a:lnTo>
                  <a:pt x="0" y="24492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MA"/>
          </a:p>
        </p:txBody>
      </p:sp>
      <p:sp>
        <p:nvSpPr>
          <p:cNvPr id="52" name="Freeform 52"/>
          <p:cNvSpPr/>
          <p:nvPr/>
        </p:nvSpPr>
        <p:spPr>
          <a:xfrm>
            <a:off x="6905576" y="3525230"/>
            <a:ext cx="257072" cy="244920"/>
          </a:xfrm>
          <a:custGeom>
            <a:avLst/>
            <a:gdLst/>
            <a:ahLst/>
            <a:cxnLst/>
            <a:rect l="l" t="t" r="r" b="b"/>
            <a:pathLst>
              <a:path w="257072" h="244920">
                <a:moveTo>
                  <a:pt x="0" y="0"/>
                </a:moveTo>
                <a:lnTo>
                  <a:pt x="257072" y="0"/>
                </a:lnTo>
                <a:lnTo>
                  <a:pt x="257072" y="244920"/>
                </a:lnTo>
                <a:lnTo>
                  <a:pt x="0" y="24492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MA"/>
          </a:p>
        </p:txBody>
      </p:sp>
      <p:sp>
        <p:nvSpPr>
          <p:cNvPr id="53" name="Freeform 53"/>
          <p:cNvSpPr/>
          <p:nvPr/>
        </p:nvSpPr>
        <p:spPr>
          <a:xfrm>
            <a:off x="10949996" y="3568852"/>
            <a:ext cx="257072" cy="244920"/>
          </a:xfrm>
          <a:custGeom>
            <a:avLst/>
            <a:gdLst/>
            <a:ahLst/>
            <a:cxnLst/>
            <a:rect l="l" t="t" r="r" b="b"/>
            <a:pathLst>
              <a:path w="257072" h="244920">
                <a:moveTo>
                  <a:pt x="0" y="0"/>
                </a:moveTo>
                <a:lnTo>
                  <a:pt x="257072" y="0"/>
                </a:lnTo>
                <a:lnTo>
                  <a:pt x="257072" y="244920"/>
                </a:lnTo>
                <a:lnTo>
                  <a:pt x="0" y="24492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MA"/>
          </a:p>
        </p:txBody>
      </p:sp>
      <p:sp>
        <p:nvSpPr>
          <p:cNvPr id="54" name="Freeform 54"/>
          <p:cNvSpPr/>
          <p:nvPr/>
        </p:nvSpPr>
        <p:spPr>
          <a:xfrm>
            <a:off x="11293015" y="3568852"/>
            <a:ext cx="257072" cy="244920"/>
          </a:xfrm>
          <a:custGeom>
            <a:avLst/>
            <a:gdLst/>
            <a:ahLst/>
            <a:cxnLst/>
            <a:rect l="l" t="t" r="r" b="b"/>
            <a:pathLst>
              <a:path w="257072" h="244920">
                <a:moveTo>
                  <a:pt x="0" y="0"/>
                </a:moveTo>
                <a:lnTo>
                  <a:pt x="257072" y="0"/>
                </a:lnTo>
                <a:lnTo>
                  <a:pt x="257072" y="244920"/>
                </a:lnTo>
                <a:lnTo>
                  <a:pt x="0" y="24492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MA"/>
          </a:p>
        </p:txBody>
      </p:sp>
      <p:sp>
        <p:nvSpPr>
          <p:cNvPr id="55" name="Freeform 55"/>
          <p:cNvSpPr/>
          <p:nvPr/>
        </p:nvSpPr>
        <p:spPr>
          <a:xfrm>
            <a:off x="10606977" y="3568852"/>
            <a:ext cx="257072" cy="244920"/>
          </a:xfrm>
          <a:custGeom>
            <a:avLst/>
            <a:gdLst/>
            <a:ahLst/>
            <a:cxnLst/>
            <a:rect l="l" t="t" r="r" b="b"/>
            <a:pathLst>
              <a:path w="257072" h="244920">
                <a:moveTo>
                  <a:pt x="0" y="0"/>
                </a:moveTo>
                <a:lnTo>
                  <a:pt x="257072" y="0"/>
                </a:lnTo>
                <a:lnTo>
                  <a:pt x="257072" y="244920"/>
                </a:lnTo>
                <a:lnTo>
                  <a:pt x="0" y="24492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MA"/>
          </a:p>
        </p:txBody>
      </p:sp>
      <p:sp>
        <p:nvSpPr>
          <p:cNvPr id="56" name="Freeform 56"/>
          <p:cNvSpPr/>
          <p:nvPr/>
        </p:nvSpPr>
        <p:spPr>
          <a:xfrm>
            <a:off x="14647587" y="3568852"/>
            <a:ext cx="257072" cy="244920"/>
          </a:xfrm>
          <a:custGeom>
            <a:avLst/>
            <a:gdLst/>
            <a:ahLst/>
            <a:cxnLst/>
            <a:rect l="l" t="t" r="r" b="b"/>
            <a:pathLst>
              <a:path w="257072" h="244920">
                <a:moveTo>
                  <a:pt x="0" y="0"/>
                </a:moveTo>
                <a:lnTo>
                  <a:pt x="257072" y="0"/>
                </a:lnTo>
                <a:lnTo>
                  <a:pt x="257072" y="244920"/>
                </a:lnTo>
                <a:lnTo>
                  <a:pt x="0" y="24492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MA"/>
          </a:p>
        </p:txBody>
      </p:sp>
      <p:sp>
        <p:nvSpPr>
          <p:cNvPr id="57" name="Freeform 57"/>
          <p:cNvSpPr/>
          <p:nvPr/>
        </p:nvSpPr>
        <p:spPr>
          <a:xfrm>
            <a:off x="14990532" y="3568852"/>
            <a:ext cx="257072" cy="244920"/>
          </a:xfrm>
          <a:custGeom>
            <a:avLst/>
            <a:gdLst/>
            <a:ahLst/>
            <a:cxnLst/>
            <a:rect l="l" t="t" r="r" b="b"/>
            <a:pathLst>
              <a:path w="257072" h="244920">
                <a:moveTo>
                  <a:pt x="0" y="0"/>
                </a:moveTo>
                <a:lnTo>
                  <a:pt x="257072" y="0"/>
                </a:lnTo>
                <a:lnTo>
                  <a:pt x="257072" y="244920"/>
                </a:lnTo>
                <a:lnTo>
                  <a:pt x="0" y="24492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MA"/>
          </a:p>
        </p:txBody>
      </p:sp>
      <p:sp>
        <p:nvSpPr>
          <p:cNvPr id="58" name="Freeform 58"/>
          <p:cNvSpPr/>
          <p:nvPr/>
        </p:nvSpPr>
        <p:spPr>
          <a:xfrm>
            <a:off x="15333477" y="3568852"/>
            <a:ext cx="257072" cy="244920"/>
          </a:xfrm>
          <a:custGeom>
            <a:avLst/>
            <a:gdLst/>
            <a:ahLst/>
            <a:cxnLst/>
            <a:rect l="l" t="t" r="r" b="b"/>
            <a:pathLst>
              <a:path w="257072" h="244920">
                <a:moveTo>
                  <a:pt x="0" y="0"/>
                </a:moveTo>
                <a:lnTo>
                  <a:pt x="257072" y="0"/>
                </a:lnTo>
                <a:lnTo>
                  <a:pt x="257072" y="244920"/>
                </a:lnTo>
                <a:lnTo>
                  <a:pt x="0" y="24492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MA"/>
          </a:p>
        </p:txBody>
      </p:sp>
      <p:sp>
        <p:nvSpPr>
          <p:cNvPr id="59" name="Freeform 59"/>
          <p:cNvSpPr/>
          <p:nvPr/>
        </p:nvSpPr>
        <p:spPr>
          <a:xfrm>
            <a:off x="14304642" y="3568852"/>
            <a:ext cx="257072" cy="244920"/>
          </a:xfrm>
          <a:custGeom>
            <a:avLst/>
            <a:gdLst/>
            <a:ahLst/>
            <a:cxnLst/>
            <a:rect l="l" t="t" r="r" b="b"/>
            <a:pathLst>
              <a:path w="257072" h="244920">
                <a:moveTo>
                  <a:pt x="0" y="0"/>
                </a:moveTo>
                <a:lnTo>
                  <a:pt x="257072" y="0"/>
                </a:lnTo>
                <a:lnTo>
                  <a:pt x="257072" y="244920"/>
                </a:lnTo>
                <a:lnTo>
                  <a:pt x="0" y="24492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MA"/>
          </a:p>
        </p:txBody>
      </p:sp>
      <p:sp>
        <p:nvSpPr>
          <p:cNvPr id="60" name="Freeform 60"/>
          <p:cNvSpPr/>
          <p:nvPr/>
        </p:nvSpPr>
        <p:spPr>
          <a:xfrm>
            <a:off x="3211869" y="3525230"/>
            <a:ext cx="257072" cy="244920"/>
          </a:xfrm>
          <a:custGeom>
            <a:avLst/>
            <a:gdLst/>
            <a:ahLst/>
            <a:cxnLst/>
            <a:rect l="l" t="t" r="r" b="b"/>
            <a:pathLst>
              <a:path w="257072" h="244920">
                <a:moveTo>
                  <a:pt x="0" y="0"/>
                </a:moveTo>
                <a:lnTo>
                  <a:pt x="257072" y="0"/>
                </a:lnTo>
                <a:lnTo>
                  <a:pt x="257072" y="244920"/>
                </a:lnTo>
                <a:lnTo>
                  <a:pt x="0" y="24492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MA"/>
          </a:p>
        </p:txBody>
      </p:sp>
      <p:sp>
        <p:nvSpPr>
          <p:cNvPr id="61" name="TextBox 61"/>
          <p:cNvSpPr txBox="1"/>
          <p:nvPr/>
        </p:nvSpPr>
        <p:spPr>
          <a:xfrm>
            <a:off x="13464999" y="5547706"/>
            <a:ext cx="3140475" cy="3073945"/>
          </a:xfrm>
          <a:prstGeom prst="rect">
            <a:avLst/>
          </a:prstGeom>
        </p:spPr>
        <p:txBody>
          <a:bodyPr lIns="0" tIns="0" rIns="0" bIns="0" rtlCol="0" anchor="t">
            <a:spAutoFit/>
          </a:bodyPr>
          <a:lstStyle/>
          <a:p>
            <a:pPr algn="just">
              <a:lnSpc>
                <a:spcPts val="2769"/>
              </a:lnSpc>
            </a:pPr>
            <a:r>
              <a:rPr lang="en-US" sz="1978">
                <a:solidFill>
                  <a:srgbClr val="30292F"/>
                </a:solidFill>
                <a:latin typeface="Inter"/>
                <a:ea typeface="Inter"/>
                <a:cs typeface="Inter"/>
                <a:sym typeface="Inter"/>
              </a:rPr>
              <a:t>Bibliothèque de graphiques : diagrammes, courbes et camemberts pour visualiser les résultats. Permet d’afficher les résultats de sondages sous formes de barres , courbes , camemberts.</a:t>
            </a:r>
          </a:p>
        </p:txBody>
      </p:sp>
      <p:sp>
        <p:nvSpPr>
          <p:cNvPr id="62" name="TextBox 62"/>
          <p:cNvSpPr txBox="1"/>
          <p:nvPr/>
        </p:nvSpPr>
        <p:spPr>
          <a:xfrm>
            <a:off x="13381524" y="4241293"/>
            <a:ext cx="3132143" cy="415657"/>
          </a:xfrm>
          <a:prstGeom prst="rect">
            <a:avLst/>
          </a:prstGeom>
        </p:spPr>
        <p:txBody>
          <a:bodyPr lIns="0" tIns="0" rIns="0" bIns="0" rtlCol="0" anchor="t">
            <a:spAutoFit/>
          </a:bodyPr>
          <a:lstStyle/>
          <a:p>
            <a:pPr algn="ctr">
              <a:lnSpc>
                <a:spcPts val="3339"/>
              </a:lnSpc>
            </a:pPr>
            <a:r>
              <a:rPr lang="en-US" sz="2385" b="1">
                <a:solidFill>
                  <a:srgbClr val="FFFFFF"/>
                </a:solidFill>
                <a:latin typeface="Inter Bold"/>
                <a:ea typeface="Inter Bold"/>
                <a:cs typeface="Inter Bold"/>
                <a:sym typeface="Inter Bold"/>
              </a:rPr>
              <a:t>Chart.js</a:t>
            </a:r>
          </a:p>
        </p:txBody>
      </p:sp>
      <p:sp>
        <p:nvSpPr>
          <p:cNvPr id="63" name="TextBox 63"/>
          <p:cNvSpPr txBox="1"/>
          <p:nvPr/>
        </p:nvSpPr>
        <p:spPr>
          <a:xfrm>
            <a:off x="9530095" y="5284541"/>
            <a:ext cx="3066178" cy="3416845"/>
          </a:xfrm>
          <a:prstGeom prst="rect">
            <a:avLst/>
          </a:prstGeom>
        </p:spPr>
        <p:txBody>
          <a:bodyPr lIns="0" tIns="0" rIns="0" bIns="0" rtlCol="0" anchor="t">
            <a:spAutoFit/>
          </a:bodyPr>
          <a:lstStyle/>
          <a:p>
            <a:pPr algn="just">
              <a:lnSpc>
                <a:spcPts val="2769"/>
              </a:lnSpc>
            </a:pPr>
            <a:r>
              <a:rPr lang="en-US" sz="1978" dirty="0" err="1">
                <a:solidFill>
                  <a:srgbClr val="30292F"/>
                </a:solidFill>
                <a:latin typeface="Inter"/>
                <a:ea typeface="Inter"/>
                <a:cs typeface="Inter"/>
                <a:sym typeface="Inter"/>
              </a:rPr>
              <a:t>Ajoute</a:t>
            </a:r>
            <a:r>
              <a:rPr lang="en-US" sz="1978" dirty="0">
                <a:solidFill>
                  <a:srgbClr val="30292F"/>
                </a:solidFill>
                <a:latin typeface="Inter"/>
                <a:ea typeface="Inter"/>
                <a:cs typeface="Inter"/>
                <a:sym typeface="Inter"/>
              </a:rPr>
              <a:t> </a:t>
            </a:r>
            <a:r>
              <a:rPr lang="en-US" sz="1978" dirty="0" err="1">
                <a:solidFill>
                  <a:srgbClr val="30292F"/>
                </a:solidFill>
                <a:latin typeface="Inter"/>
                <a:ea typeface="Inter"/>
                <a:cs typeface="Inter"/>
                <a:sym typeface="Inter"/>
              </a:rPr>
              <a:t>l’interactivité</a:t>
            </a:r>
            <a:r>
              <a:rPr lang="en-US" sz="1978" dirty="0">
                <a:solidFill>
                  <a:srgbClr val="30292F"/>
                </a:solidFill>
                <a:latin typeface="Inter"/>
                <a:ea typeface="Inter"/>
                <a:cs typeface="Inter"/>
                <a:sym typeface="Inter"/>
              </a:rPr>
              <a:t> </a:t>
            </a:r>
            <a:r>
              <a:rPr lang="en-US" sz="1978" dirty="0" err="1">
                <a:solidFill>
                  <a:srgbClr val="30292F"/>
                </a:solidFill>
                <a:latin typeface="Inter"/>
                <a:ea typeface="Inter"/>
                <a:cs typeface="Inter"/>
                <a:sym typeface="Inter"/>
              </a:rPr>
              <a:t>dynamique</a:t>
            </a:r>
            <a:r>
              <a:rPr lang="en-US" sz="1978" dirty="0">
                <a:solidFill>
                  <a:srgbClr val="30292F"/>
                </a:solidFill>
                <a:latin typeface="Inter"/>
                <a:ea typeface="Inter"/>
                <a:cs typeface="Inter"/>
                <a:sym typeface="Inter"/>
              </a:rPr>
              <a:t> aux </a:t>
            </a:r>
            <a:r>
              <a:rPr lang="en-US" sz="1978" dirty="0" err="1">
                <a:solidFill>
                  <a:srgbClr val="30292F"/>
                </a:solidFill>
                <a:latin typeface="Inter"/>
                <a:ea typeface="Inter"/>
                <a:cs typeface="Inter"/>
                <a:sym typeface="Inter"/>
              </a:rPr>
              <a:t>formulaires</a:t>
            </a:r>
            <a:r>
              <a:rPr lang="en-US" sz="1978" dirty="0">
                <a:solidFill>
                  <a:srgbClr val="30292F"/>
                </a:solidFill>
                <a:latin typeface="Inter"/>
                <a:ea typeface="Inter"/>
                <a:cs typeface="Inter"/>
                <a:sym typeface="Inter"/>
              </a:rPr>
              <a:t> et sondages. </a:t>
            </a:r>
            <a:r>
              <a:rPr lang="en-US" sz="1978" dirty="0" err="1">
                <a:solidFill>
                  <a:srgbClr val="30292F"/>
                </a:solidFill>
                <a:latin typeface="Inter"/>
                <a:ea typeface="Inter"/>
                <a:cs typeface="Inter"/>
                <a:sym typeface="Inter"/>
              </a:rPr>
              <a:t>Permet</a:t>
            </a:r>
            <a:r>
              <a:rPr lang="en-US" sz="1978" dirty="0">
                <a:solidFill>
                  <a:srgbClr val="30292F"/>
                </a:solidFill>
                <a:latin typeface="Inter"/>
                <a:ea typeface="Inter"/>
                <a:cs typeface="Inter"/>
                <a:sym typeface="Inter"/>
              </a:rPr>
              <a:t> de </a:t>
            </a:r>
            <a:r>
              <a:rPr lang="en-US" sz="1978" dirty="0" err="1">
                <a:solidFill>
                  <a:srgbClr val="30292F"/>
                </a:solidFill>
                <a:latin typeface="Inter"/>
                <a:ea typeface="Inter"/>
                <a:cs typeface="Inter"/>
                <a:sym typeface="Inter"/>
              </a:rPr>
              <a:t>valider</a:t>
            </a:r>
            <a:r>
              <a:rPr lang="en-US" sz="1978" dirty="0">
                <a:solidFill>
                  <a:srgbClr val="30292F"/>
                </a:solidFill>
                <a:latin typeface="Inter"/>
                <a:ea typeface="Inter"/>
                <a:cs typeface="Inter"/>
                <a:sym typeface="Inter"/>
              </a:rPr>
              <a:t> les champs, </a:t>
            </a:r>
            <a:r>
              <a:rPr lang="en-US" sz="1978" dirty="0" err="1">
                <a:solidFill>
                  <a:srgbClr val="30292F"/>
                </a:solidFill>
                <a:latin typeface="Inter"/>
                <a:ea typeface="Inter"/>
                <a:cs typeface="Inter"/>
                <a:sym typeface="Inter"/>
              </a:rPr>
              <a:t>afficher</a:t>
            </a:r>
            <a:r>
              <a:rPr lang="en-US" sz="1978" dirty="0">
                <a:solidFill>
                  <a:srgbClr val="30292F"/>
                </a:solidFill>
                <a:latin typeface="Inter"/>
                <a:ea typeface="Inter"/>
                <a:cs typeface="Inter"/>
                <a:sym typeface="Inter"/>
              </a:rPr>
              <a:t>/masquer des questions </a:t>
            </a:r>
            <a:r>
              <a:rPr lang="en-US" sz="1978" dirty="0" err="1">
                <a:solidFill>
                  <a:srgbClr val="30292F"/>
                </a:solidFill>
                <a:latin typeface="Inter"/>
                <a:ea typeface="Inter"/>
                <a:cs typeface="Inter"/>
                <a:sym typeface="Inter"/>
              </a:rPr>
              <a:t>conditionnelles</a:t>
            </a:r>
            <a:r>
              <a:rPr lang="en-US" sz="1978" dirty="0">
                <a:solidFill>
                  <a:srgbClr val="30292F"/>
                </a:solidFill>
                <a:latin typeface="Inter"/>
                <a:ea typeface="Inter"/>
                <a:cs typeface="Inter"/>
                <a:sym typeface="Inter"/>
              </a:rPr>
              <a:t> et </a:t>
            </a:r>
            <a:r>
              <a:rPr lang="en-US" sz="1978" dirty="0" err="1">
                <a:solidFill>
                  <a:srgbClr val="30292F"/>
                </a:solidFill>
                <a:latin typeface="Inter"/>
                <a:ea typeface="Inter"/>
                <a:cs typeface="Inter"/>
                <a:sym typeface="Inter"/>
              </a:rPr>
              <a:t>réagir</a:t>
            </a:r>
            <a:r>
              <a:rPr lang="en-US" sz="1978" dirty="0">
                <a:solidFill>
                  <a:srgbClr val="30292F"/>
                </a:solidFill>
                <a:latin typeface="Inter"/>
                <a:ea typeface="Inter"/>
                <a:cs typeface="Inter"/>
                <a:sym typeface="Inter"/>
              </a:rPr>
              <a:t> aux actions de </a:t>
            </a:r>
            <a:r>
              <a:rPr lang="en-US" sz="1978" dirty="0" err="1">
                <a:solidFill>
                  <a:srgbClr val="30292F"/>
                </a:solidFill>
                <a:latin typeface="Inter"/>
                <a:ea typeface="Inter"/>
                <a:cs typeface="Inter"/>
                <a:sym typeface="Inter"/>
              </a:rPr>
              <a:t>l’utilisateur</a:t>
            </a:r>
            <a:r>
              <a:rPr lang="en-US" sz="1978" dirty="0">
                <a:solidFill>
                  <a:srgbClr val="30292F"/>
                </a:solidFill>
                <a:latin typeface="Inter"/>
                <a:ea typeface="Inter"/>
                <a:cs typeface="Inter"/>
                <a:sym typeface="Inter"/>
              </a:rPr>
              <a:t> sans recharger la page.</a:t>
            </a:r>
          </a:p>
        </p:txBody>
      </p:sp>
      <p:sp>
        <p:nvSpPr>
          <p:cNvPr id="64" name="TextBox 64"/>
          <p:cNvSpPr txBox="1"/>
          <p:nvPr/>
        </p:nvSpPr>
        <p:spPr>
          <a:xfrm>
            <a:off x="9512460" y="4250818"/>
            <a:ext cx="3132143" cy="389621"/>
          </a:xfrm>
          <a:prstGeom prst="rect">
            <a:avLst/>
          </a:prstGeom>
        </p:spPr>
        <p:txBody>
          <a:bodyPr lIns="0" tIns="0" rIns="0" bIns="0" rtlCol="0" anchor="t">
            <a:spAutoFit/>
          </a:bodyPr>
          <a:lstStyle/>
          <a:p>
            <a:pPr algn="ctr">
              <a:lnSpc>
                <a:spcPts val="3199"/>
              </a:lnSpc>
            </a:pPr>
            <a:r>
              <a:rPr lang="en-US" sz="2285" b="1">
                <a:solidFill>
                  <a:srgbClr val="FFFFFF"/>
                </a:solidFill>
                <a:latin typeface="Inter Bold"/>
                <a:ea typeface="Inter Bold"/>
                <a:cs typeface="Inter Bold"/>
                <a:sym typeface="Inter Bold"/>
              </a:rPr>
              <a:t> JavaScript</a:t>
            </a:r>
          </a:p>
        </p:txBody>
      </p:sp>
      <p:sp>
        <p:nvSpPr>
          <p:cNvPr id="65" name="TextBox 65"/>
          <p:cNvSpPr txBox="1"/>
          <p:nvPr/>
        </p:nvSpPr>
        <p:spPr>
          <a:xfrm>
            <a:off x="5724302" y="5954469"/>
            <a:ext cx="2896267" cy="2657864"/>
          </a:xfrm>
          <a:prstGeom prst="rect">
            <a:avLst/>
          </a:prstGeom>
        </p:spPr>
        <p:txBody>
          <a:bodyPr lIns="0" tIns="0" rIns="0" bIns="0" rtlCol="0" anchor="t">
            <a:spAutoFit/>
          </a:bodyPr>
          <a:lstStyle/>
          <a:p>
            <a:pPr algn="just">
              <a:lnSpc>
                <a:spcPts val="2694"/>
              </a:lnSpc>
            </a:pPr>
            <a:r>
              <a:rPr lang="en-US" sz="1924">
                <a:solidFill>
                  <a:srgbClr val="30292F"/>
                </a:solidFill>
                <a:latin typeface="Inter"/>
                <a:ea typeface="Inter"/>
                <a:cs typeface="Inter"/>
                <a:sym typeface="Inter"/>
              </a:rPr>
              <a:t>Framework CSS moderne pour rendre l’ interface responsive et facile à utiliser. Fournit des composants prêts à l’emploi : boutons , tableaux, formulaires, cartes.</a:t>
            </a:r>
          </a:p>
        </p:txBody>
      </p:sp>
      <p:sp>
        <p:nvSpPr>
          <p:cNvPr id="66" name="TextBox 66"/>
          <p:cNvSpPr txBox="1"/>
          <p:nvPr/>
        </p:nvSpPr>
        <p:spPr>
          <a:xfrm>
            <a:off x="5643397" y="4269868"/>
            <a:ext cx="2977172" cy="249504"/>
          </a:xfrm>
          <a:prstGeom prst="rect">
            <a:avLst/>
          </a:prstGeom>
        </p:spPr>
        <p:txBody>
          <a:bodyPr lIns="0" tIns="0" rIns="0" bIns="0" rtlCol="0" anchor="t">
            <a:spAutoFit/>
          </a:bodyPr>
          <a:lstStyle/>
          <a:p>
            <a:pPr algn="ctr">
              <a:lnSpc>
                <a:spcPts val="2042"/>
              </a:lnSpc>
            </a:pPr>
            <a:r>
              <a:rPr lang="en-US" sz="1458" b="1">
                <a:solidFill>
                  <a:srgbClr val="FFFFFF"/>
                </a:solidFill>
                <a:latin typeface="Inter Bold"/>
                <a:ea typeface="Inter Bold"/>
                <a:cs typeface="Inter Bold"/>
                <a:sym typeface="Inter Bold"/>
              </a:rPr>
              <a:t>Bootstrap</a:t>
            </a:r>
          </a:p>
        </p:txBody>
      </p:sp>
      <p:sp>
        <p:nvSpPr>
          <p:cNvPr id="67" name="TextBox 67"/>
          <p:cNvSpPr txBox="1"/>
          <p:nvPr/>
        </p:nvSpPr>
        <p:spPr>
          <a:xfrm>
            <a:off x="1799032" y="5934136"/>
            <a:ext cx="2988769" cy="1946555"/>
          </a:xfrm>
          <a:prstGeom prst="rect">
            <a:avLst/>
          </a:prstGeom>
        </p:spPr>
        <p:txBody>
          <a:bodyPr lIns="0" tIns="0" rIns="0" bIns="0" rtlCol="0" anchor="t">
            <a:spAutoFit/>
          </a:bodyPr>
          <a:lstStyle/>
          <a:p>
            <a:pPr algn="just">
              <a:lnSpc>
                <a:spcPts val="2620"/>
              </a:lnSpc>
            </a:pPr>
            <a:r>
              <a:rPr lang="en-US" sz="1871">
                <a:solidFill>
                  <a:srgbClr val="30292F"/>
                </a:solidFill>
                <a:latin typeface="Inter"/>
                <a:ea typeface="Inter"/>
                <a:cs typeface="Inter"/>
                <a:sym typeface="Inter"/>
              </a:rPr>
              <a:t>Structure et style des pages web. Permet de créer des formulaires , boutons ,tableaux et autres éléments de l’interfaceutilisateur.</a:t>
            </a:r>
          </a:p>
        </p:txBody>
      </p:sp>
      <p:sp>
        <p:nvSpPr>
          <p:cNvPr id="68" name="TextBox 68"/>
          <p:cNvSpPr txBox="1"/>
          <p:nvPr/>
        </p:nvSpPr>
        <p:spPr>
          <a:xfrm>
            <a:off x="1727345" y="3941255"/>
            <a:ext cx="3132143" cy="564247"/>
          </a:xfrm>
          <a:prstGeom prst="rect">
            <a:avLst/>
          </a:prstGeom>
        </p:spPr>
        <p:txBody>
          <a:bodyPr lIns="0" tIns="0" rIns="0" bIns="0" rtlCol="0" anchor="t">
            <a:spAutoFit/>
          </a:bodyPr>
          <a:lstStyle/>
          <a:p>
            <a:pPr algn="ctr">
              <a:lnSpc>
                <a:spcPts val="4599"/>
              </a:lnSpc>
            </a:pPr>
            <a:r>
              <a:rPr lang="en-US" sz="3285" b="1">
                <a:solidFill>
                  <a:srgbClr val="FFFFFF"/>
                </a:solidFill>
                <a:latin typeface="Inter Bold"/>
                <a:ea typeface="Inter Bold"/>
                <a:cs typeface="Inter Bold"/>
                <a:sym typeface="Inter Bold"/>
              </a:rPr>
              <a:t>HTML / CSS</a:t>
            </a:r>
          </a:p>
        </p:txBody>
      </p:sp>
      <p:sp>
        <p:nvSpPr>
          <p:cNvPr id="69" name="TextBox 69"/>
          <p:cNvSpPr txBox="1"/>
          <p:nvPr/>
        </p:nvSpPr>
        <p:spPr>
          <a:xfrm>
            <a:off x="3852457" y="85725"/>
            <a:ext cx="9947674" cy="2623048"/>
          </a:xfrm>
          <a:prstGeom prst="rect">
            <a:avLst/>
          </a:prstGeom>
        </p:spPr>
        <p:txBody>
          <a:bodyPr lIns="0" tIns="0" rIns="0" bIns="0" rtlCol="0" anchor="t">
            <a:spAutoFit/>
          </a:bodyPr>
          <a:lstStyle/>
          <a:p>
            <a:pPr algn="ctr">
              <a:lnSpc>
                <a:spcPts val="10218"/>
              </a:lnSpc>
            </a:pPr>
            <a:r>
              <a:rPr lang="en-US" sz="9289" spc="-92">
                <a:solidFill>
                  <a:srgbClr val="30292F"/>
                </a:solidFill>
                <a:latin typeface="Playfair Display"/>
                <a:ea typeface="Playfair Display"/>
                <a:cs typeface="Playfair Display"/>
                <a:sym typeface="Playfair Display"/>
              </a:rPr>
              <a:t>Technologies utilisées-Frontend</a:t>
            </a:r>
          </a:p>
        </p:txBody>
      </p:sp>
      <p:sp>
        <p:nvSpPr>
          <p:cNvPr id="70" name="TextBox 70"/>
          <p:cNvSpPr txBox="1"/>
          <p:nvPr/>
        </p:nvSpPr>
        <p:spPr>
          <a:xfrm>
            <a:off x="1725462"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Open Sans"/>
                <a:ea typeface="Open Sans"/>
                <a:cs typeface="Open Sans"/>
                <a:sym typeface="Open Sans"/>
              </a:rPr>
              <a:t>7</a:t>
            </a:r>
          </a:p>
        </p:txBody>
      </p:sp>
      <p:sp>
        <p:nvSpPr>
          <p:cNvPr id="71" name="Freeform 6">
            <a:extLst>
              <a:ext uri="{FF2B5EF4-FFF2-40B4-BE49-F238E27FC236}">
                <a16:creationId xmlns:a16="http://schemas.microsoft.com/office/drawing/2014/main" id="{BC0CA19B-6BC5-B678-4E74-273F737917EC}"/>
              </a:ext>
            </a:extLst>
          </p:cNvPr>
          <p:cNvSpPr/>
          <p:nvPr/>
        </p:nvSpPr>
        <p:spPr>
          <a:xfrm>
            <a:off x="16916400" y="9029668"/>
            <a:ext cx="870158" cy="762063"/>
          </a:xfrm>
          <a:custGeom>
            <a:avLst/>
            <a:gdLst/>
            <a:ahLst/>
            <a:cxnLst/>
            <a:rect l="l" t="t" r="r" b="b"/>
            <a:pathLst>
              <a:path w="229177" h="200708">
                <a:moveTo>
                  <a:pt x="0" y="0"/>
                </a:moveTo>
                <a:lnTo>
                  <a:pt x="229177" y="0"/>
                </a:lnTo>
                <a:lnTo>
                  <a:pt x="229177" y="200708"/>
                </a:lnTo>
                <a:lnTo>
                  <a:pt x="0" y="200708"/>
                </a:lnTo>
                <a:close/>
              </a:path>
            </a:pathLst>
          </a:custGeom>
          <a:solidFill>
            <a:srgbClr val="269649"/>
          </a:solidFill>
        </p:spPr>
        <p:txBody>
          <a:bodyPr/>
          <a:lstStyle/>
          <a:p>
            <a:r>
              <a:rPr lang="en-US" sz="3200" b="1" dirty="0">
                <a:solidFill>
                  <a:srgbClr val="FAFAFA"/>
                </a:solidFill>
                <a:latin typeface="Codec Pro Bold"/>
                <a:ea typeface="Codec Pro Bold"/>
                <a:cs typeface="Codec Pro Bold"/>
                <a:sym typeface="Codec Pro Bold"/>
              </a:rPr>
              <a:t>06</a:t>
            </a:r>
            <a:endParaRPr lang="fr-MA"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023901" y="0"/>
            <a:ext cx="7418674" cy="10287000"/>
            <a:chOff x="0" y="0"/>
            <a:chExt cx="1953890" cy="2709333"/>
          </a:xfrm>
        </p:grpSpPr>
        <p:sp>
          <p:nvSpPr>
            <p:cNvPr id="3" name="Freeform 3"/>
            <p:cNvSpPr/>
            <p:nvPr/>
          </p:nvSpPr>
          <p:spPr>
            <a:xfrm>
              <a:off x="0" y="0"/>
              <a:ext cx="1953889" cy="2709333"/>
            </a:xfrm>
            <a:custGeom>
              <a:avLst/>
              <a:gdLst/>
              <a:ahLst/>
              <a:cxnLst/>
              <a:rect l="l" t="t" r="r" b="b"/>
              <a:pathLst>
                <a:path w="1953889" h="2709333">
                  <a:moveTo>
                    <a:pt x="0" y="0"/>
                  </a:moveTo>
                  <a:lnTo>
                    <a:pt x="1953889" y="0"/>
                  </a:lnTo>
                  <a:lnTo>
                    <a:pt x="1953889" y="2709333"/>
                  </a:lnTo>
                  <a:lnTo>
                    <a:pt x="0" y="2709333"/>
                  </a:lnTo>
                  <a:close/>
                </a:path>
              </a:pathLst>
            </a:custGeom>
            <a:solidFill>
              <a:srgbClr val="F4F3F3"/>
            </a:solidFill>
          </p:spPr>
          <p:txBody>
            <a:bodyPr/>
            <a:lstStyle/>
            <a:p>
              <a:endParaRPr lang="fr-MA"/>
            </a:p>
          </p:txBody>
        </p:sp>
        <p:sp>
          <p:nvSpPr>
            <p:cNvPr id="4" name="TextBox 4"/>
            <p:cNvSpPr txBox="1"/>
            <p:nvPr/>
          </p:nvSpPr>
          <p:spPr>
            <a:xfrm>
              <a:off x="0" y="9525"/>
              <a:ext cx="1953890" cy="2699808"/>
            </a:xfrm>
            <a:prstGeom prst="rect">
              <a:avLst/>
            </a:prstGeom>
          </p:spPr>
          <p:txBody>
            <a:bodyPr lIns="50800" tIns="50800" rIns="50800" bIns="50800" rtlCol="0" anchor="ctr"/>
            <a:lstStyle/>
            <a:p>
              <a:pPr algn="ctr">
                <a:lnSpc>
                  <a:spcPts val="2736"/>
                </a:lnSpc>
              </a:pPr>
              <a:endParaRPr/>
            </a:p>
          </p:txBody>
        </p:sp>
      </p:grpSp>
      <p:sp>
        <p:nvSpPr>
          <p:cNvPr id="5" name="Freeform 5"/>
          <p:cNvSpPr/>
          <p:nvPr/>
        </p:nvSpPr>
        <p:spPr>
          <a:xfrm rot="-3592494">
            <a:off x="2487850" y="-1239941"/>
            <a:ext cx="16631217" cy="15723173"/>
          </a:xfrm>
          <a:custGeom>
            <a:avLst/>
            <a:gdLst/>
            <a:ahLst/>
            <a:cxnLst/>
            <a:rect l="l" t="t" r="r" b="b"/>
            <a:pathLst>
              <a:path w="16631217" h="15723173">
                <a:moveTo>
                  <a:pt x="0" y="0"/>
                </a:moveTo>
                <a:lnTo>
                  <a:pt x="16631217" y="0"/>
                </a:lnTo>
                <a:lnTo>
                  <a:pt x="16631217" y="15723172"/>
                </a:lnTo>
                <a:lnTo>
                  <a:pt x="0" y="1572317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MA"/>
          </a:p>
        </p:txBody>
      </p:sp>
      <p:grpSp>
        <p:nvGrpSpPr>
          <p:cNvPr id="6" name="Group 6"/>
          <p:cNvGrpSpPr/>
          <p:nvPr/>
        </p:nvGrpSpPr>
        <p:grpSpPr>
          <a:xfrm>
            <a:off x="8881627" y="1103441"/>
            <a:ext cx="7863563" cy="1915702"/>
            <a:chOff x="0" y="0"/>
            <a:chExt cx="2993565" cy="729285"/>
          </a:xfrm>
        </p:grpSpPr>
        <p:sp>
          <p:nvSpPr>
            <p:cNvPr id="7" name="Freeform 7"/>
            <p:cNvSpPr/>
            <p:nvPr/>
          </p:nvSpPr>
          <p:spPr>
            <a:xfrm>
              <a:off x="0" y="0"/>
              <a:ext cx="2993565" cy="729285"/>
            </a:xfrm>
            <a:custGeom>
              <a:avLst/>
              <a:gdLst/>
              <a:ahLst/>
              <a:cxnLst/>
              <a:rect l="l" t="t" r="r" b="b"/>
              <a:pathLst>
                <a:path w="2993565" h="729285">
                  <a:moveTo>
                    <a:pt x="9845" y="0"/>
                  </a:moveTo>
                  <a:lnTo>
                    <a:pt x="2983720" y="0"/>
                  </a:lnTo>
                  <a:cubicBezTo>
                    <a:pt x="2989157" y="0"/>
                    <a:pt x="2993565" y="4408"/>
                    <a:pt x="2993565" y="9845"/>
                  </a:cubicBezTo>
                  <a:lnTo>
                    <a:pt x="2993565" y="719440"/>
                  </a:lnTo>
                  <a:cubicBezTo>
                    <a:pt x="2993565" y="724877"/>
                    <a:pt x="2989157" y="729285"/>
                    <a:pt x="2983720" y="729285"/>
                  </a:cubicBezTo>
                  <a:lnTo>
                    <a:pt x="9845" y="729285"/>
                  </a:lnTo>
                  <a:cubicBezTo>
                    <a:pt x="4408" y="729285"/>
                    <a:pt x="0" y="724877"/>
                    <a:pt x="0" y="719440"/>
                  </a:cubicBezTo>
                  <a:lnTo>
                    <a:pt x="0" y="9845"/>
                  </a:lnTo>
                  <a:cubicBezTo>
                    <a:pt x="0" y="4408"/>
                    <a:pt x="4408" y="0"/>
                    <a:pt x="9845" y="0"/>
                  </a:cubicBezTo>
                  <a:close/>
                </a:path>
              </a:pathLst>
            </a:custGeom>
            <a:solidFill>
              <a:srgbClr val="FFFFFF"/>
            </a:solidFill>
            <a:ln w="19050" cap="sq">
              <a:solidFill>
                <a:srgbClr val="30292F"/>
              </a:solidFill>
              <a:prstDash val="solid"/>
              <a:miter/>
            </a:ln>
          </p:spPr>
          <p:txBody>
            <a:bodyPr/>
            <a:lstStyle/>
            <a:p>
              <a:endParaRPr lang="fr-MA"/>
            </a:p>
          </p:txBody>
        </p:sp>
        <p:sp>
          <p:nvSpPr>
            <p:cNvPr id="8" name="TextBox 8"/>
            <p:cNvSpPr txBox="1"/>
            <p:nvPr/>
          </p:nvSpPr>
          <p:spPr>
            <a:xfrm>
              <a:off x="0" y="-38100"/>
              <a:ext cx="2993565" cy="767385"/>
            </a:xfrm>
            <a:prstGeom prst="rect">
              <a:avLst/>
            </a:prstGeom>
          </p:spPr>
          <p:txBody>
            <a:bodyPr lIns="33859" tIns="33859" rIns="33859" bIns="33859" rtlCol="0" anchor="ctr"/>
            <a:lstStyle/>
            <a:p>
              <a:pPr algn="ctr">
                <a:lnSpc>
                  <a:spcPts val="2775"/>
                </a:lnSpc>
              </a:pPr>
              <a:endParaRPr/>
            </a:p>
          </p:txBody>
        </p:sp>
      </p:grpSp>
      <p:grpSp>
        <p:nvGrpSpPr>
          <p:cNvPr id="9" name="Group 9"/>
          <p:cNvGrpSpPr/>
          <p:nvPr/>
        </p:nvGrpSpPr>
        <p:grpSpPr>
          <a:xfrm>
            <a:off x="9117731" y="1377691"/>
            <a:ext cx="678319" cy="753602"/>
            <a:chOff x="0" y="0"/>
            <a:chExt cx="812800" cy="903009"/>
          </a:xfrm>
        </p:grpSpPr>
        <p:sp>
          <p:nvSpPr>
            <p:cNvPr id="10" name="Freeform 10"/>
            <p:cNvSpPr/>
            <p:nvPr/>
          </p:nvSpPr>
          <p:spPr>
            <a:xfrm>
              <a:off x="0" y="0"/>
              <a:ext cx="812800" cy="903009"/>
            </a:xfrm>
            <a:custGeom>
              <a:avLst/>
              <a:gdLst/>
              <a:ahLst/>
              <a:cxnLst/>
              <a:rect l="l" t="t" r="r" b="b"/>
              <a:pathLst>
                <a:path w="812800" h="903009">
                  <a:moveTo>
                    <a:pt x="406400" y="0"/>
                  </a:moveTo>
                  <a:cubicBezTo>
                    <a:pt x="181951" y="0"/>
                    <a:pt x="0" y="202145"/>
                    <a:pt x="0" y="451504"/>
                  </a:cubicBezTo>
                  <a:cubicBezTo>
                    <a:pt x="0" y="700863"/>
                    <a:pt x="181951" y="903009"/>
                    <a:pt x="406400" y="903009"/>
                  </a:cubicBezTo>
                  <a:cubicBezTo>
                    <a:pt x="630849" y="903009"/>
                    <a:pt x="812800" y="700863"/>
                    <a:pt x="812800" y="451504"/>
                  </a:cubicBezTo>
                  <a:cubicBezTo>
                    <a:pt x="812800" y="202145"/>
                    <a:pt x="630849" y="0"/>
                    <a:pt x="406400" y="0"/>
                  </a:cubicBezTo>
                  <a:lnTo>
                    <a:pt x="406400" y="0"/>
                  </a:lnTo>
                  <a:close/>
                </a:path>
              </a:pathLst>
            </a:custGeom>
            <a:solidFill>
              <a:srgbClr val="97BCD8"/>
            </a:solidFill>
            <a:ln w="9525" cap="sq">
              <a:solidFill>
                <a:srgbClr val="30292F"/>
              </a:solidFill>
              <a:prstDash val="solid"/>
              <a:miter/>
            </a:ln>
          </p:spPr>
          <p:txBody>
            <a:bodyPr/>
            <a:lstStyle/>
            <a:p>
              <a:endParaRPr lang="fr-MA"/>
            </a:p>
          </p:txBody>
        </p:sp>
        <p:sp>
          <p:nvSpPr>
            <p:cNvPr id="11" name="TextBox 11"/>
            <p:cNvSpPr txBox="1"/>
            <p:nvPr/>
          </p:nvSpPr>
          <p:spPr>
            <a:xfrm>
              <a:off x="76200" y="94182"/>
              <a:ext cx="660400" cy="724170"/>
            </a:xfrm>
            <a:prstGeom prst="rect">
              <a:avLst/>
            </a:prstGeom>
          </p:spPr>
          <p:txBody>
            <a:bodyPr lIns="50800" tIns="50800" rIns="50800" bIns="50800" rtlCol="0" anchor="ctr"/>
            <a:lstStyle/>
            <a:p>
              <a:pPr algn="ctr">
                <a:lnSpc>
                  <a:spcPts val="2736"/>
                </a:lnSpc>
              </a:pPr>
              <a:r>
                <a:rPr lang="en-US" sz="2400" b="1">
                  <a:solidFill>
                    <a:srgbClr val="FFFFFF"/>
                  </a:solidFill>
                  <a:latin typeface="Inter Bold"/>
                  <a:ea typeface="Inter Bold"/>
                  <a:cs typeface="Inter Bold"/>
                  <a:sym typeface="Inter Bold"/>
                </a:rPr>
                <a:t>1</a:t>
              </a:r>
            </a:p>
          </p:txBody>
        </p:sp>
      </p:grpSp>
      <p:grpSp>
        <p:nvGrpSpPr>
          <p:cNvPr id="12" name="Group 12"/>
          <p:cNvGrpSpPr/>
          <p:nvPr/>
        </p:nvGrpSpPr>
        <p:grpSpPr>
          <a:xfrm>
            <a:off x="8881627" y="3158246"/>
            <a:ext cx="7863563" cy="1915702"/>
            <a:chOff x="0" y="0"/>
            <a:chExt cx="2993565" cy="729285"/>
          </a:xfrm>
        </p:grpSpPr>
        <p:sp>
          <p:nvSpPr>
            <p:cNvPr id="13" name="Freeform 13"/>
            <p:cNvSpPr/>
            <p:nvPr/>
          </p:nvSpPr>
          <p:spPr>
            <a:xfrm>
              <a:off x="0" y="0"/>
              <a:ext cx="2993565" cy="729285"/>
            </a:xfrm>
            <a:custGeom>
              <a:avLst/>
              <a:gdLst/>
              <a:ahLst/>
              <a:cxnLst/>
              <a:rect l="l" t="t" r="r" b="b"/>
              <a:pathLst>
                <a:path w="2993565" h="729285">
                  <a:moveTo>
                    <a:pt x="9845" y="0"/>
                  </a:moveTo>
                  <a:lnTo>
                    <a:pt x="2983720" y="0"/>
                  </a:lnTo>
                  <a:cubicBezTo>
                    <a:pt x="2989157" y="0"/>
                    <a:pt x="2993565" y="4408"/>
                    <a:pt x="2993565" y="9845"/>
                  </a:cubicBezTo>
                  <a:lnTo>
                    <a:pt x="2993565" y="719440"/>
                  </a:lnTo>
                  <a:cubicBezTo>
                    <a:pt x="2993565" y="724877"/>
                    <a:pt x="2989157" y="729285"/>
                    <a:pt x="2983720" y="729285"/>
                  </a:cubicBezTo>
                  <a:lnTo>
                    <a:pt x="9845" y="729285"/>
                  </a:lnTo>
                  <a:cubicBezTo>
                    <a:pt x="4408" y="729285"/>
                    <a:pt x="0" y="724877"/>
                    <a:pt x="0" y="719440"/>
                  </a:cubicBezTo>
                  <a:lnTo>
                    <a:pt x="0" y="9845"/>
                  </a:lnTo>
                  <a:cubicBezTo>
                    <a:pt x="0" y="4408"/>
                    <a:pt x="4408" y="0"/>
                    <a:pt x="9845" y="0"/>
                  </a:cubicBezTo>
                  <a:close/>
                </a:path>
              </a:pathLst>
            </a:custGeom>
            <a:solidFill>
              <a:srgbClr val="FFFFFF"/>
            </a:solidFill>
            <a:ln w="19050" cap="sq">
              <a:solidFill>
                <a:srgbClr val="30292F"/>
              </a:solidFill>
              <a:prstDash val="solid"/>
              <a:miter/>
            </a:ln>
          </p:spPr>
          <p:txBody>
            <a:bodyPr/>
            <a:lstStyle/>
            <a:p>
              <a:endParaRPr lang="fr-MA"/>
            </a:p>
          </p:txBody>
        </p:sp>
        <p:sp>
          <p:nvSpPr>
            <p:cNvPr id="14" name="TextBox 14"/>
            <p:cNvSpPr txBox="1"/>
            <p:nvPr/>
          </p:nvSpPr>
          <p:spPr>
            <a:xfrm>
              <a:off x="0" y="-38100"/>
              <a:ext cx="2993565" cy="767385"/>
            </a:xfrm>
            <a:prstGeom prst="rect">
              <a:avLst/>
            </a:prstGeom>
          </p:spPr>
          <p:txBody>
            <a:bodyPr lIns="33859" tIns="33859" rIns="33859" bIns="33859" rtlCol="0" anchor="ctr"/>
            <a:lstStyle/>
            <a:p>
              <a:pPr algn="ctr">
                <a:lnSpc>
                  <a:spcPts val="2775"/>
                </a:lnSpc>
              </a:pPr>
              <a:endParaRPr/>
            </a:p>
          </p:txBody>
        </p:sp>
      </p:grpSp>
      <p:grpSp>
        <p:nvGrpSpPr>
          <p:cNvPr id="15" name="Group 15"/>
          <p:cNvGrpSpPr/>
          <p:nvPr/>
        </p:nvGrpSpPr>
        <p:grpSpPr>
          <a:xfrm>
            <a:off x="9117731" y="3432497"/>
            <a:ext cx="678319" cy="753602"/>
            <a:chOff x="0" y="0"/>
            <a:chExt cx="812800" cy="903009"/>
          </a:xfrm>
        </p:grpSpPr>
        <p:sp>
          <p:nvSpPr>
            <p:cNvPr id="16" name="Freeform 16"/>
            <p:cNvSpPr/>
            <p:nvPr/>
          </p:nvSpPr>
          <p:spPr>
            <a:xfrm>
              <a:off x="0" y="0"/>
              <a:ext cx="812800" cy="903009"/>
            </a:xfrm>
            <a:custGeom>
              <a:avLst/>
              <a:gdLst/>
              <a:ahLst/>
              <a:cxnLst/>
              <a:rect l="l" t="t" r="r" b="b"/>
              <a:pathLst>
                <a:path w="812800" h="903009">
                  <a:moveTo>
                    <a:pt x="406400" y="0"/>
                  </a:moveTo>
                  <a:cubicBezTo>
                    <a:pt x="181951" y="0"/>
                    <a:pt x="0" y="202145"/>
                    <a:pt x="0" y="451504"/>
                  </a:cubicBezTo>
                  <a:cubicBezTo>
                    <a:pt x="0" y="700863"/>
                    <a:pt x="181951" y="903009"/>
                    <a:pt x="406400" y="903009"/>
                  </a:cubicBezTo>
                  <a:cubicBezTo>
                    <a:pt x="630849" y="903009"/>
                    <a:pt x="812800" y="700863"/>
                    <a:pt x="812800" y="451504"/>
                  </a:cubicBezTo>
                  <a:cubicBezTo>
                    <a:pt x="812800" y="202145"/>
                    <a:pt x="630849" y="0"/>
                    <a:pt x="406400" y="0"/>
                  </a:cubicBezTo>
                  <a:lnTo>
                    <a:pt x="406400" y="0"/>
                  </a:lnTo>
                  <a:close/>
                </a:path>
              </a:pathLst>
            </a:custGeom>
            <a:solidFill>
              <a:srgbClr val="5C96C1"/>
            </a:solidFill>
            <a:ln w="9525" cap="sq">
              <a:solidFill>
                <a:srgbClr val="30292F"/>
              </a:solidFill>
              <a:prstDash val="solid"/>
              <a:miter/>
            </a:ln>
          </p:spPr>
          <p:txBody>
            <a:bodyPr/>
            <a:lstStyle/>
            <a:p>
              <a:endParaRPr lang="fr-MA"/>
            </a:p>
          </p:txBody>
        </p:sp>
        <p:sp>
          <p:nvSpPr>
            <p:cNvPr id="17" name="TextBox 17"/>
            <p:cNvSpPr txBox="1"/>
            <p:nvPr/>
          </p:nvSpPr>
          <p:spPr>
            <a:xfrm>
              <a:off x="76200" y="94182"/>
              <a:ext cx="660400" cy="724170"/>
            </a:xfrm>
            <a:prstGeom prst="rect">
              <a:avLst/>
            </a:prstGeom>
          </p:spPr>
          <p:txBody>
            <a:bodyPr lIns="50800" tIns="50800" rIns="50800" bIns="50800" rtlCol="0" anchor="ctr"/>
            <a:lstStyle/>
            <a:p>
              <a:pPr algn="ctr">
                <a:lnSpc>
                  <a:spcPts val="2736"/>
                </a:lnSpc>
              </a:pPr>
              <a:r>
                <a:rPr lang="en-US" sz="2400" b="1">
                  <a:solidFill>
                    <a:srgbClr val="FFFFFF"/>
                  </a:solidFill>
                  <a:latin typeface="Inter Bold"/>
                  <a:ea typeface="Inter Bold"/>
                  <a:cs typeface="Inter Bold"/>
                  <a:sym typeface="Inter Bold"/>
                </a:rPr>
                <a:t>2</a:t>
              </a:r>
            </a:p>
          </p:txBody>
        </p:sp>
      </p:grpSp>
      <p:grpSp>
        <p:nvGrpSpPr>
          <p:cNvPr id="18" name="Group 18"/>
          <p:cNvGrpSpPr/>
          <p:nvPr/>
        </p:nvGrpSpPr>
        <p:grpSpPr>
          <a:xfrm>
            <a:off x="8881627" y="5213051"/>
            <a:ext cx="7863563" cy="1915702"/>
            <a:chOff x="0" y="0"/>
            <a:chExt cx="2993565" cy="729285"/>
          </a:xfrm>
        </p:grpSpPr>
        <p:sp>
          <p:nvSpPr>
            <p:cNvPr id="19" name="Freeform 19"/>
            <p:cNvSpPr/>
            <p:nvPr/>
          </p:nvSpPr>
          <p:spPr>
            <a:xfrm>
              <a:off x="0" y="0"/>
              <a:ext cx="2993565" cy="729285"/>
            </a:xfrm>
            <a:custGeom>
              <a:avLst/>
              <a:gdLst/>
              <a:ahLst/>
              <a:cxnLst/>
              <a:rect l="l" t="t" r="r" b="b"/>
              <a:pathLst>
                <a:path w="2993565" h="729285">
                  <a:moveTo>
                    <a:pt x="9845" y="0"/>
                  </a:moveTo>
                  <a:lnTo>
                    <a:pt x="2983720" y="0"/>
                  </a:lnTo>
                  <a:cubicBezTo>
                    <a:pt x="2989157" y="0"/>
                    <a:pt x="2993565" y="4408"/>
                    <a:pt x="2993565" y="9845"/>
                  </a:cubicBezTo>
                  <a:lnTo>
                    <a:pt x="2993565" y="719440"/>
                  </a:lnTo>
                  <a:cubicBezTo>
                    <a:pt x="2993565" y="724877"/>
                    <a:pt x="2989157" y="729285"/>
                    <a:pt x="2983720" y="729285"/>
                  </a:cubicBezTo>
                  <a:lnTo>
                    <a:pt x="9845" y="729285"/>
                  </a:lnTo>
                  <a:cubicBezTo>
                    <a:pt x="4408" y="729285"/>
                    <a:pt x="0" y="724877"/>
                    <a:pt x="0" y="719440"/>
                  </a:cubicBezTo>
                  <a:lnTo>
                    <a:pt x="0" y="9845"/>
                  </a:lnTo>
                  <a:cubicBezTo>
                    <a:pt x="0" y="4408"/>
                    <a:pt x="4408" y="0"/>
                    <a:pt x="9845" y="0"/>
                  </a:cubicBezTo>
                  <a:close/>
                </a:path>
              </a:pathLst>
            </a:custGeom>
            <a:solidFill>
              <a:srgbClr val="FFFFFF"/>
            </a:solidFill>
            <a:ln w="19050" cap="sq">
              <a:solidFill>
                <a:srgbClr val="30292F"/>
              </a:solidFill>
              <a:prstDash val="solid"/>
              <a:miter/>
            </a:ln>
          </p:spPr>
          <p:txBody>
            <a:bodyPr/>
            <a:lstStyle/>
            <a:p>
              <a:endParaRPr lang="fr-MA"/>
            </a:p>
          </p:txBody>
        </p:sp>
        <p:sp>
          <p:nvSpPr>
            <p:cNvPr id="20" name="TextBox 20"/>
            <p:cNvSpPr txBox="1"/>
            <p:nvPr/>
          </p:nvSpPr>
          <p:spPr>
            <a:xfrm>
              <a:off x="0" y="-38100"/>
              <a:ext cx="2993565" cy="767385"/>
            </a:xfrm>
            <a:prstGeom prst="rect">
              <a:avLst/>
            </a:prstGeom>
          </p:spPr>
          <p:txBody>
            <a:bodyPr lIns="33859" tIns="33859" rIns="33859" bIns="33859" rtlCol="0" anchor="ctr"/>
            <a:lstStyle/>
            <a:p>
              <a:pPr algn="ctr">
                <a:lnSpc>
                  <a:spcPts val="2775"/>
                </a:lnSpc>
              </a:pPr>
              <a:endParaRPr/>
            </a:p>
          </p:txBody>
        </p:sp>
      </p:grpSp>
      <p:grpSp>
        <p:nvGrpSpPr>
          <p:cNvPr id="21" name="Group 21"/>
          <p:cNvGrpSpPr/>
          <p:nvPr/>
        </p:nvGrpSpPr>
        <p:grpSpPr>
          <a:xfrm>
            <a:off x="9117731" y="5487302"/>
            <a:ext cx="678319" cy="753602"/>
            <a:chOff x="0" y="0"/>
            <a:chExt cx="812800" cy="903009"/>
          </a:xfrm>
        </p:grpSpPr>
        <p:sp>
          <p:nvSpPr>
            <p:cNvPr id="22" name="Freeform 22"/>
            <p:cNvSpPr/>
            <p:nvPr/>
          </p:nvSpPr>
          <p:spPr>
            <a:xfrm>
              <a:off x="0" y="0"/>
              <a:ext cx="812800" cy="903009"/>
            </a:xfrm>
            <a:custGeom>
              <a:avLst/>
              <a:gdLst/>
              <a:ahLst/>
              <a:cxnLst/>
              <a:rect l="l" t="t" r="r" b="b"/>
              <a:pathLst>
                <a:path w="812800" h="903009">
                  <a:moveTo>
                    <a:pt x="406400" y="0"/>
                  </a:moveTo>
                  <a:cubicBezTo>
                    <a:pt x="181951" y="0"/>
                    <a:pt x="0" y="202145"/>
                    <a:pt x="0" y="451504"/>
                  </a:cubicBezTo>
                  <a:cubicBezTo>
                    <a:pt x="0" y="700863"/>
                    <a:pt x="181951" y="903009"/>
                    <a:pt x="406400" y="903009"/>
                  </a:cubicBezTo>
                  <a:cubicBezTo>
                    <a:pt x="630849" y="903009"/>
                    <a:pt x="812800" y="700863"/>
                    <a:pt x="812800" y="451504"/>
                  </a:cubicBezTo>
                  <a:cubicBezTo>
                    <a:pt x="812800" y="202145"/>
                    <a:pt x="630849" y="0"/>
                    <a:pt x="406400" y="0"/>
                  </a:cubicBezTo>
                  <a:lnTo>
                    <a:pt x="406400" y="0"/>
                  </a:lnTo>
                  <a:close/>
                </a:path>
              </a:pathLst>
            </a:custGeom>
            <a:solidFill>
              <a:srgbClr val="376C95"/>
            </a:solidFill>
            <a:ln w="9525" cap="sq">
              <a:solidFill>
                <a:srgbClr val="30292F"/>
              </a:solidFill>
              <a:prstDash val="solid"/>
              <a:miter/>
            </a:ln>
          </p:spPr>
          <p:txBody>
            <a:bodyPr/>
            <a:lstStyle/>
            <a:p>
              <a:endParaRPr lang="fr-MA"/>
            </a:p>
          </p:txBody>
        </p:sp>
        <p:sp>
          <p:nvSpPr>
            <p:cNvPr id="23" name="TextBox 23"/>
            <p:cNvSpPr txBox="1"/>
            <p:nvPr/>
          </p:nvSpPr>
          <p:spPr>
            <a:xfrm>
              <a:off x="76200" y="94182"/>
              <a:ext cx="660400" cy="724170"/>
            </a:xfrm>
            <a:prstGeom prst="rect">
              <a:avLst/>
            </a:prstGeom>
          </p:spPr>
          <p:txBody>
            <a:bodyPr lIns="50800" tIns="50800" rIns="50800" bIns="50800" rtlCol="0" anchor="ctr"/>
            <a:lstStyle/>
            <a:p>
              <a:pPr algn="ctr">
                <a:lnSpc>
                  <a:spcPts val="2736"/>
                </a:lnSpc>
              </a:pPr>
              <a:r>
                <a:rPr lang="en-US" sz="2400" b="1">
                  <a:solidFill>
                    <a:srgbClr val="FFFFFF"/>
                  </a:solidFill>
                  <a:latin typeface="Inter Bold"/>
                  <a:ea typeface="Inter Bold"/>
                  <a:cs typeface="Inter Bold"/>
                  <a:sym typeface="Inter Bold"/>
                </a:rPr>
                <a:t>3</a:t>
              </a:r>
            </a:p>
          </p:txBody>
        </p:sp>
      </p:grpSp>
      <p:grpSp>
        <p:nvGrpSpPr>
          <p:cNvPr id="24" name="Group 24"/>
          <p:cNvGrpSpPr/>
          <p:nvPr/>
        </p:nvGrpSpPr>
        <p:grpSpPr>
          <a:xfrm>
            <a:off x="8881627" y="7267857"/>
            <a:ext cx="7863563" cy="1915702"/>
            <a:chOff x="0" y="0"/>
            <a:chExt cx="2993565" cy="729285"/>
          </a:xfrm>
        </p:grpSpPr>
        <p:sp>
          <p:nvSpPr>
            <p:cNvPr id="25" name="Freeform 25"/>
            <p:cNvSpPr/>
            <p:nvPr/>
          </p:nvSpPr>
          <p:spPr>
            <a:xfrm>
              <a:off x="0" y="0"/>
              <a:ext cx="2993565" cy="729285"/>
            </a:xfrm>
            <a:custGeom>
              <a:avLst/>
              <a:gdLst/>
              <a:ahLst/>
              <a:cxnLst/>
              <a:rect l="l" t="t" r="r" b="b"/>
              <a:pathLst>
                <a:path w="2993565" h="729285">
                  <a:moveTo>
                    <a:pt x="9845" y="0"/>
                  </a:moveTo>
                  <a:lnTo>
                    <a:pt x="2983720" y="0"/>
                  </a:lnTo>
                  <a:cubicBezTo>
                    <a:pt x="2989157" y="0"/>
                    <a:pt x="2993565" y="4408"/>
                    <a:pt x="2993565" y="9845"/>
                  </a:cubicBezTo>
                  <a:lnTo>
                    <a:pt x="2993565" y="719440"/>
                  </a:lnTo>
                  <a:cubicBezTo>
                    <a:pt x="2993565" y="724877"/>
                    <a:pt x="2989157" y="729285"/>
                    <a:pt x="2983720" y="729285"/>
                  </a:cubicBezTo>
                  <a:lnTo>
                    <a:pt x="9845" y="729285"/>
                  </a:lnTo>
                  <a:cubicBezTo>
                    <a:pt x="4408" y="729285"/>
                    <a:pt x="0" y="724877"/>
                    <a:pt x="0" y="719440"/>
                  </a:cubicBezTo>
                  <a:lnTo>
                    <a:pt x="0" y="9845"/>
                  </a:lnTo>
                  <a:cubicBezTo>
                    <a:pt x="0" y="4408"/>
                    <a:pt x="4408" y="0"/>
                    <a:pt x="9845" y="0"/>
                  </a:cubicBezTo>
                  <a:close/>
                </a:path>
              </a:pathLst>
            </a:custGeom>
            <a:solidFill>
              <a:srgbClr val="FFFFFF"/>
            </a:solidFill>
            <a:ln w="19050" cap="sq">
              <a:solidFill>
                <a:srgbClr val="30292F"/>
              </a:solidFill>
              <a:prstDash val="solid"/>
              <a:miter/>
            </a:ln>
          </p:spPr>
          <p:txBody>
            <a:bodyPr/>
            <a:lstStyle/>
            <a:p>
              <a:endParaRPr lang="fr-MA"/>
            </a:p>
          </p:txBody>
        </p:sp>
        <p:sp>
          <p:nvSpPr>
            <p:cNvPr id="26" name="TextBox 26"/>
            <p:cNvSpPr txBox="1"/>
            <p:nvPr/>
          </p:nvSpPr>
          <p:spPr>
            <a:xfrm>
              <a:off x="0" y="-38100"/>
              <a:ext cx="2993565" cy="767385"/>
            </a:xfrm>
            <a:prstGeom prst="rect">
              <a:avLst/>
            </a:prstGeom>
          </p:spPr>
          <p:txBody>
            <a:bodyPr lIns="33859" tIns="33859" rIns="33859" bIns="33859" rtlCol="0" anchor="ctr"/>
            <a:lstStyle/>
            <a:p>
              <a:pPr algn="ctr">
                <a:lnSpc>
                  <a:spcPts val="2775"/>
                </a:lnSpc>
              </a:pPr>
              <a:endParaRPr/>
            </a:p>
          </p:txBody>
        </p:sp>
      </p:grpSp>
      <p:grpSp>
        <p:nvGrpSpPr>
          <p:cNvPr id="27" name="Group 27"/>
          <p:cNvGrpSpPr/>
          <p:nvPr/>
        </p:nvGrpSpPr>
        <p:grpSpPr>
          <a:xfrm>
            <a:off x="9117731" y="7542107"/>
            <a:ext cx="678319" cy="753602"/>
            <a:chOff x="0" y="0"/>
            <a:chExt cx="812800" cy="903009"/>
          </a:xfrm>
        </p:grpSpPr>
        <p:sp>
          <p:nvSpPr>
            <p:cNvPr id="28" name="Freeform 28"/>
            <p:cNvSpPr/>
            <p:nvPr/>
          </p:nvSpPr>
          <p:spPr>
            <a:xfrm>
              <a:off x="0" y="0"/>
              <a:ext cx="812800" cy="903009"/>
            </a:xfrm>
            <a:custGeom>
              <a:avLst/>
              <a:gdLst/>
              <a:ahLst/>
              <a:cxnLst/>
              <a:rect l="l" t="t" r="r" b="b"/>
              <a:pathLst>
                <a:path w="812800" h="903009">
                  <a:moveTo>
                    <a:pt x="406400" y="0"/>
                  </a:moveTo>
                  <a:cubicBezTo>
                    <a:pt x="181951" y="0"/>
                    <a:pt x="0" y="202145"/>
                    <a:pt x="0" y="451504"/>
                  </a:cubicBezTo>
                  <a:cubicBezTo>
                    <a:pt x="0" y="700863"/>
                    <a:pt x="181951" y="903009"/>
                    <a:pt x="406400" y="903009"/>
                  </a:cubicBezTo>
                  <a:cubicBezTo>
                    <a:pt x="630849" y="903009"/>
                    <a:pt x="812800" y="700863"/>
                    <a:pt x="812800" y="451504"/>
                  </a:cubicBezTo>
                  <a:cubicBezTo>
                    <a:pt x="812800" y="202145"/>
                    <a:pt x="630849" y="0"/>
                    <a:pt x="406400" y="0"/>
                  </a:cubicBezTo>
                  <a:lnTo>
                    <a:pt x="406400" y="0"/>
                  </a:lnTo>
                  <a:close/>
                </a:path>
              </a:pathLst>
            </a:custGeom>
            <a:solidFill>
              <a:srgbClr val="326186"/>
            </a:solidFill>
            <a:ln w="9525" cap="sq">
              <a:solidFill>
                <a:srgbClr val="30292F"/>
              </a:solidFill>
              <a:prstDash val="solid"/>
              <a:miter/>
            </a:ln>
          </p:spPr>
          <p:txBody>
            <a:bodyPr/>
            <a:lstStyle/>
            <a:p>
              <a:endParaRPr lang="fr-MA"/>
            </a:p>
          </p:txBody>
        </p:sp>
        <p:sp>
          <p:nvSpPr>
            <p:cNvPr id="29" name="TextBox 29"/>
            <p:cNvSpPr txBox="1"/>
            <p:nvPr/>
          </p:nvSpPr>
          <p:spPr>
            <a:xfrm>
              <a:off x="76200" y="94182"/>
              <a:ext cx="660400" cy="724170"/>
            </a:xfrm>
            <a:prstGeom prst="rect">
              <a:avLst/>
            </a:prstGeom>
          </p:spPr>
          <p:txBody>
            <a:bodyPr lIns="50800" tIns="50800" rIns="50800" bIns="50800" rtlCol="0" anchor="ctr"/>
            <a:lstStyle/>
            <a:p>
              <a:pPr algn="ctr">
                <a:lnSpc>
                  <a:spcPts val="2736"/>
                </a:lnSpc>
              </a:pPr>
              <a:r>
                <a:rPr lang="en-US" sz="2400" b="1">
                  <a:solidFill>
                    <a:srgbClr val="FFFFFF"/>
                  </a:solidFill>
                  <a:latin typeface="Inter Bold"/>
                  <a:ea typeface="Inter Bold"/>
                  <a:cs typeface="Inter Bold"/>
                  <a:sym typeface="Inter Bold"/>
                </a:rPr>
                <a:t>4</a:t>
              </a:r>
            </a:p>
          </p:txBody>
        </p:sp>
      </p:grpSp>
      <p:grpSp>
        <p:nvGrpSpPr>
          <p:cNvPr id="30" name="Group 30"/>
          <p:cNvGrpSpPr/>
          <p:nvPr/>
        </p:nvGrpSpPr>
        <p:grpSpPr>
          <a:xfrm>
            <a:off x="1725462" y="5026782"/>
            <a:ext cx="4349619" cy="4776557"/>
            <a:chOff x="30480" y="591820"/>
            <a:chExt cx="12736830" cy="13987017"/>
          </a:xfrm>
        </p:grpSpPr>
        <p:sp>
          <p:nvSpPr>
            <p:cNvPr id="31" name="Freeform 31"/>
            <p:cNvSpPr/>
            <p:nvPr/>
          </p:nvSpPr>
          <p:spPr>
            <a:xfrm>
              <a:off x="64261" y="243058"/>
              <a:ext cx="12517576" cy="13099601"/>
            </a:xfrm>
            <a:custGeom>
              <a:avLst/>
              <a:gdLst/>
              <a:ahLst/>
              <a:cxnLst/>
              <a:rect l="l" t="t" r="r" b="b"/>
              <a:pathLst>
                <a:path w="12517576" h="13099601">
                  <a:moveTo>
                    <a:pt x="11861039" y="4546461"/>
                  </a:moveTo>
                  <a:cubicBezTo>
                    <a:pt x="10754869" y="2093335"/>
                    <a:pt x="8526019" y="301772"/>
                    <a:pt x="6151119" y="54122"/>
                  </a:cubicBezTo>
                  <a:cubicBezTo>
                    <a:pt x="4213099" y="-243058"/>
                    <a:pt x="2938019" y="715354"/>
                    <a:pt x="1896619" y="2149846"/>
                  </a:cubicBezTo>
                  <a:cubicBezTo>
                    <a:pt x="855219" y="3584337"/>
                    <a:pt x="301499" y="5412952"/>
                    <a:pt x="77979" y="7257506"/>
                  </a:cubicBezTo>
                  <a:cubicBezTo>
                    <a:pt x="-40131" y="8231221"/>
                    <a:pt x="-64261" y="9264345"/>
                    <a:pt x="297689" y="10156917"/>
                  </a:cubicBezTo>
                  <a:cubicBezTo>
                    <a:pt x="756159" y="11288571"/>
                    <a:pt x="1758189" y="12008715"/>
                    <a:pt x="2777999" y="12456451"/>
                  </a:cubicBezTo>
                  <a:cubicBezTo>
                    <a:pt x="5521199" y="13660554"/>
                    <a:pt x="8889240" y="13193982"/>
                    <a:pt x="11024109" y="10887204"/>
                  </a:cubicBezTo>
                  <a:cubicBezTo>
                    <a:pt x="11692129" y="10165611"/>
                    <a:pt x="12239499" y="9261447"/>
                    <a:pt x="12435079" y="8235568"/>
                  </a:cubicBezTo>
                  <a:cubicBezTo>
                    <a:pt x="12672569" y="6990893"/>
                    <a:pt x="12371579" y="5679565"/>
                    <a:pt x="11861039" y="4546461"/>
                  </a:cubicBezTo>
                  <a:close/>
                </a:path>
              </a:pathLst>
            </a:custGeom>
            <a:blipFill>
              <a:blip r:embed="rId3"/>
              <a:stretch>
                <a:fillRect l="-7062" r="-78981"/>
              </a:stretch>
            </a:blipFill>
          </p:spPr>
          <p:txBody>
            <a:bodyPr/>
            <a:lstStyle/>
            <a:p>
              <a:endParaRPr lang="fr-MA"/>
            </a:p>
          </p:txBody>
        </p:sp>
      </p:grpSp>
      <p:sp>
        <p:nvSpPr>
          <p:cNvPr id="32" name="TextBox 32"/>
          <p:cNvSpPr txBox="1"/>
          <p:nvPr/>
        </p:nvSpPr>
        <p:spPr>
          <a:xfrm>
            <a:off x="0" y="1344395"/>
            <a:ext cx="8140483" cy="2201769"/>
          </a:xfrm>
          <a:prstGeom prst="rect">
            <a:avLst/>
          </a:prstGeom>
        </p:spPr>
        <p:txBody>
          <a:bodyPr lIns="0" tIns="0" rIns="0" bIns="0" rtlCol="0" anchor="t">
            <a:spAutoFit/>
          </a:bodyPr>
          <a:lstStyle/>
          <a:p>
            <a:pPr algn="l">
              <a:lnSpc>
                <a:spcPts val="8360"/>
              </a:lnSpc>
            </a:pPr>
            <a:r>
              <a:rPr lang="en-US" sz="9289" spc="-92">
                <a:solidFill>
                  <a:srgbClr val="30292F"/>
                </a:solidFill>
                <a:latin typeface="Playfair Display"/>
                <a:ea typeface="Playfair Display"/>
                <a:cs typeface="Playfair Display"/>
                <a:sym typeface="Playfair Display"/>
              </a:rPr>
              <a:t>Fonctionnalités principales</a:t>
            </a:r>
          </a:p>
        </p:txBody>
      </p:sp>
      <p:sp>
        <p:nvSpPr>
          <p:cNvPr id="33" name="TextBox 33"/>
          <p:cNvSpPr txBox="1"/>
          <p:nvPr/>
        </p:nvSpPr>
        <p:spPr>
          <a:xfrm>
            <a:off x="10020276" y="1887643"/>
            <a:ext cx="6468117" cy="1143000"/>
          </a:xfrm>
          <a:prstGeom prst="rect">
            <a:avLst/>
          </a:prstGeom>
        </p:spPr>
        <p:txBody>
          <a:bodyPr lIns="0" tIns="0" rIns="0" bIns="0" rtlCol="0" anchor="t">
            <a:spAutoFit/>
          </a:bodyPr>
          <a:lstStyle/>
          <a:p>
            <a:pPr algn="l">
              <a:lnSpc>
                <a:spcPts val="2280"/>
              </a:lnSpc>
            </a:pPr>
            <a:r>
              <a:rPr lang="en-US" sz="1900">
                <a:solidFill>
                  <a:srgbClr val="30292F"/>
                </a:solidFill>
                <a:latin typeface="Inter"/>
                <a:ea typeface="Inter"/>
                <a:cs typeface="Inter"/>
                <a:sym typeface="Inter"/>
              </a:rPr>
              <a:t>Inscription avec choix du rôle</a:t>
            </a:r>
          </a:p>
          <a:p>
            <a:pPr algn="l">
              <a:lnSpc>
                <a:spcPts val="2280"/>
              </a:lnSpc>
            </a:pPr>
            <a:r>
              <a:rPr lang="en-US" sz="1900">
                <a:solidFill>
                  <a:srgbClr val="30292F"/>
                </a:solidFill>
                <a:latin typeface="Inter"/>
                <a:ea typeface="Inter"/>
                <a:cs typeface="Inter"/>
                <a:sym typeface="Inter"/>
              </a:rPr>
              <a:t>Connexion par email</a:t>
            </a:r>
          </a:p>
          <a:p>
            <a:pPr algn="l">
              <a:lnSpc>
                <a:spcPts val="2280"/>
              </a:lnSpc>
            </a:pPr>
            <a:r>
              <a:rPr lang="en-US" sz="1900">
                <a:solidFill>
                  <a:srgbClr val="30292F"/>
                </a:solidFill>
                <a:latin typeface="Inter"/>
                <a:ea typeface="Inter"/>
                <a:cs typeface="Inter"/>
                <a:sym typeface="Inter"/>
              </a:rPr>
              <a:t>Participant anonyme (IP + UUID)</a:t>
            </a:r>
          </a:p>
          <a:p>
            <a:pPr algn="l">
              <a:lnSpc>
                <a:spcPts val="2280"/>
              </a:lnSpc>
            </a:pPr>
            <a:endParaRPr lang="en-US" sz="1900">
              <a:solidFill>
                <a:srgbClr val="30292F"/>
              </a:solidFill>
              <a:latin typeface="Inter"/>
              <a:ea typeface="Inter"/>
              <a:cs typeface="Inter"/>
              <a:sym typeface="Inter"/>
            </a:endParaRPr>
          </a:p>
        </p:txBody>
      </p:sp>
      <p:sp>
        <p:nvSpPr>
          <p:cNvPr id="34" name="TextBox 34"/>
          <p:cNvSpPr txBox="1"/>
          <p:nvPr/>
        </p:nvSpPr>
        <p:spPr>
          <a:xfrm>
            <a:off x="10020276" y="1311016"/>
            <a:ext cx="4135542" cy="529001"/>
          </a:xfrm>
          <a:prstGeom prst="rect">
            <a:avLst/>
          </a:prstGeom>
        </p:spPr>
        <p:txBody>
          <a:bodyPr lIns="0" tIns="0" rIns="0" bIns="0" rtlCol="0" anchor="t">
            <a:spAutoFit/>
          </a:bodyPr>
          <a:lstStyle/>
          <a:p>
            <a:pPr algn="l">
              <a:lnSpc>
                <a:spcPts val="4313"/>
              </a:lnSpc>
            </a:pPr>
            <a:r>
              <a:rPr lang="en-US" sz="3080" b="1">
                <a:solidFill>
                  <a:srgbClr val="30292F"/>
                </a:solidFill>
                <a:latin typeface="Inter Bold"/>
                <a:ea typeface="Inter Bold"/>
                <a:cs typeface="Inter Bold"/>
                <a:sym typeface="Inter Bold"/>
              </a:rPr>
              <a:t>Gestion Utilisateurs </a:t>
            </a:r>
          </a:p>
        </p:txBody>
      </p:sp>
      <p:sp>
        <p:nvSpPr>
          <p:cNvPr id="35" name="TextBox 35"/>
          <p:cNvSpPr txBox="1"/>
          <p:nvPr/>
        </p:nvSpPr>
        <p:spPr>
          <a:xfrm>
            <a:off x="10020276" y="3942448"/>
            <a:ext cx="6468117" cy="1143000"/>
          </a:xfrm>
          <a:prstGeom prst="rect">
            <a:avLst/>
          </a:prstGeom>
        </p:spPr>
        <p:txBody>
          <a:bodyPr lIns="0" tIns="0" rIns="0" bIns="0" rtlCol="0" anchor="t">
            <a:spAutoFit/>
          </a:bodyPr>
          <a:lstStyle/>
          <a:p>
            <a:pPr algn="l">
              <a:lnSpc>
                <a:spcPts val="2280"/>
              </a:lnSpc>
            </a:pPr>
            <a:r>
              <a:rPr lang="en-US" sz="1900">
                <a:solidFill>
                  <a:srgbClr val="30292F"/>
                </a:solidFill>
                <a:latin typeface="Inter"/>
                <a:ea typeface="Inter"/>
                <a:cs typeface="Inter"/>
                <a:sym typeface="Inter"/>
              </a:rPr>
              <a:t>4 types de questions</a:t>
            </a:r>
          </a:p>
          <a:p>
            <a:pPr algn="l">
              <a:lnSpc>
                <a:spcPts val="2280"/>
              </a:lnSpc>
            </a:pPr>
            <a:r>
              <a:rPr lang="en-US" sz="1900">
                <a:solidFill>
                  <a:srgbClr val="30292F"/>
                </a:solidFill>
                <a:latin typeface="Inter"/>
                <a:ea typeface="Inter"/>
                <a:cs typeface="Inter"/>
                <a:sym typeface="Inter"/>
              </a:rPr>
              <a:t>Protection par mot de passe</a:t>
            </a:r>
          </a:p>
          <a:p>
            <a:pPr algn="l">
              <a:lnSpc>
                <a:spcPts val="2280"/>
              </a:lnSpc>
            </a:pPr>
            <a:r>
              <a:rPr lang="en-US" sz="1900">
                <a:solidFill>
                  <a:srgbClr val="30292F"/>
                </a:solidFill>
                <a:latin typeface="Inter"/>
                <a:ea typeface="Inter"/>
                <a:cs typeface="Inter"/>
                <a:sym typeface="Inter"/>
              </a:rPr>
              <a:t>Duplication de sondages</a:t>
            </a:r>
          </a:p>
          <a:p>
            <a:pPr algn="l">
              <a:lnSpc>
                <a:spcPts val="2280"/>
              </a:lnSpc>
            </a:pPr>
            <a:endParaRPr lang="en-US" sz="1900">
              <a:solidFill>
                <a:srgbClr val="30292F"/>
              </a:solidFill>
              <a:latin typeface="Inter"/>
              <a:ea typeface="Inter"/>
              <a:cs typeface="Inter"/>
              <a:sym typeface="Inter"/>
            </a:endParaRPr>
          </a:p>
        </p:txBody>
      </p:sp>
      <p:sp>
        <p:nvSpPr>
          <p:cNvPr id="36" name="TextBox 36"/>
          <p:cNvSpPr txBox="1"/>
          <p:nvPr/>
        </p:nvSpPr>
        <p:spPr>
          <a:xfrm>
            <a:off x="10020276" y="3365822"/>
            <a:ext cx="3851106" cy="529001"/>
          </a:xfrm>
          <a:prstGeom prst="rect">
            <a:avLst/>
          </a:prstGeom>
        </p:spPr>
        <p:txBody>
          <a:bodyPr lIns="0" tIns="0" rIns="0" bIns="0" rtlCol="0" anchor="t">
            <a:spAutoFit/>
          </a:bodyPr>
          <a:lstStyle/>
          <a:p>
            <a:pPr algn="l">
              <a:lnSpc>
                <a:spcPts val="4313"/>
              </a:lnSpc>
            </a:pPr>
            <a:r>
              <a:rPr lang="en-US" sz="3080" b="1">
                <a:solidFill>
                  <a:srgbClr val="30292F"/>
                </a:solidFill>
                <a:latin typeface="Inter Bold"/>
                <a:ea typeface="Inter Bold"/>
                <a:cs typeface="Inter Bold"/>
                <a:sym typeface="Inter Bold"/>
              </a:rPr>
              <a:t>Création sondages</a:t>
            </a:r>
          </a:p>
        </p:txBody>
      </p:sp>
      <p:sp>
        <p:nvSpPr>
          <p:cNvPr id="37" name="TextBox 37"/>
          <p:cNvSpPr txBox="1"/>
          <p:nvPr/>
        </p:nvSpPr>
        <p:spPr>
          <a:xfrm>
            <a:off x="10020276" y="5997253"/>
            <a:ext cx="6468117" cy="1143000"/>
          </a:xfrm>
          <a:prstGeom prst="rect">
            <a:avLst/>
          </a:prstGeom>
        </p:spPr>
        <p:txBody>
          <a:bodyPr lIns="0" tIns="0" rIns="0" bIns="0" rtlCol="0" anchor="t">
            <a:spAutoFit/>
          </a:bodyPr>
          <a:lstStyle/>
          <a:p>
            <a:pPr algn="l">
              <a:lnSpc>
                <a:spcPts val="2280"/>
              </a:lnSpc>
            </a:pPr>
            <a:r>
              <a:rPr lang="en-US" sz="1900">
                <a:solidFill>
                  <a:srgbClr val="30292F"/>
                </a:solidFill>
                <a:latin typeface="Inter"/>
                <a:ea typeface="Inter"/>
                <a:cs typeface="Inter"/>
                <a:sym typeface="Inter"/>
              </a:rPr>
              <a:t>Sondage public ou privé</a:t>
            </a:r>
          </a:p>
          <a:p>
            <a:pPr algn="l">
              <a:lnSpc>
                <a:spcPts val="2280"/>
              </a:lnSpc>
            </a:pPr>
            <a:r>
              <a:rPr lang="en-US" sz="1900">
                <a:solidFill>
                  <a:srgbClr val="30292F"/>
                </a:solidFill>
                <a:latin typeface="Inter"/>
                <a:ea typeface="Inter"/>
                <a:cs typeface="Inter"/>
                <a:sym typeface="Inter"/>
              </a:rPr>
              <a:t>Dates de début/fin</a:t>
            </a:r>
          </a:p>
          <a:p>
            <a:pPr algn="l">
              <a:lnSpc>
                <a:spcPts val="2280"/>
              </a:lnSpc>
            </a:pPr>
            <a:r>
              <a:rPr lang="en-US" sz="1900">
                <a:solidFill>
                  <a:srgbClr val="30292F"/>
                </a:solidFill>
                <a:latin typeface="Inter"/>
                <a:ea typeface="Inter"/>
                <a:cs typeface="Inter"/>
                <a:sym typeface="Inter"/>
              </a:rPr>
              <a:t>Une seule réponse par participant</a:t>
            </a:r>
          </a:p>
          <a:p>
            <a:pPr algn="l">
              <a:lnSpc>
                <a:spcPts val="2280"/>
              </a:lnSpc>
            </a:pPr>
            <a:endParaRPr lang="en-US" sz="1900">
              <a:solidFill>
                <a:srgbClr val="30292F"/>
              </a:solidFill>
              <a:latin typeface="Inter"/>
              <a:ea typeface="Inter"/>
              <a:cs typeface="Inter"/>
              <a:sym typeface="Inter"/>
            </a:endParaRPr>
          </a:p>
        </p:txBody>
      </p:sp>
      <p:sp>
        <p:nvSpPr>
          <p:cNvPr id="38" name="TextBox 38"/>
          <p:cNvSpPr txBox="1"/>
          <p:nvPr/>
        </p:nvSpPr>
        <p:spPr>
          <a:xfrm>
            <a:off x="10020276" y="5420627"/>
            <a:ext cx="3471859" cy="529001"/>
          </a:xfrm>
          <a:prstGeom prst="rect">
            <a:avLst/>
          </a:prstGeom>
        </p:spPr>
        <p:txBody>
          <a:bodyPr lIns="0" tIns="0" rIns="0" bIns="0" rtlCol="0" anchor="t">
            <a:spAutoFit/>
          </a:bodyPr>
          <a:lstStyle/>
          <a:p>
            <a:pPr algn="l">
              <a:lnSpc>
                <a:spcPts val="4313"/>
              </a:lnSpc>
            </a:pPr>
            <a:r>
              <a:rPr lang="en-US" sz="3080" b="1">
                <a:solidFill>
                  <a:srgbClr val="30292F"/>
                </a:solidFill>
                <a:latin typeface="Inter Bold"/>
                <a:ea typeface="Inter Bold"/>
                <a:cs typeface="Inter Bold"/>
                <a:sym typeface="Inter Bold"/>
              </a:rPr>
              <a:t>Diffusion</a:t>
            </a:r>
          </a:p>
        </p:txBody>
      </p:sp>
      <p:sp>
        <p:nvSpPr>
          <p:cNvPr id="39" name="TextBox 39"/>
          <p:cNvSpPr txBox="1"/>
          <p:nvPr/>
        </p:nvSpPr>
        <p:spPr>
          <a:xfrm>
            <a:off x="10020276" y="8052059"/>
            <a:ext cx="6468117" cy="857250"/>
          </a:xfrm>
          <a:prstGeom prst="rect">
            <a:avLst/>
          </a:prstGeom>
        </p:spPr>
        <p:txBody>
          <a:bodyPr lIns="0" tIns="0" rIns="0" bIns="0" rtlCol="0" anchor="t">
            <a:spAutoFit/>
          </a:bodyPr>
          <a:lstStyle/>
          <a:p>
            <a:pPr algn="l">
              <a:lnSpc>
                <a:spcPts val="2280"/>
              </a:lnSpc>
            </a:pPr>
            <a:r>
              <a:rPr lang="en-US" sz="1900">
                <a:solidFill>
                  <a:srgbClr val="30292F"/>
                </a:solidFill>
                <a:latin typeface="Inter"/>
                <a:ea typeface="Inter"/>
                <a:cs typeface="Inter"/>
                <a:sym typeface="Inter"/>
              </a:rPr>
              <a:t>Graphiques Chart.js interactifs</a:t>
            </a:r>
          </a:p>
          <a:p>
            <a:pPr algn="l">
              <a:lnSpc>
                <a:spcPts val="2280"/>
              </a:lnSpc>
            </a:pPr>
            <a:r>
              <a:rPr lang="en-US" sz="1900">
                <a:solidFill>
                  <a:srgbClr val="30292F"/>
                </a:solidFill>
                <a:latin typeface="Inter"/>
                <a:ea typeface="Inter"/>
                <a:cs typeface="Inter"/>
                <a:sym typeface="Inter"/>
              </a:rPr>
              <a:t>Rafraîchissement via API REST</a:t>
            </a:r>
          </a:p>
          <a:p>
            <a:pPr algn="l">
              <a:lnSpc>
                <a:spcPts val="2280"/>
              </a:lnSpc>
            </a:pPr>
            <a:r>
              <a:rPr lang="en-US" sz="1900">
                <a:solidFill>
                  <a:srgbClr val="30292F"/>
                </a:solidFill>
                <a:latin typeface="Inter"/>
                <a:ea typeface="Inter"/>
                <a:cs typeface="Inter"/>
                <a:sym typeface="Inter"/>
              </a:rPr>
              <a:t>Export CSV et Excel (.xlsx)</a:t>
            </a:r>
          </a:p>
        </p:txBody>
      </p:sp>
      <p:sp>
        <p:nvSpPr>
          <p:cNvPr id="40" name="TextBox 40"/>
          <p:cNvSpPr txBox="1"/>
          <p:nvPr/>
        </p:nvSpPr>
        <p:spPr>
          <a:xfrm>
            <a:off x="10020276" y="7475432"/>
            <a:ext cx="3471859" cy="529001"/>
          </a:xfrm>
          <a:prstGeom prst="rect">
            <a:avLst/>
          </a:prstGeom>
        </p:spPr>
        <p:txBody>
          <a:bodyPr lIns="0" tIns="0" rIns="0" bIns="0" rtlCol="0" anchor="t">
            <a:spAutoFit/>
          </a:bodyPr>
          <a:lstStyle/>
          <a:p>
            <a:pPr algn="l">
              <a:lnSpc>
                <a:spcPts val="4313"/>
              </a:lnSpc>
            </a:pPr>
            <a:r>
              <a:rPr lang="en-US" sz="3080" b="1">
                <a:solidFill>
                  <a:srgbClr val="30292F"/>
                </a:solidFill>
                <a:latin typeface="Inter Bold"/>
                <a:ea typeface="Inter Bold"/>
                <a:cs typeface="Inter Bold"/>
                <a:sym typeface="Inter Bold"/>
              </a:rPr>
              <a:t>Analyse et export</a:t>
            </a:r>
          </a:p>
        </p:txBody>
      </p:sp>
      <p:sp>
        <p:nvSpPr>
          <p:cNvPr id="41" name="TextBox 41"/>
          <p:cNvSpPr txBox="1"/>
          <p:nvPr/>
        </p:nvSpPr>
        <p:spPr>
          <a:xfrm>
            <a:off x="1725462"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Open Sans"/>
                <a:ea typeface="Open Sans"/>
                <a:cs typeface="Open Sans"/>
                <a:sym typeface="Open Sans"/>
              </a:rPr>
              <a:t>8</a:t>
            </a:r>
          </a:p>
        </p:txBody>
      </p:sp>
      <p:sp>
        <p:nvSpPr>
          <p:cNvPr id="42" name="Freeform 6">
            <a:extLst>
              <a:ext uri="{FF2B5EF4-FFF2-40B4-BE49-F238E27FC236}">
                <a16:creationId xmlns:a16="http://schemas.microsoft.com/office/drawing/2014/main" id="{DA37525D-CC5C-590C-F455-92CC89804035}"/>
              </a:ext>
            </a:extLst>
          </p:cNvPr>
          <p:cNvSpPr/>
          <p:nvPr/>
        </p:nvSpPr>
        <p:spPr>
          <a:xfrm>
            <a:off x="16878657" y="9210675"/>
            <a:ext cx="870158" cy="762063"/>
          </a:xfrm>
          <a:custGeom>
            <a:avLst/>
            <a:gdLst/>
            <a:ahLst/>
            <a:cxnLst/>
            <a:rect l="l" t="t" r="r" b="b"/>
            <a:pathLst>
              <a:path w="229177" h="200708">
                <a:moveTo>
                  <a:pt x="0" y="0"/>
                </a:moveTo>
                <a:lnTo>
                  <a:pt x="229177" y="0"/>
                </a:lnTo>
                <a:lnTo>
                  <a:pt x="229177" y="200708"/>
                </a:lnTo>
                <a:lnTo>
                  <a:pt x="0" y="200708"/>
                </a:lnTo>
                <a:close/>
              </a:path>
            </a:pathLst>
          </a:custGeom>
          <a:solidFill>
            <a:srgbClr val="269649"/>
          </a:solidFill>
        </p:spPr>
        <p:txBody>
          <a:bodyPr/>
          <a:lstStyle/>
          <a:p>
            <a:r>
              <a:rPr lang="en-US" sz="3200" b="1" dirty="0">
                <a:solidFill>
                  <a:srgbClr val="FAFAFA"/>
                </a:solidFill>
                <a:latin typeface="Codec Pro Bold"/>
                <a:ea typeface="Codec Pro Bold"/>
                <a:cs typeface="Codec Pro Bold"/>
                <a:sym typeface="Codec Pro Bold"/>
              </a:rPr>
              <a:t>07</a:t>
            </a:r>
            <a:endParaRPr lang="fr-MA"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rot="5400000">
            <a:off x="8675832" y="3552780"/>
            <a:ext cx="1569686" cy="1004726"/>
            <a:chOff x="0" y="0"/>
            <a:chExt cx="812800" cy="520258"/>
          </a:xfrm>
        </p:grpSpPr>
        <p:sp>
          <p:nvSpPr>
            <p:cNvPr id="4" name="Freeform 4"/>
            <p:cNvSpPr/>
            <p:nvPr/>
          </p:nvSpPr>
          <p:spPr>
            <a:xfrm>
              <a:off x="0" y="0"/>
              <a:ext cx="812800" cy="520258"/>
            </a:xfrm>
            <a:custGeom>
              <a:avLst/>
              <a:gdLst/>
              <a:ahLst/>
              <a:cxnLst/>
              <a:rect l="l" t="t" r="r" b="b"/>
              <a:pathLst>
                <a:path w="812800" h="520258">
                  <a:moveTo>
                    <a:pt x="406400" y="0"/>
                  </a:moveTo>
                  <a:lnTo>
                    <a:pt x="812800" y="520258"/>
                  </a:lnTo>
                  <a:lnTo>
                    <a:pt x="0" y="520258"/>
                  </a:lnTo>
                  <a:lnTo>
                    <a:pt x="406400" y="0"/>
                  </a:lnTo>
                  <a:close/>
                </a:path>
              </a:pathLst>
            </a:custGeom>
            <a:solidFill>
              <a:srgbClr val="FFFFFF"/>
            </a:solidFill>
          </p:spPr>
          <p:txBody>
            <a:bodyPr/>
            <a:lstStyle/>
            <a:p>
              <a:endParaRPr lang="fr-MA"/>
            </a:p>
          </p:txBody>
        </p:sp>
        <p:sp>
          <p:nvSpPr>
            <p:cNvPr id="5" name="TextBox 5"/>
            <p:cNvSpPr txBox="1"/>
            <p:nvPr/>
          </p:nvSpPr>
          <p:spPr>
            <a:xfrm>
              <a:off x="127000" y="184398"/>
              <a:ext cx="558800" cy="298698"/>
            </a:xfrm>
            <a:prstGeom prst="rect">
              <a:avLst/>
            </a:prstGeom>
          </p:spPr>
          <p:txBody>
            <a:bodyPr lIns="50800" tIns="50800" rIns="50800" bIns="50800" rtlCol="0" anchor="ctr"/>
            <a:lstStyle/>
            <a:p>
              <a:pPr algn="ctr">
                <a:lnSpc>
                  <a:spcPts val="3500"/>
                </a:lnSpc>
              </a:pPr>
              <a:endParaRPr/>
            </a:p>
          </p:txBody>
        </p:sp>
      </p:grpSp>
      <p:sp>
        <p:nvSpPr>
          <p:cNvPr id="6" name="Freeform 6"/>
          <p:cNvSpPr/>
          <p:nvPr/>
        </p:nvSpPr>
        <p:spPr>
          <a:xfrm>
            <a:off x="432924" y="2476500"/>
            <a:ext cx="581426" cy="620941"/>
          </a:xfrm>
          <a:custGeom>
            <a:avLst/>
            <a:gdLst/>
            <a:ahLst/>
            <a:cxnLst/>
            <a:rect l="l" t="t" r="r" b="b"/>
            <a:pathLst>
              <a:path w="581426" h="620941">
                <a:moveTo>
                  <a:pt x="0" y="0"/>
                </a:moveTo>
                <a:lnTo>
                  <a:pt x="581427" y="0"/>
                </a:lnTo>
                <a:lnTo>
                  <a:pt x="581427" y="620940"/>
                </a:lnTo>
                <a:lnTo>
                  <a:pt x="0" y="620940"/>
                </a:lnTo>
                <a:lnTo>
                  <a:pt x="0" y="0"/>
                </a:lnTo>
                <a:close/>
              </a:path>
            </a:pathLst>
          </a:custGeom>
          <a:blipFill>
            <a:blip>
              <a:alphaModFix amt="80000"/>
              <a:extLst>
                <a:ext uri="{96DAC541-7B7A-43D3-8B79-37D633B846F1}">
                  <asvg:svgBlip xmlns:asvg="http://schemas.microsoft.com/office/drawing/2016/SVG/main" r:embed="rId2"/>
                </a:ext>
              </a:extLst>
            </a:blip>
            <a:stretch>
              <a:fillRect/>
            </a:stretch>
          </a:blipFill>
        </p:spPr>
        <p:txBody>
          <a:bodyPr/>
          <a:lstStyle/>
          <a:p>
            <a:endParaRPr lang="fr-MA"/>
          </a:p>
        </p:txBody>
      </p:sp>
      <p:sp>
        <p:nvSpPr>
          <p:cNvPr id="7" name="TextBox 7"/>
          <p:cNvSpPr txBox="1"/>
          <p:nvPr/>
        </p:nvSpPr>
        <p:spPr>
          <a:xfrm>
            <a:off x="1113156" y="2141583"/>
            <a:ext cx="5973444" cy="4906280"/>
          </a:xfrm>
          <a:prstGeom prst="rect">
            <a:avLst/>
          </a:prstGeom>
        </p:spPr>
        <p:txBody>
          <a:bodyPr wrap="square" lIns="0" tIns="0" rIns="0" bIns="0" rtlCol="0" anchor="t">
            <a:spAutoFit/>
          </a:bodyPr>
          <a:lstStyle/>
          <a:p>
            <a:pPr marL="0" lvl="0" indent="0">
              <a:lnSpc>
                <a:spcPts val="3527"/>
              </a:lnSpc>
            </a:pPr>
            <a:r>
              <a:rPr lang="en-US" sz="2400" spc="-17" dirty="0">
                <a:solidFill>
                  <a:srgbClr val="505050"/>
                </a:solidFill>
                <a:latin typeface="+mj-lt"/>
                <a:ea typeface="Montserrat"/>
                <a:cs typeface="Montserrat"/>
                <a:sym typeface="Montserrat"/>
              </a:rPr>
              <a:t>Dans </a:t>
            </a:r>
            <a:r>
              <a:rPr lang="en-US" sz="2400" spc="-17" dirty="0" err="1">
                <a:solidFill>
                  <a:srgbClr val="505050"/>
                </a:solidFill>
                <a:latin typeface="+mj-lt"/>
                <a:ea typeface="Montserrat"/>
                <a:cs typeface="Montserrat"/>
                <a:sym typeface="Montserrat"/>
              </a:rPr>
              <a:t>cette</a:t>
            </a:r>
            <a:r>
              <a:rPr lang="en-US" sz="2400" spc="-17" dirty="0">
                <a:solidFill>
                  <a:srgbClr val="505050"/>
                </a:solidFill>
                <a:latin typeface="+mj-lt"/>
                <a:ea typeface="Montserrat"/>
                <a:cs typeface="Montserrat"/>
                <a:sym typeface="Montserrat"/>
              </a:rPr>
              <a:t> </a:t>
            </a:r>
            <a:r>
              <a:rPr lang="en-US" sz="2400" spc="-17" dirty="0" err="1">
                <a:solidFill>
                  <a:srgbClr val="505050"/>
                </a:solidFill>
                <a:latin typeface="+mj-lt"/>
                <a:ea typeface="Montserrat"/>
                <a:cs typeface="Montserrat"/>
                <a:sym typeface="Montserrat"/>
              </a:rPr>
              <a:t>partie</a:t>
            </a:r>
            <a:r>
              <a:rPr lang="en-US" sz="2400" spc="-17" dirty="0">
                <a:solidFill>
                  <a:srgbClr val="505050"/>
                </a:solidFill>
                <a:latin typeface="+mj-lt"/>
                <a:ea typeface="Montserrat"/>
                <a:cs typeface="Montserrat"/>
                <a:sym typeface="Montserrat"/>
              </a:rPr>
              <a:t>, nous </a:t>
            </a:r>
            <a:r>
              <a:rPr lang="en-US" sz="2400" spc="-17" dirty="0" err="1">
                <a:solidFill>
                  <a:srgbClr val="505050"/>
                </a:solidFill>
                <a:latin typeface="+mj-lt"/>
                <a:ea typeface="Montserrat"/>
                <a:cs typeface="Montserrat"/>
                <a:sym typeface="Montserrat"/>
              </a:rPr>
              <a:t>présentons</a:t>
            </a:r>
            <a:r>
              <a:rPr lang="en-US" sz="2400" spc="-17" dirty="0">
                <a:solidFill>
                  <a:srgbClr val="505050"/>
                </a:solidFill>
                <a:latin typeface="+mj-lt"/>
                <a:ea typeface="Montserrat"/>
                <a:cs typeface="Montserrat"/>
                <a:sym typeface="Montserrat"/>
              </a:rPr>
              <a:t> les </a:t>
            </a:r>
            <a:r>
              <a:rPr lang="en-US" sz="2400" spc="-17" dirty="0" err="1">
                <a:solidFill>
                  <a:srgbClr val="505050"/>
                </a:solidFill>
                <a:latin typeface="+mj-lt"/>
                <a:ea typeface="Montserrat"/>
                <a:cs typeface="Montserrat"/>
                <a:sym typeface="Montserrat"/>
              </a:rPr>
              <a:t>différentes</a:t>
            </a:r>
            <a:r>
              <a:rPr lang="en-US" sz="2400" spc="-17" dirty="0">
                <a:solidFill>
                  <a:srgbClr val="505050"/>
                </a:solidFill>
                <a:latin typeface="+mj-lt"/>
                <a:ea typeface="Montserrat"/>
                <a:cs typeface="Montserrat"/>
                <a:sym typeface="Montserrat"/>
              </a:rPr>
              <a:t> étapes de </a:t>
            </a:r>
            <a:r>
              <a:rPr lang="en-US" sz="2400" spc="-17" dirty="0" err="1">
                <a:solidFill>
                  <a:srgbClr val="505050"/>
                </a:solidFill>
                <a:latin typeface="+mj-lt"/>
                <a:ea typeface="Montserrat"/>
                <a:cs typeface="Montserrat"/>
                <a:sym typeface="Montserrat"/>
              </a:rPr>
              <a:t>réalisation</a:t>
            </a:r>
            <a:r>
              <a:rPr lang="en-US" sz="2400" spc="-17" dirty="0">
                <a:solidFill>
                  <a:srgbClr val="505050"/>
                </a:solidFill>
                <a:latin typeface="+mj-lt"/>
                <a:ea typeface="Montserrat"/>
                <a:cs typeface="Montserrat"/>
                <a:sym typeface="Montserrat"/>
              </a:rPr>
              <a:t> de </a:t>
            </a:r>
            <a:r>
              <a:rPr lang="en-US" sz="2400" spc="-17" dirty="0" err="1">
                <a:solidFill>
                  <a:srgbClr val="505050"/>
                </a:solidFill>
                <a:latin typeface="+mj-lt"/>
                <a:ea typeface="Montserrat"/>
                <a:cs typeface="Montserrat"/>
                <a:sym typeface="Montserrat"/>
              </a:rPr>
              <a:t>notre</a:t>
            </a:r>
            <a:r>
              <a:rPr lang="en-US" sz="2400" spc="-17" dirty="0">
                <a:solidFill>
                  <a:srgbClr val="505050"/>
                </a:solidFill>
                <a:latin typeface="+mj-lt"/>
                <a:ea typeface="Montserrat"/>
                <a:cs typeface="Montserrat"/>
                <a:sym typeface="Montserrat"/>
              </a:rPr>
              <a:t> application de sondage. Nous </a:t>
            </a:r>
            <a:r>
              <a:rPr lang="en-US" sz="2400" spc="-17" dirty="0" err="1">
                <a:solidFill>
                  <a:srgbClr val="505050"/>
                </a:solidFill>
                <a:latin typeface="+mj-lt"/>
                <a:ea typeface="Montserrat"/>
                <a:cs typeface="Montserrat"/>
                <a:sym typeface="Montserrat"/>
              </a:rPr>
              <a:t>avons</a:t>
            </a:r>
            <a:r>
              <a:rPr lang="en-US" sz="2400" spc="-17" dirty="0">
                <a:solidFill>
                  <a:srgbClr val="505050"/>
                </a:solidFill>
                <a:latin typeface="+mj-lt"/>
                <a:ea typeface="Montserrat"/>
                <a:cs typeface="Montserrat"/>
                <a:sym typeface="Montserrat"/>
              </a:rPr>
              <a:t> </a:t>
            </a:r>
            <a:r>
              <a:rPr lang="en-US" sz="2400" spc="-17" dirty="0" err="1">
                <a:solidFill>
                  <a:srgbClr val="505050"/>
                </a:solidFill>
                <a:latin typeface="+mj-lt"/>
                <a:ea typeface="Montserrat"/>
                <a:cs typeface="Montserrat"/>
                <a:sym typeface="Montserrat"/>
              </a:rPr>
              <a:t>transformé</a:t>
            </a:r>
            <a:r>
              <a:rPr lang="en-US" sz="2400" spc="-17" dirty="0">
                <a:solidFill>
                  <a:srgbClr val="505050"/>
                </a:solidFill>
                <a:latin typeface="+mj-lt"/>
                <a:ea typeface="Montserrat"/>
                <a:cs typeface="Montserrat"/>
                <a:sym typeface="Montserrat"/>
              </a:rPr>
              <a:t> les </a:t>
            </a:r>
            <a:r>
              <a:rPr lang="en-US" sz="2400" spc="-17" dirty="0" err="1">
                <a:solidFill>
                  <a:srgbClr val="505050"/>
                </a:solidFill>
                <a:latin typeface="+mj-lt"/>
                <a:ea typeface="Montserrat"/>
                <a:cs typeface="Montserrat"/>
                <a:sym typeface="Montserrat"/>
              </a:rPr>
              <a:t>besoins</a:t>
            </a:r>
            <a:r>
              <a:rPr lang="en-US" sz="2400" spc="-17" dirty="0">
                <a:solidFill>
                  <a:srgbClr val="505050"/>
                </a:solidFill>
                <a:latin typeface="+mj-lt"/>
                <a:ea typeface="Montserrat"/>
                <a:cs typeface="Montserrat"/>
                <a:sym typeface="Montserrat"/>
              </a:rPr>
              <a:t> </a:t>
            </a:r>
            <a:r>
              <a:rPr lang="en-US" sz="2400" spc="-17" dirty="0" err="1">
                <a:solidFill>
                  <a:srgbClr val="505050"/>
                </a:solidFill>
                <a:latin typeface="+mj-lt"/>
                <a:ea typeface="Montserrat"/>
                <a:cs typeface="Montserrat"/>
                <a:sym typeface="Montserrat"/>
              </a:rPr>
              <a:t>identifiés</a:t>
            </a:r>
            <a:r>
              <a:rPr lang="en-US" sz="2400" spc="-17" dirty="0">
                <a:solidFill>
                  <a:srgbClr val="505050"/>
                </a:solidFill>
                <a:latin typeface="+mj-lt"/>
                <a:ea typeface="Montserrat"/>
                <a:cs typeface="Montserrat"/>
                <a:sym typeface="Montserrat"/>
              </a:rPr>
              <a:t> </a:t>
            </a:r>
            <a:r>
              <a:rPr lang="en-US" sz="2400" spc="-17" dirty="0" err="1">
                <a:solidFill>
                  <a:srgbClr val="505050"/>
                </a:solidFill>
                <a:latin typeface="+mj-lt"/>
                <a:ea typeface="Montserrat"/>
                <a:cs typeface="Montserrat"/>
                <a:sym typeface="Montserrat"/>
              </a:rPr>
              <a:t>lors</a:t>
            </a:r>
            <a:r>
              <a:rPr lang="en-US" sz="2400" spc="-17" dirty="0">
                <a:solidFill>
                  <a:srgbClr val="505050"/>
                </a:solidFill>
                <a:latin typeface="+mj-lt"/>
                <a:ea typeface="Montserrat"/>
                <a:cs typeface="Montserrat"/>
                <a:sym typeface="Montserrat"/>
              </a:rPr>
              <a:t> de </a:t>
            </a:r>
            <a:r>
              <a:rPr lang="en-US" sz="2400" spc="-17" dirty="0" err="1">
                <a:solidFill>
                  <a:srgbClr val="505050"/>
                </a:solidFill>
                <a:latin typeface="+mj-lt"/>
                <a:ea typeface="Montserrat"/>
                <a:cs typeface="Montserrat"/>
                <a:sym typeface="Montserrat"/>
              </a:rPr>
              <a:t>l’analyse</a:t>
            </a:r>
            <a:r>
              <a:rPr lang="en-US" sz="2400" spc="-17" dirty="0">
                <a:solidFill>
                  <a:srgbClr val="505050"/>
                </a:solidFill>
                <a:latin typeface="+mj-lt"/>
                <a:ea typeface="Montserrat"/>
                <a:cs typeface="Montserrat"/>
                <a:sym typeface="Montserrat"/>
              </a:rPr>
              <a:t> </a:t>
            </a:r>
            <a:r>
              <a:rPr lang="en-US" sz="2400" spc="-17" dirty="0" err="1">
                <a:solidFill>
                  <a:srgbClr val="505050"/>
                </a:solidFill>
                <a:latin typeface="+mj-lt"/>
                <a:ea typeface="Montserrat"/>
                <a:cs typeface="Montserrat"/>
                <a:sym typeface="Montserrat"/>
              </a:rPr>
              <a:t>en</a:t>
            </a:r>
            <a:r>
              <a:rPr lang="en-US" sz="2400" spc="-17" dirty="0">
                <a:solidFill>
                  <a:srgbClr val="505050"/>
                </a:solidFill>
                <a:latin typeface="+mj-lt"/>
                <a:ea typeface="Montserrat"/>
                <a:cs typeface="Montserrat"/>
                <a:sym typeface="Montserrat"/>
              </a:rPr>
              <a:t> </a:t>
            </a:r>
            <a:r>
              <a:rPr lang="en-US" sz="2400" spc="-17" dirty="0" err="1">
                <a:solidFill>
                  <a:srgbClr val="505050"/>
                </a:solidFill>
                <a:latin typeface="+mj-lt"/>
                <a:ea typeface="Montserrat"/>
                <a:cs typeface="Montserrat"/>
                <a:sym typeface="Montserrat"/>
              </a:rPr>
              <a:t>une</a:t>
            </a:r>
            <a:r>
              <a:rPr lang="en-US" sz="2400" spc="-17" dirty="0">
                <a:solidFill>
                  <a:srgbClr val="505050"/>
                </a:solidFill>
                <a:latin typeface="+mj-lt"/>
                <a:ea typeface="Montserrat"/>
                <a:cs typeface="Montserrat"/>
                <a:sym typeface="Montserrat"/>
              </a:rPr>
              <a:t> solution concrète, </a:t>
            </a:r>
            <a:r>
              <a:rPr lang="en-US" sz="2400" spc="-17" dirty="0" err="1">
                <a:solidFill>
                  <a:srgbClr val="505050"/>
                </a:solidFill>
                <a:latin typeface="+mj-lt"/>
                <a:ea typeface="Montserrat"/>
                <a:cs typeface="Montserrat"/>
                <a:sym typeface="Montserrat"/>
              </a:rPr>
              <a:t>en</a:t>
            </a:r>
            <a:r>
              <a:rPr lang="en-US" sz="2400" spc="-17" dirty="0">
                <a:solidFill>
                  <a:srgbClr val="505050"/>
                </a:solidFill>
                <a:latin typeface="+mj-lt"/>
                <a:ea typeface="Montserrat"/>
                <a:cs typeface="Montserrat"/>
                <a:sym typeface="Montserrat"/>
              </a:rPr>
              <a:t> </a:t>
            </a:r>
            <a:r>
              <a:rPr lang="en-US" sz="2400" spc="-17" dirty="0" err="1">
                <a:solidFill>
                  <a:srgbClr val="505050"/>
                </a:solidFill>
                <a:latin typeface="+mj-lt"/>
                <a:ea typeface="Montserrat"/>
                <a:cs typeface="Montserrat"/>
                <a:sym typeface="Montserrat"/>
              </a:rPr>
              <a:t>mettant</a:t>
            </a:r>
            <a:r>
              <a:rPr lang="en-US" sz="2400" spc="-17" dirty="0">
                <a:solidFill>
                  <a:srgbClr val="505050"/>
                </a:solidFill>
                <a:latin typeface="+mj-lt"/>
                <a:ea typeface="Montserrat"/>
                <a:cs typeface="Montserrat"/>
                <a:sym typeface="Montserrat"/>
              </a:rPr>
              <a:t> </a:t>
            </a:r>
            <a:r>
              <a:rPr lang="en-US" sz="2400" spc="-17" dirty="0" err="1">
                <a:solidFill>
                  <a:srgbClr val="505050"/>
                </a:solidFill>
                <a:latin typeface="+mj-lt"/>
                <a:ea typeface="Montserrat"/>
                <a:cs typeface="Montserrat"/>
                <a:sym typeface="Montserrat"/>
              </a:rPr>
              <a:t>en</a:t>
            </a:r>
            <a:r>
              <a:rPr lang="en-US" sz="2400" spc="-17" dirty="0">
                <a:solidFill>
                  <a:srgbClr val="505050"/>
                </a:solidFill>
                <a:latin typeface="+mj-lt"/>
                <a:ea typeface="Montserrat"/>
                <a:cs typeface="Montserrat"/>
                <a:sym typeface="Montserrat"/>
              </a:rPr>
              <a:t> place </a:t>
            </a:r>
            <a:r>
              <a:rPr lang="en-US" sz="2400" spc="-17" dirty="0" err="1">
                <a:solidFill>
                  <a:srgbClr val="505050"/>
                </a:solidFill>
                <a:latin typeface="+mj-lt"/>
                <a:ea typeface="Montserrat"/>
                <a:cs typeface="Montserrat"/>
                <a:sym typeface="Montserrat"/>
              </a:rPr>
              <a:t>l’architecture</a:t>
            </a:r>
            <a:r>
              <a:rPr lang="en-US" sz="2400" spc="-17" dirty="0">
                <a:solidFill>
                  <a:srgbClr val="505050"/>
                </a:solidFill>
                <a:latin typeface="+mj-lt"/>
                <a:ea typeface="Montserrat"/>
                <a:cs typeface="Montserrat"/>
                <a:sym typeface="Montserrat"/>
              </a:rPr>
              <a:t> du </a:t>
            </a:r>
            <a:r>
              <a:rPr lang="en-US" sz="2400" spc="-17" dirty="0" err="1">
                <a:solidFill>
                  <a:srgbClr val="505050"/>
                </a:solidFill>
                <a:latin typeface="+mj-lt"/>
                <a:ea typeface="Montserrat"/>
                <a:cs typeface="Montserrat"/>
                <a:sym typeface="Montserrat"/>
              </a:rPr>
              <a:t>projet</a:t>
            </a:r>
            <a:r>
              <a:rPr lang="en-US" sz="2400" spc="-17" dirty="0">
                <a:solidFill>
                  <a:srgbClr val="505050"/>
                </a:solidFill>
                <a:latin typeface="+mj-lt"/>
                <a:ea typeface="Montserrat"/>
                <a:cs typeface="Montserrat"/>
                <a:sym typeface="Montserrat"/>
              </a:rPr>
              <a:t>, la base de données </a:t>
            </a:r>
            <a:r>
              <a:rPr lang="en-US" sz="2400" spc="-17" dirty="0" err="1">
                <a:solidFill>
                  <a:srgbClr val="505050"/>
                </a:solidFill>
                <a:latin typeface="+mj-lt"/>
                <a:ea typeface="Montserrat"/>
                <a:cs typeface="Montserrat"/>
                <a:sym typeface="Montserrat"/>
              </a:rPr>
              <a:t>ainsi</a:t>
            </a:r>
            <a:r>
              <a:rPr lang="en-US" sz="2400" spc="-17" dirty="0">
                <a:solidFill>
                  <a:srgbClr val="505050"/>
                </a:solidFill>
                <a:latin typeface="+mj-lt"/>
                <a:ea typeface="Montserrat"/>
                <a:cs typeface="Montserrat"/>
                <a:sym typeface="Montserrat"/>
              </a:rPr>
              <a:t> </a:t>
            </a:r>
            <a:r>
              <a:rPr lang="en-US" sz="2400" spc="-17" dirty="0" err="1">
                <a:solidFill>
                  <a:srgbClr val="505050"/>
                </a:solidFill>
                <a:latin typeface="+mj-lt"/>
                <a:ea typeface="Montserrat"/>
                <a:cs typeface="Montserrat"/>
                <a:sym typeface="Montserrat"/>
              </a:rPr>
              <a:t>que</a:t>
            </a:r>
            <a:r>
              <a:rPr lang="en-US" sz="2400" spc="-17" dirty="0">
                <a:solidFill>
                  <a:srgbClr val="505050"/>
                </a:solidFill>
                <a:latin typeface="+mj-lt"/>
                <a:ea typeface="Montserrat"/>
                <a:cs typeface="Montserrat"/>
                <a:sym typeface="Montserrat"/>
              </a:rPr>
              <a:t> les </a:t>
            </a:r>
            <a:r>
              <a:rPr lang="en-US" sz="2400" spc="-17" dirty="0" err="1">
                <a:solidFill>
                  <a:srgbClr val="505050"/>
                </a:solidFill>
                <a:latin typeface="+mj-lt"/>
                <a:ea typeface="Montserrat"/>
                <a:cs typeface="Montserrat"/>
                <a:sym typeface="Montserrat"/>
              </a:rPr>
              <a:t>différents</a:t>
            </a:r>
            <a:r>
              <a:rPr lang="en-US" sz="2400" spc="-17" dirty="0">
                <a:solidFill>
                  <a:srgbClr val="505050"/>
                </a:solidFill>
                <a:latin typeface="+mj-lt"/>
                <a:ea typeface="Montserrat"/>
                <a:cs typeface="Montserrat"/>
                <a:sym typeface="Montserrat"/>
              </a:rPr>
              <a:t> modules </a:t>
            </a:r>
            <a:r>
              <a:rPr lang="en-US" sz="2400" spc="-17" dirty="0" err="1">
                <a:solidFill>
                  <a:srgbClr val="505050"/>
                </a:solidFill>
                <a:latin typeface="+mj-lt"/>
                <a:ea typeface="Montserrat"/>
                <a:cs typeface="Montserrat"/>
                <a:sym typeface="Montserrat"/>
              </a:rPr>
              <a:t>fonctionnels</a:t>
            </a:r>
            <a:r>
              <a:rPr lang="en-US" sz="2400" spc="-17" dirty="0">
                <a:solidFill>
                  <a:srgbClr val="505050"/>
                </a:solidFill>
                <a:latin typeface="+mj-lt"/>
                <a:ea typeface="Montserrat"/>
                <a:cs typeface="Montserrat"/>
                <a:sym typeface="Montserrat"/>
              </a:rPr>
              <a:t>. Cette étape met </a:t>
            </a:r>
            <a:r>
              <a:rPr lang="en-US" sz="2400" spc="-17" dirty="0" err="1">
                <a:solidFill>
                  <a:srgbClr val="505050"/>
                </a:solidFill>
                <a:latin typeface="+mj-lt"/>
                <a:ea typeface="Montserrat"/>
                <a:cs typeface="Montserrat"/>
                <a:sym typeface="Montserrat"/>
              </a:rPr>
              <a:t>en</a:t>
            </a:r>
            <a:r>
              <a:rPr lang="en-US" sz="2400" spc="-17" dirty="0">
                <a:solidFill>
                  <a:srgbClr val="505050"/>
                </a:solidFill>
                <a:latin typeface="+mj-lt"/>
                <a:ea typeface="Montserrat"/>
                <a:cs typeface="Montserrat"/>
                <a:sym typeface="Montserrat"/>
              </a:rPr>
              <a:t> </a:t>
            </a:r>
            <a:r>
              <a:rPr lang="en-US" sz="2400" spc="-17" dirty="0" err="1">
                <a:solidFill>
                  <a:srgbClr val="505050"/>
                </a:solidFill>
                <a:latin typeface="+mj-lt"/>
                <a:ea typeface="Montserrat"/>
                <a:cs typeface="Montserrat"/>
                <a:sym typeface="Montserrat"/>
              </a:rPr>
              <a:t>évidence</a:t>
            </a:r>
            <a:r>
              <a:rPr lang="en-US" sz="2400" spc="-17" dirty="0">
                <a:solidFill>
                  <a:srgbClr val="505050"/>
                </a:solidFill>
                <a:latin typeface="+mj-lt"/>
                <a:ea typeface="Montserrat"/>
                <a:cs typeface="Montserrat"/>
                <a:sym typeface="Montserrat"/>
              </a:rPr>
              <a:t> le </a:t>
            </a:r>
            <a:r>
              <a:rPr lang="en-US" sz="2400" spc="-17" dirty="0" err="1">
                <a:solidFill>
                  <a:srgbClr val="505050"/>
                </a:solidFill>
                <a:latin typeface="+mj-lt"/>
                <a:ea typeface="Montserrat"/>
                <a:cs typeface="Montserrat"/>
                <a:sym typeface="Montserrat"/>
              </a:rPr>
              <a:t>développement</a:t>
            </a:r>
            <a:r>
              <a:rPr lang="en-US" sz="2400" spc="-17" dirty="0">
                <a:solidFill>
                  <a:srgbClr val="505050"/>
                </a:solidFill>
                <a:latin typeface="+mj-lt"/>
                <a:ea typeface="Montserrat"/>
                <a:cs typeface="Montserrat"/>
                <a:sym typeface="Montserrat"/>
              </a:rPr>
              <a:t> de </a:t>
            </a:r>
            <a:r>
              <a:rPr lang="en-US" sz="2400" spc="-17" dirty="0" err="1">
                <a:solidFill>
                  <a:srgbClr val="505050"/>
                </a:solidFill>
                <a:latin typeface="+mj-lt"/>
                <a:ea typeface="Montserrat"/>
                <a:cs typeface="Montserrat"/>
                <a:sym typeface="Montserrat"/>
              </a:rPr>
              <a:t>l’application</a:t>
            </a:r>
            <a:r>
              <a:rPr lang="en-US" sz="2400" spc="-17" dirty="0">
                <a:solidFill>
                  <a:srgbClr val="505050"/>
                </a:solidFill>
                <a:latin typeface="+mj-lt"/>
                <a:ea typeface="Montserrat"/>
                <a:cs typeface="Montserrat"/>
                <a:sym typeface="Montserrat"/>
              </a:rPr>
              <a:t> et </a:t>
            </a:r>
            <a:r>
              <a:rPr lang="en-US" sz="2400" spc="-17" dirty="0" err="1">
                <a:solidFill>
                  <a:srgbClr val="505050"/>
                </a:solidFill>
                <a:latin typeface="+mj-lt"/>
                <a:ea typeface="Montserrat"/>
                <a:cs typeface="Montserrat"/>
                <a:sym typeface="Montserrat"/>
              </a:rPr>
              <a:t>l’intégration</a:t>
            </a:r>
            <a:r>
              <a:rPr lang="en-US" sz="2400" spc="-17" dirty="0">
                <a:solidFill>
                  <a:srgbClr val="505050"/>
                </a:solidFill>
                <a:latin typeface="+mj-lt"/>
                <a:ea typeface="Montserrat"/>
                <a:cs typeface="Montserrat"/>
                <a:sym typeface="Montserrat"/>
              </a:rPr>
              <a:t> des technologies </a:t>
            </a:r>
            <a:r>
              <a:rPr lang="en-US" sz="2400" spc="-17" dirty="0" err="1">
                <a:solidFill>
                  <a:srgbClr val="505050"/>
                </a:solidFill>
                <a:latin typeface="+mj-lt"/>
                <a:ea typeface="Montserrat"/>
                <a:cs typeface="Montserrat"/>
                <a:sym typeface="Montserrat"/>
              </a:rPr>
              <a:t>utilisées</a:t>
            </a:r>
            <a:r>
              <a:rPr lang="en-US" sz="2400" spc="-17" dirty="0">
                <a:solidFill>
                  <a:srgbClr val="505050"/>
                </a:solidFill>
                <a:latin typeface="+mj-lt"/>
                <a:ea typeface="Montserrat"/>
                <a:cs typeface="Montserrat"/>
                <a:sym typeface="Montserrat"/>
              </a:rPr>
              <a:t> </a:t>
            </a:r>
            <a:r>
              <a:rPr lang="en-US" sz="2400" spc="-17" dirty="0" err="1">
                <a:solidFill>
                  <a:srgbClr val="505050"/>
                </a:solidFill>
                <a:latin typeface="+mj-lt"/>
                <a:ea typeface="Montserrat"/>
                <a:cs typeface="Montserrat"/>
                <a:sym typeface="Montserrat"/>
              </a:rPr>
              <a:t>afin</a:t>
            </a:r>
            <a:r>
              <a:rPr lang="en-US" sz="2400" spc="-17" dirty="0">
                <a:solidFill>
                  <a:srgbClr val="505050"/>
                </a:solidFill>
                <a:latin typeface="+mj-lt"/>
                <a:ea typeface="Montserrat"/>
                <a:cs typeface="Montserrat"/>
                <a:sym typeface="Montserrat"/>
              </a:rPr>
              <a:t> </a:t>
            </a:r>
            <a:r>
              <a:rPr lang="en-US" sz="2400" spc="-17" dirty="0" err="1">
                <a:solidFill>
                  <a:srgbClr val="505050"/>
                </a:solidFill>
                <a:latin typeface="+mj-lt"/>
                <a:ea typeface="Montserrat"/>
                <a:cs typeface="Montserrat"/>
                <a:sym typeface="Montserrat"/>
              </a:rPr>
              <a:t>d’obtenir</a:t>
            </a:r>
            <a:r>
              <a:rPr lang="en-US" sz="2400" spc="-17" dirty="0">
                <a:solidFill>
                  <a:srgbClr val="505050"/>
                </a:solidFill>
                <a:latin typeface="+mj-lt"/>
                <a:ea typeface="Montserrat"/>
                <a:cs typeface="Montserrat"/>
                <a:sym typeface="Montserrat"/>
              </a:rPr>
              <a:t> un </a:t>
            </a:r>
            <a:r>
              <a:rPr lang="en-US" sz="2400" spc="-17" dirty="0" err="1">
                <a:solidFill>
                  <a:srgbClr val="505050"/>
                </a:solidFill>
                <a:latin typeface="+mj-lt"/>
                <a:ea typeface="Montserrat"/>
                <a:cs typeface="Montserrat"/>
                <a:sym typeface="Montserrat"/>
              </a:rPr>
              <a:t>système</a:t>
            </a:r>
            <a:r>
              <a:rPr lang="en-US" sz="2400" spc="-17" dirty="0">
                <a:solidFill>
                  <a:srgbClr val="505050"/>
                </a:solidFill>
                <a:latin typeface="+mj-lt"/>
                <a:ea typeface="Montserrat"/>
                <a:cs typeface="Montserrat"/>
                <a:sym typeface="Montserrat"/>
              </a:rPr>
              <a:t> </a:t>
            </a:r>
            <a:r>
              <a:rPr lang="en-US" sz="2400" spc="-17" dirty="0" err="1">
                <a:solidFill>
                  <a:srgbClr val="505050"/>
                </a:solidFill>
                <a:latin typeface="+mj-lt"/>
                <a:ea typeface="Montserrat"/>
                <a:cs typeface="Montserrat"/>
                <a:sym typeface="Montserrat"/>
              </a:rPr>
              <a:t>complet</a:t>
            </a:r>
            <a:r>
              <a:rPr lang="en-US" sz="2400" spc="-17" dirty="0">
                <a:solidFill>
                  <a:srgbClr val="505050"/>
                </a:solidFill>
                <a:latin typeface="+mj-lt"/>
                <a:ea typeface="Montserrat"/>
                <a:cs typeface="Montserrat"/>
                <a:sym typeface="Montserrat"/>
              </a:rPr>
              <a:t> et </a:t>
            </a:r>
            <a:r>
              <a:rPr lang="en-US" sz="2400" spc="-17" dirty="0" err="1">
                <a:solidFill>
                  <a:srgbClr val="505050"/>
                </a:solidFill>
                <a:latin typeface="+mj-lt"/>
                <a:ea typeface="Montserrat"/>
                <a:cs typeface="Montserrat"/>
                <a:sym typeface="Montserrat"/>
              </a:rPr>
              <a:t>fonctionnel</a:t>
            </a:r>
            <a:r>
              <a:rPr lang="en-US" sz="2400" spc="-17" dirty="0">
                <a:solidFill>
                  <a:srgbClr val="505050"/>
                </a:solidFill>
                <a:latin typeface="+mj-lt"/>
                <a:ea typeface="Montserrat"/>
                <a:cs typeface="Montserrat"/>
                <a:sym typeface="Montserrat"/>
              </a:rPr>
              <a:t>.</a:t>
            </a:r>
          </a:p>
        </p:txBody>
      </p:sp>
      <p:sp>
        <p:nvSpPr>
          <p:cNvPr id="8" name="TextBox 8"/>
          <p:cNvSpPr txBox="1"/>
          <p:nvPr/>
        </p:nvSpPr>
        <p:spPr>
          <a:xfrm>
            <a:off x="589958" y="1193861"/>
            <a:ext cx="5249497" cy="879037"/>
          </a:xfrm>
          <a:prstGeom prst="rect">
            <a:avLst/>
          </a:prstGeom>
        </p:spPr>
        <p:txBody>
          <a:bodyPr lIns="0" tIns="0" rIns="0" bIns="0" rtlCol="0" anchor="t">
            <a:spAutoFit/>
          </a:bodyPr>
          <a:lstStyle/>
          <a:p>
            <a:pPr marL="0" lvl="0" indent="0" algn="l">
              <a:lnSpc>
                <a:spcPts val="6364"/>
              </a:lnSpc>
              <a:spcBef>
                <a:spcPct val="0"/>
              </a:spcBef>
            </a:pPr>
            <a:r>
              <a:rPr lang="en-US" sz="6494" b="1" spc="655">
                <a:solidFill>
                  <a:srgbClr val="000000"/>
                </a:solidFill>
                <a:latin typeface="Bebas Neue Bold"/>
                <a:ea typeface="Bebas Neue Bold"/>
                <a:cs typeface="Bebas Neue Bold"/>
                <a:sym typeface="Bebas Neue Bold"/>
              </a:rPr>
              <a:t>Réalisation</a:t>
            </a:r>
          </a:p>
        </p:txBody>
      </p:sp>
      <p:sp>
        <p:nvSpPr>
          <p:cNvPr id="9" name="TextBox 9"/>
          <p:cNvSpPr txBox="1"/>
          <p:nvPr/>
        </p:nvSpPr>
        <p:spPr>
          <a:xfrm>
            <a:off x="1725462"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Open Sans"/>
                <a:ea typeface="Open Sans"/>
                <a:cs typeface="Open Sans"/>
                <a:sym typeface="Open Sans"/>
              </a:rPr>
              <a:t>9</a:t>
            </a:r>
          </a:p>
        </p:txBody>
      </p:sp>
      <p:sp>
        <p:nvSpPr>
          <p:cNvPr id="13" name="ZoneTexte 12">
            <a:extLst>
              <a:ext uri="{FF2B5EF4-FFF2-40B4-BE49-F238E27FC236}">
                <a16:creationId xmlns:a16="http://schemas.microsoft.com/office/drawing/2014/main" id="{1738E548-53D2-28BD-D86A-91BDC1348C6F}"/>
              </a:ext>
            </a:extLst>
          </p:cNvPr>
          <p:cNvSpPr txBox="1"/>
          <p:nvPr/>
        </p:nvSpPr>
        <p:spPr>
          <a:xfrm>
            <a:off x="4572000" y="4962521"/>
            <a:ext cx="9144000" cy="369332"/>
          </a:xfrm>
          <a:prstGeom prst="rect">
            <a:avLst/>
          </a:prstGeom>
          <a:noFill/>
        </p:spPr>
        <p:txBody>
          <a:bodyPr wrap="square">
            <a:spAutoFit/>
          </a:bodyPr>
          <a:lstStyle/>
          <a:p>
            <a:endParaRPr lang="fr-MA" dirty="0"/>
          </a:p>
        </p:txBody>
      </p:sp>
      <p:pic>
        <p:nvPicPr>
          <p:cNvPr id="15" name="Image 14">
            <a:extLst>
              <a:ext uri="{FF2B5EF4-FFF2-40B4-BE49-F238E27FC236}">
                <a16:creationId xmlns:a16="http://schemas.microsoft.com/office/drawing/2014/main" id="{4A9C4A1E-9E68-4543-D776-6972067A00DA}"/>
              </a:ext>
            </a:extLst>
          </p:cNvPr>
          <p:cNvPicPr>
            <a:picLocks noChangeAspect="1"/>
          </p:cNvPicPr>
          <p:nvPr/>
        </p:nvPicPr>
        <p:blipFill>
          <a:blip r:embed="rId3"/>
          <a:stretch>
            <a:fillRect/>
          </a:stretch>
        </p:blipFill>
        <p:spPr>
          <a:xfrm>
            <a:off x="7717896" y="0"/>
            <a:ext cx="10189104" cy="8639175"/>
          </a:xfrm>
          <a:prstGeom prst="rect">
            <a:avLst/>
          </a:prstGeom>
        </p:spPr>
      </p:pic>
      <p:sp>
        <p:nvSpPr>
          <p:cNvPr id="16" name="Freeform 6">
            <a:extLst>
              <a:ext uri="{FF2B5EF4-FFF2-40B4-BE49-F238E27FC236}">
                <a16:creationId xmlns:a16="http://schemas.microsoft.com/office/drawing/2014/main" id="{E5A6F353-887C-E2B4-B6DD-41710D746D12}"/>
              </a:ext>
            </a:extLst>
          </p:cNvPr>
          <p:cNvSpPr/>
          <p:nvPr/>
        </p:nvSpPr>
        <p:spPr>
          <a:xfrm>
            <a:off x="17036842" y="9029668"/>
            <a:ext cx="870158" cy="762063"/>
          </a:xfrm>
          <a:custGeom>
            <a:avLst/>
            <a:gdLst/>
            <a:ahLst/>
            <a:cxnLst/>
            <a:rect l="l" t="t" r="r" b="b"/>
            <a:pathLst>
              <a:path w="229177" h="200708">
                <a:moveTo>
                  <a:pt x="0" y="0"/>
                </a:moveTo>
                <a:lnTo>
                  <a:pt x="229177" y="0"/>
                </a:lnTo>
                <a:lnTo>
                  <a:pt x="229177" y="200708"/>
                </a:lnTo>
                <a:lnTo>
                  <a:pt x="0" y="200708"/>
                </a:lnTo>
                <a:close/>
              </a:path>
            </a:pathLst>
          </a:custGeom>
          <a:solidFill>
            <a:srgbClr val="269649"/>
          </a:solidFill>
        </p:spPr>
        <p:txBody>
          <a:bodyPr/>
          <a:lstStyle/>
          <a:p>
            <a:r>
              <a:rPr lang="en-US" sz="3200" b="1" dirty="0">
                <a:solidFill>
                  <a:srgbClr val="FAFAFA"/>
                </a:solidFill>
                <a:latin typeface="Codec Pro Bold"/>
                <a:ea typeface="Codec Pro Bold"/>
                <a:cs typeface="Codec Pro Bold"/>
                <a:sym typeface="Codec Pro Bold"/>
              </a:rPr>
              <a:t>08</a:t>
            </a:r>
            <a:endParaRPr lang="fr-MA"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462"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Open Sans"/>
                <a:ea typeface="Open Sans"/>
                <a:cs typeface="Open Sans"/>
                <a:sym typeface="Open Sans"/>
              </a:rPr>
              <a:t>10</a:t>
            </a:r>
          </a:p>
        </p:txBody>
      </p:sp>
      <p:pic>
        <p:nvPicPr>
          <p:cNvPr id="3" name="Image 2">
            <a:extLst>
              <a:ext uri="{FF2B5EF4-FFF2-40B4-BE49-F238E27FC236}">
                <a16:creationId xmlns:a16="http://schemas.microsoft.com/office/drawing/2014/main" id="{691F07BF-FA5E-933C-3B60-9A85C3E4C8C2}"/>
              </a:ext>
            </a:extLst>
          </p:cNvPr>
          <p:cNvPicPr>
            <a:picLocks noChangeAspect="1"/>
          </p:cNvPicPr>
          <p:nvPr/>
        </p:nvPicPr>
        <p:blipFill>
          <a:blip r:embed="rId2"/>
          <a:stretch>
            <a:fillRect/>
          </a:stretch>
        </p:blipFill>
        <p:spPr>
          <a:xfrm>
            <a:off x="7924800" y="647700"/>
            <a:ext cx="9525000" cy="7924800"/>
          </a:xfrm>
          <a:prstGeom prst="rect">
            <a:avLst/>
          </a:prstGeom>
        </p:spPr>
      </p:pic>
      <p:sp>
        <p:nvSpPr>
          <p:cNvPr id="5" name="ZoneTexte 4">
            <a:extLst>
              <a:ext uri="{FF2B5EF4-FFF2-40B4-BE49-F238E27FC236}">
                <a16:creationId xmlns:a16="http://schemas.microsoft.com/office/drawing/2014/main" id="{08F052F0-2DE5-3633-F0DF-CCC1C8A2E313}"/>
              </a:ext>
            </a:extLst>
          </p:cNvPr>
          <p:cNvSpPr txBox="1"/>
          <p:nvPr/>
        </p:nvSpPr>
        <p:spPr>
          <a:xfrm>
            <a:off x="381000" y="2019300"/>
            <a:ext cx="6781800" cy="5262979"/>
          </a:xfrm>
          <a:prstGeom prst="rect">
            <a:avLst/>
          </a:prstGeom>
          <a:noFill/>
        </p:spPr>
        <p:txBody>
          <a:bodyPr wrap="square">
            <a:spAutoFit/>
          </a:bodyPr>
          <a:lstStyle/>
          <a:p>
            <a:r>
              <a:rPr lang="fr-FR" sz="2400" dirty="0"/>
              <a:t>Le tableau de bord affiche un résumé statistique avec le nombre total de sondages créés, le nombre de sondages actuellement actifs, ainsi que le nombre de réponses reçues. En dessous, une liste détaillée de tous les sondages est présentée avec pour chaque sondage : son titre, son statut (ouvert ou fermé), le nombre de réponses collectées, la date de création, ainsi qu'un lien de partage unique que le créateur peut copier et envoyer aux participants. Des boutons d'action permettent de modifier, consulter les résultats ou supprimer un sondage. Un bouton "Nouveau Sondage" est également accessible en haut à droite pour créer un nouveau sondage rapidement.</a:t>
            </a:r>
            <a:endParaRPr lang="fr-MA" sz="2400" dirty="0"/>
          </a:p>
        </p:txBody>
      </p:sp>
      <p:sp>
        <p:nvSpPr>
          <p:cNvPr id="6" name="Freeform 6">
            <a:extLst>
              <a:ext uri="{FF2B5EF4-FFF2-40B4-BE49-F238E27FC236}">
                <a16:creationId xmlns:a16="http://schemas.microsoft.com/office/drawing/2014/main" id="{9D7B06DC-380D-12F0-0469-5C1604C96D6F}"/>
              </a:ext>
            </a:extLst>
          </p:cNvPr>
          <p:cNvSpPr/>
          <p:nvPr/>
        </p:nvSpPr>
        <p:spPr>
          <a:xfrm>
            <a:off x="17014721" y="9029668"/>
            <a:ext cx="870158" cy="762063"/>
          </a:xfrm>
          <a:custGeom>
            <a:avLst/>
            <a:gdLst/>
            <a:ahLst/>
            <a:cxnLst/>
            <a:rect l="l" t="t" r="r" b="b"/>
            <a:pathLst>
              <a:path w="229177" h="200708">
                <a:moveTo>
                  <a:pt x="0" y="0"/>
                </a:moveTo>
                <a:lnTo>
                  <a:pt x="229177" y="0"/>
                </a:lnTo>
                <a:lnTo>
                  <a:pt x="229177" y="200708"/>
                </a:lnTo>
                <a:lnTo>
                  <a:pt x="0" y="200708"/>
                </a:lnTo>
                <a:close/>
              </a:path>
            </a:pathLst>
          </a:custGeom>
          <a:solidFill>
            <a:srgbClr val="269649"/>
          </a:solidFill>
        </p:spPr>
        <p:txBody>
          <a:bodyPr/>
          <a:lstStyle/>
          <a:p>
            <a:r>
              <a:rPr lang="en-US" sz="3200" b="1" dirty="0">
                <a:solidFill>
                  <a:srgbClr val="FAFAFA"/>
                </a:solidFill>
                <a:latin typeface="Codec Pro Bold"/>
                <a:ea typeface="Codec Pro Bold"/>
                <a:cs typeface="Codec Pro Bold"/>
                <a:sym typeface="Codec Pro Bold"/>
              </a:rPr>
              <a:t>09</a:t>
            </a:r>
            <a:endParaRPr lang="fr-MA"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462"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Open Sans"/>
                <a:ea typeface="Open Sans"/>
                <a:cs typeface="Open Sans"/>
                <a:sym typeface="Open Sans"/>
              </a:rPr>
              <a:t>11</a:t>
            </a:r>
          </a:p>
        </p:txBody>
      </p:sp>
      <p:pic>
        <p:nvPicPr>
          <p:cNvPr id="3" name="image40.png">
            <a:extLst>
              <a:ext uri="{FF2B5EF4-FFF2-40B4-BE49-F238E27FC236}">
                <a16:creationId xmlns:a16="http://schemas.microsoft.com/office/drawing/2014/main" id="{1F903A9C-9139-46F1-F998-D6D3DBC1C03A}"/>
              </a:ext>
            </a:extLst>
          </p:cNvPr>
          <p:cNvPicPr/>
          <p:nvPr/>
        </p:nvPicPr>
        <p:blipFill>
          <a:blip r:embed="rId2"/>
          <a:srcRect/>
          <a:stretch>
            <a:fillRect/>
          </a:stretch>
        </p:blipFill>
        <p:spPr>
          <a:xfrm>
            <a:off x="8001000" y="800100"/>
            <a:ext cx="9448800" cy="7086600"/>
          </a:xfrm>
          <a:prstGeom prst="rect">
            <a:avLst/>
          </a:prstGeom>
          <a:ln/>
        </p:spPr>
      </p:pic>
      <p:sp>
        <p:nvSpPr>
          <p:cNvPr id="5" name="ZoneTexte 4">
            <a:extLst>
              <a:ext uri="{FF2B5EF4-FFF2-40B4-BE49-F238E27FC236}">
                <a16:creationId xmlns:a16="http://schemas.microsoft.com/office/drawing/2014/main" id="{344BF72C-9B1E-357B-12DF-237D5B7F3523}"/>
              </a:ext>
            </a:extLst>
          </p:cNvPr>
          <p:cNvSpPr txBox="1"/>
          <p:nvPr/>
        </p:nvSpPr>
        <p:spPr>
          <a:xfrm>
            <a:off x="806245" y="2781300"/>
            <a:ext cx="7270955" cy="3785652"/>
          </a:xfrm>
          <a:prstGeom prst="rect">
            <a:avLst/>
          </a:prstGeom>
          <a:noFill/>
        </p:spPr>
        <p:txBody>
          <a:bodyPr wrap="square">
            <a:spAutoFit/>
          </a:bodyPr>
          <a:lstStyle/>
          <a:p>
            <a:r>
              <a:rPr lang="fr-FR" sz="2400" dirty="0"/>
              <a:t>Cette vue présente les résultats d'une question de type échelle de notation allant de 1 à 5 étoiles. Un graphique en barres affiche la distribution des réponses pour chaque valeur de l'échelle, permettant de visualiser facilement les tendances. À droite, une jauge circulaire indique la note dominante, accompagnée d'une moyenne calculée automatiquement par le système — ici 3,5 sur 5 — et d'un affichage en étoiles pour une lecture intuitive. Le nombre total de réponses prises en compte est également affiché.</a:t>
            </a:r>
            <a:endParaRPr lang="fr-MA" sz="2400" dirty="0"/>
          </a:p>
        </p:txBody>
      </p:sp>
      <p:sp>
        <p:nvSpPr>
          <p:cNvPr id="6" name="Freeform 6">
            <a:extLst>
              <a:ext uri="{FF2B5EF4-FFF2-40B4-BE49-F238E27FC236}">
                <a16:creationId xmlns:a16="http://schemas.microsoft.com/office/drawing/2014/main" id="{4E0F34DF-C503-0B5A-235D-D246CB759D91}"/>
              </a:ext>
            </a:extLst>
          </p:cNvPr>
          <p:cNvSpPr/>
          <p:nvPr/>
        </p:nvSpPr>
        <p:spPr>
          <a:xfrm>
            <a:off x="17145000" y="9210675"/>
            <a:ext cx="870158" cy="762063"/>
          </a:xfrm>
          <a:custGeom>
            <a:avLst/>
            <a:gdLst/>
            <a:ahLst/>
            <a:cxnLst/>
            <a:rect l="l" t="t" r="r" b="b"/>
            <a:pathLst>
              <a:path w="229177" h="200708">
                <a:moveTo>
                  <a:pt x="0" y="0"/>
                </a:moveTo>
                <a:lnTo>
                  <a:pt x="229177" y="0"/>
                </a:lnTo>
                <a:lnTo>
                  <a:pt x="229177" y="200708"/>
                </a:lnTo>
                <a:lnTo>
                  <a:pt x="0" y="200708"/>
                </a:lnTo>
                <a:close/>
              </a:path>
            </a:pathLst>
          </a:custGeom>
          <a:solidFill>
            <a:srgbClr val="269649"/>
          </a:solidFill>
        </p:spPr>
        <p:txBody>
          <a:bodyPr/>
          <a:lstStyle/>
          <a:p>
            <a:r>
              <a:rPr lang="en-US" sz="3200" b="1" dirty="0">
                <a:solidFill>
                  <a:srgbClr val="FAFAFA"/>
                </a:solidFill>
                <a:latin typeface="Codec Pro Bold"/>
                <a:sym typeface="Codec Pro Bold"/>
              </a:rPr>
              <a:t>10</a:t>
            </a:r>
            <a:endParaRPr lang="fr-MA" sz="3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CE6AA-830C-4130-F842-4AE5A4737DFA}"/>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733D9088-C9C3-DDA1-5A19-022E20A4D435}"/>
              </a:ext>
            </a:extLst>
          </p:cNvPr>
          <p:cNvSpPr txBox="1"/>
          <p:nvPr/>
        </p:nvSpPr>
        <p:spPr>
          <a:xfrm>
            <a:off x="1655788" y="9210675"/>
            <a:ext cx="291748" cy="335541"/>
          </a:xfrm>
          <a:prstGeom prst="rect">
            <a:avLst/>
          </a:prstGeom>
        </p:spPr>
        <p:txBody>
          <a:bodyPr wrap="none" lIns="0" tIns="0" rIns="0" bIns="0" rtlCol="0" anchor="t">
            <a:spAutoFit/>
          </a:bodyPr>
          <a:lstStyle/>
          <a:p>
            <a:pPr algn="ctr">
              <a:lnSpc>
                <a:spcPts val="2800"/>
              </a:lnSpc>
              <a:spcBef>
                <a:spcPct val="0"/>
              </a:spcBef>
            </a:pPr>
            <a:r>
              <a:rPr lang="en-US" sz="2000" dirty="0">
                <a:solidFill>
                  <a:srgbClr val="000000"/>
                </a:solidFill>
                <a:latin typeface="Open Sans"/>
                <a:ea typeface="Open Sans"/>
                <a:cs typeface="Open Sans"/>
                <a:sym typeface="Open Sans"/>
              </a:rPr>
              <a:t>12</a:t>
            </a:r>
          </a:p>
        </p:txBody>
      </p:sp>
      <p:pic>
        <p:nvPicPr>
          <p:cNvPr id="3" name="image16.png">
            <a:extLst>
              <a:ext uri="{FF2B5EF4-FFF2-40B4-BE49-F238E27FC236}">
                <a16:creationId xmlns:a16="http://schemas.microsoft.com/office/drawing/2014/main" id="{27168971-1497-1D0B-8C92-F1FD55FCE500}"/>
              </a:ext>
            </a:extLst>
          </p:cNvPr>
          <p:cNvPicPr/>
          <p:nvPr/>
        </p:nvPicPr>
        <p:blipFill>
          <a:blip r:embed="rId2"/>
          <a:srcRect/>
          <a:stretch>
            <a:fillRect/>
          </a:stretch>
        </p:blipFill>
        <p:spPr>
          <a:xfrm>
            <a:off x="8305800" y="2019300"/>
            <a:ext cx="9220200" cy="5461000"/>
          </a:xfrm>
          <a:prstGeom prst="rect">
            <a:avLst/>
          </a:prstGeom>
          <a:ln/>
        </p:spPr>
      </p:pic>
      <p:sp>
        <p:nvSpPr>
          <p:cNvPr id="5" name="ZoneTexte 4">
            <a:extLst>
              <a:ext uri="{FF2B5EF4-FFF2-40B4-BE49-F238E27FC236}">
                <a16:creationId xmlns:a16="http://schemas.microsoft.com/office/drawing/2014/main" id="{964832D1-D5ED-EB73-9D9B-75C8595A9448}"/>
              </a:ext>
            </a:extLst>
          </p:cNvPr>
          <p:cNvSpPr txBox="1"/>
          <p:nvPr/>
        </p:nvSpPr>
        <p:spPr>
          <a:xfrm>
            <a:off x="457200" y="2995474"/>
            <a:ext cx="7543800" cy="3785652"/>
          </a:xfrm>
          <a:prstGeom prst="rect">
            <a:avLst/>
          </a:prstGeom>
          <a:noFill/>
        </p:spPr>
        <p:txBody>
          <a:bodyPr wrap="square">
            <a:spAutoFit/>
          </a:bodyPr>
          <a:lstStyle/>
          <a:p>
            <a:r>
              <a:rPr lang="fr-FR" sz="2400" dirty="0"/>
              <a:t>Cette interface présente les résultats d'une question à choix unique proposant quatre options de réponse. L'utilisateur peut basculer entre deux modes de visualisation grâce aux boutons "Barres" et "Anneau" : le graphique en anneau offre une vue synthétique de la répartition des réponses avec un code couleur par option, tandis que le graphique en barres détaille pour chaque option le nombre exact de réponses et le pourcentage correspondant. Cette double visualisation facilite l'analyse et la présentation des résultats lors d'un compte rendu.</a:t>
            </a:r>
            <a:endParaRPr lang="fr-MA" sz="2400" dirty="0"/>
          </a:p>
        </p:txBody>
      </p:sp>
      <p:sp>
        <p:nvSpPr>
          <p:cNvPr id="6" name="Freeform 6">
            <a:extLst>
              <a:ext uri="{FF2B5EF4-FFF2-40B4-BE49-F238E27FC236}">
                <a16:creationId xmlns:a16="http://schemas.microsoft.com/office/drawing/2014/main" id="{B8C8A83A-B0D7-24A3-1A58-7585F37A7FED}"/>
              </a:ext>
            </a:extLst>
          </p:cNvPr>
          <p:cNvSpPr/>
          <p:nvPr/>
        </p:nvSpPr>
        <p:spPr>
          <a:xfrm>
            <a:off x="17090921" y="9165184"/>
            <a:ext cx="870158" cy="762063"/>
          </a:xfrm>
          <a:custGeom>
            <a:avLst/>
            <a:gdLst/>
            <a:ahLst/>
            <a:cxnLst/>
            <a:rect l="l" t="t" r="r" b="b"/>
            <a:pathLst>
              <a:path w="229177" h="200708">
                <a:moveTo>
                  <a:pt x="0" y="0"/>
                </a:moveTo>
                <a:lnTo>
                  <a:pt x="229177" y="0"/>
                </a:lnTo>
                <a:lnTo>
                  <a:pt x="229177" y="200708"/>
                </a:lnTo>
                <a:lnTo>
                  <a:pt x="0" y="200708"/>
                </a:lnTo>
                <a:close/>
              </a:path>
            </a:pathLst>
          </a:custGeom>
          <a:solidFill>
            <a:srgbClr val="269649"/>
          </a:solidFill>
        </p:spPr>
        <p:txBody>
          <a:bodyPr/>
          <a:lstStyle/>
          <a:p>
            <a:pPr algn="ctr"/>
            <a:r>
              <a:rPr lang="en-US" sz="3200" b="1" dirty="0">
                <a:solidFill>
                  <a:srgbClr val="FAFAFA"/>
                </a:solidFill>
                <a:latin typeface="Codec Pro Bold"/>
                <a:sym typeface="Codec Pro Bold"/>
              </a:rPr>
              <a:t>11</a:t>
            </a:r>
            <a:endParaRPr lang="fr-MA" dirty="0"/>
          </a:p>
        </p:txBody>
      </p:sp>
    </p:spTree>
    <p:extLst>
      <p:ext uri="{BB962C8B-B14F-4D97-AF65-F5344CB8AC3E}">
        <p14:creationId xmlns:p14="http://schemas.microsoft.com/office/powerpoint/2010/main" val="1207356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28700" y="2149017"/>
            <a:ext cx="16230569" cy="0"/>
          </a:xfrm>
          <a:prstGeom prst="line">
            <a:avLst/>
          </a:prstGeom>
          <a:ln w="28575" cap="flat">
            <a:solidFill>
              <a:srgbClr val="000000"/>
            </a:solidFill>
            <a:prstDash val="solid"/>
            <a:headEnd type="none" w="sm" len="sm"/>
            <a:tailEnd type="none" w="sm" len="sm"/>
          </a:ln>
        </p:spPr>
        <p:txBody>
          <a:bodyPr/>
          <a:lstStyle/>
          <a:p>
            <a:endParaRPr lang="fr-MA"/>
          </a:p>
        </p:txBody>
      </p:sp>
      <p:sp>
        <p:nvSpPr>
          <p:cNvPr id="3" name="Freeform 3"/>
          <p:cNvSpPr/>
          <p:nvPr/>
        </p:nvSpPr>
        <p:spPr>
          <a:xfrm>
            <a:off x="0" y="8877269"/>
            <a:ext cx="18288000" cy="1409731"/>
          </a:xfrm>
          <a:custGeom>
            <a:avLst/>
            <a:gdLst/>
            <a:ahLst/>
            <a:cxnLst/>
            <a:rect l="l" t="t" r="r" b="b"/>
            <a:pathLst>
              <a:path w="18288000" h="1409731">
                <a:moveTo>
                  <a:pt x="0" y="0"/>
                </a:moveTo>
                <a:lnTo>
                  <a:pt x="18288000" y="0"/>
                </a:lnTo>
                <a:lnTo>
                  <a:pt x="18288000" y="1409731"/>
                </a:lnTo>
                <a:lnTo>
                  <a:pt x="0" y="1409731"/>
                </a:lnTo>
                <a:lnTo>
                  <a:pt x="0" y="0"/>
                </a:lnTo>
                <a:close/>
              </a:path>
            </a:pathLst>
          </a:custGeom>
          <a:blipFill>
            <a:blip r:embed="rId2">
              <a:alphaModFix amt="31999"/>
            </a:blip>
            <a:stretch>
              <a:fillRect t="-629713"/>
            </a:stretch>
          </a:blipFill>
        </p:spPr>
        <p:txBody>
          <a:bodyPr/>
          <a:lstStyle/>
          <a:p>
            <a:endParaRPr lang="fr-MA"/>
          </a:p>
        </p:txBody>
      </p:sp>
      <p:grpSp>
        <p:nvGrpSpPr>
          <p:cNvPr id="4" name="Group 4"/>
          <p:cNvGrpSpPr/>
          <p:nvPr/>
        </p:nvGrpSpPr>
        <p:grpSpPr>
          <a:xfrm>
            <a:off x="16389111" y="8496237"/>
            <a:ext cx="870158" cy="762063"/>
            <a:chOff x="0" y="0"/>
            <a:chExt cx="1160210" cy="1016084"/>
          </a:xfrm>
        </p:grpSpPr>
        <p:grpSp>
          <p:nvGrpSpPr>
            <p:cNvPr id="5" name="Group 5"/>
            <p:cNvGrpSpPr/>
            <p:nvPr/>
          </p:nvGrpSpPr>
          <p:grpSpPr>
            <a:xfrm>
              <a:off x="0" y="0"/>
              <a:ext cx="1160210" cy="1016084"/>
              <a:chOff x="0" y="0"/>
              <a:chExt cx="229177" cy="200708"/>
            </a:xfrm>
          </p:grpSpPr>
          <p:sp>
            <p:nvSpPr>
              <p:cNvPr id="6" name="Freeform 6"/>
              <p:cNvSpPr/>
              <p:nvPr/>
            </p:nvSpPr>
            <p:spPr>
              <a:xfrm>
                <a:off x="0" y="0"/>
                <a:ext cx="229177" cy="200708"/>
              </a:xfrm>
              <a:custGeom>
                <a:avLst/>
                <a:gdLst/>
                <a:ahLst/>
                <a:cxnLst/>
                <a:rect l="l" t="t" r="r" b="b"/>
                <a:pathLst>
                  <a:path w="229177" h="200708">
                    <a:moveTo>
                      <a:pt x="0" y="0"/>
                    </a:moveTo>
                    <a:lnTo>
                      <a:pt x="229177" y="0"/>
                    </a:lnTo>
                    <a:lnTo>
                      <a:pt x="229177" y="200708"/>
                    </a:lnTo>
                    <a:lnTo>
                      <a:pt x="0" y="200708"/>
                    </a:lnTo>
                    <a:close/>
                  </a:path>
                </a:pathLst>
              </a:custGeom>
              <a:solidFill>
                <a:srgbClr val="269649"/>
              </a:solidFill>
            </p:spPr>
            <p:txBody>
              <a:bodyPr/>
              <a:lstStyle/>
              <a:p>
                <a:endParaRPr lang="fr-MA"/>
              </a:p>
            </p:txBody>
          </p:sp>
          <p:sp>
            <p:nvSpPr>
              <p:cNvPr id="7" name="TextBox 7"/>
              <p:cNvSpPr txBox="1"/>
              <p:nvPr/>
            </p:nvSpPr>
            <p:spPr>
              <a:xfrm>
                <a:off x="0" y="-66675"/>
                <a:ext cx="229177" cy="267383"/>
              </a:xfrm>
              <a:prstGeom prst="rect">
                <a:avLst/>
              </a:prstGeom>
            </p:spPr>
            <p:txBody>
              <a:bodyPr lIns="50800" tIns="50800" rIns="50800" bIns="50800" rtlCol="0" anchor="ctr"/>
              <a:lstStyle/>
              <a:p>
                <a:pPr algn="ctr">
                  <a:lnSpc>
                    <a:spcPts val="3500"/>
                  </a:lnSpc>
                </a:pPr>
                <a:endParaRPr/>
              </a:p>
            </p:txBody>
          </p:sp>
        </p:grpSp>
        <p:sp>
          <p:nvSpPr>
            <p:cNvPr id="8" name="TextBox 8"/>
            <p:cNvSpPr txBox="1"/>
            <p:nvPr/>
          </p:nvSpPr>
          <p:spPr>
            <a:xfrm>
              <a:off x="0" y="162399"/>
              <a:ext cx="1160210" cy="607089"/>
            </a:xfrm>
            <a:prstGeom prst="rect">
              <a:avLst/>
            </a:prstGeom>
          </p:spPr>
          <p:txBody>
            <a:bodyPr lIns="0" tIns="0" rIns="0" bIns="0" rtlCol="0" anchor="t">
              <a:spAutoFit/>
            </a:bodyPr>
            <a:lstStyle/>
            <a:p>
              <a:pPr lvl="0" algn="ctr">
                <a:lnSpc>
                  <a:spcPts val="3511"/>
                </a:lnSpc>
              </a:pPr>
              <a:r>
                <a:rPr lang="en-US" sz="3547" b="1" dirty="0">
                  <a:solidFill>
                    <a:srgbClr val="FAFAFA"/>
                  </a:solidFill>
                  <a:latin typeface="Codec Pro Bold"/>
                  <a:ea typeface="Codec Pro Bold"/>
                  <a:cs typeface="Codec Pro Bold"/>
                  <a:sym typeface="Codec Pro Bold"/>
                </a:rPr>
                <a:t>12</a:t>
              </a:r>
            </a:p>
          </p:txBody>
        </p:sp>
      </p:grpSp>
      <p:sp>
        <p:nvSpPr>
          <p:cNvPr id="9" name="TextBox 9"/>
          <p:cNvSpPr txBox="1"/>
          <p:nvPr/>
        </p:nvSpPr>
        <p:spPr>
          <a:xfrm>
            <a:off x="1028700" y="1060404"/>
            <a:ext cx="6663097" cy="966061"/>
          </a:xfrm>
          <a:prstGeom prst="rect">
            <a:avLst/>
          </a:prstGeom>
        </p:spPr>
        <p:txBody>
          <a:bodyPr lIns="0" tIns="0" rIns="0" bIns="0" rtlCol="0" anchor="t">
            <a:spAutoFit/>
          </a:bodyPr>
          <a:lstStyle/>
          <a:p>
            <a:pPr marL="0" lvl="0" indent="0" algn="l">
              <a:lnSpc>
                <a:spcPts val="6452"/>
              </a:lnSpc>
            </a:pPr>
            <a:r>
              <a:rPr lang="en-US" sz="6517" b="1">
                <a:solidFill>
                  <a:srgbClr val="303030"/>
                </a:solidFill>
                <a:latin typeface="Codec Pro Bold"/>
                <a:ea typeface="Codec Pro Bold"/>
                <a:cs typeface="Codec Pro Bold"/>
                <a:sym typeface="Codec Pro Bold"/>
              </a:rPr>
              <a:t>Resultats</a:t>
            </a:r>
          </a:p>
        </p:txBody>
      </p:sp>
      <p:sp>
        <p:nvSpPr>
          <p:cNvPr id="10" name="TextBox 10"/>
          <p:cNvSpPr txBox="1"/>
          <p:nvPr/>
        </p:nvSpPr>
        <p:spPr>
          <a:xfrm>
            <a:off x="1028699" y="2593459"/>
            <a:ext cx="16230569" cy="2477376"/>
          </a:xfrm>
          <a:prstGeom prst="rect">
            <a:avLst/>
          </a:prstGeom>
        </p:spPr>
        <p:txBody>
          <a:bodyPr lIns="0" tIns="0" rIns="0" bIns="0" rtlCol="0" anchor="t">
            <a:spAutoFit/>
          </a:bodyPr>
          <a:lstStyle/>
          <a:p>
            <a:pPr algn="just">
              <a:lnSpc>
                <a:spcPts val="3214"/>
              </a:lnSpc>
            </a:pPr>
            <a:r>
              <a:rPr lang="en-US" sz="3247" dirty="0">
                <a:solidFill>
                  <a:srgbClr val="303030"/>
                </a:solidFill>
                <a:latin typeface="+mj-lt"/>
                <a:ea typeface="Codec Pro"/>
                <a:cs typeface="Codec Pro"/>
                <a:sym typeface="Codec Pro"/>
              </a:rPr>
              <a:t>-Développement </a:t>
            </a:r>
            <a:r>
              <a:rPr lang="en-US" sz="3247" dirty="0" err="1">
                <a:solidFill>
                  <a:srgbClr val="303030"/>
                </a:solidFill>
                <a:latin typeface="+mj-lt"/>
                <a:ea typeface="Codec Pro"/>
                <a:cs typeface="Codec Pro"/>
                <a:sym typeface="Codec Pro"/>
              </a:rPr>
              <a:t>d’une</a:t>
            </a:r>
            <a:r>
              <a:rPr lang="en-US" sz="3247" dirty="0">
                <a:solidFill>
                  <a:srgbClr val="303030"/>
                </a:solidFill>
                <a:latin typeface="+mj-lt"/>
                <a:ea typeface="Codec Pro"/>
                <a:cs typeface="Codec Pro"/>
                <a:sym typeface="Codec Pro"/>
              </a:rPr>
              <a:t> application web </a:t>
            </a:r>
            <a:r>
              <a:rPr lang="en-US" sz="3247" dirty="0" err="1">
                <a:solidFill>
                  <a:srgbClr val="303030"/>
                </a:solidFill>
                <a:latin typeface="+mj-lt"/>
                <a:ea typeface="Codec Pro"/>
                <a:cs typeface="Codec Pro"/>
                <a:sym typeface="Codec Pro"/>
              </a:rPr>
              <a:t>fonctionnelle</a:t>
            </a:r>
            <a:r>
              <a:rPr lang="en-US" sz="3247" dirty="0">
                <a:solidFill>
                  <a:srgbClr val="303030"/>
                </a:solidFill>
                <a:latin typeface="+mj-lt"/>
                <a:ea typeface="Codec Pro"/>
                <a:cs typeface="Codec Pro"/>
                <a:sym typeface="Codec Pro"/>
              </a:rPr>
              <a:t> de gestion de sondage </a:t>
            </a:r>
            <a:r>
              <a:rPr lang="en-US" sz="3247" dirty="0" err="1">
                <a:solidFill>
                  <a:srgbClr val="303030"/>
                </a:solidFill>
                <a:latin typeface="+mj-lt"/>
                <a:ea typeface="Codec Pro"/>
                <a:cs typeface="Codec Pro"/>
                <a:sym typeface="Codec Pro"/>
              </a:rPr>
              <a:t>Création</a:t>
            </a:r>
            <a:r>
              <a:rPr lang="en-US" sz="3247" dirty="0">
                <a:solidFill>
                  <a:srgbClr val="303030"/>
                </a:solidFill>
                <a:latin typeface="+mj-lt"/>
                <a:ea typeface="Codec Pro"/>
                <a:cs typeface="Codec Pro"/>
                <a:sym typeface="Codec Pro"/>
              </a:rPr>
              <a:t> et gestion des sondages de manière simple et intuitive</a:t>
            </a:r>
          </a:p>
          <a:p>
            <a:pPr algn="just">
              <a:lnSpc>
                <a:spcPts val="3214"/>
              </a:lnSpc>
            </a:pPr>
            <a:r>
              <a:rPr lang="en-US" sz="3247" dirty="0">
                <a:solidFill>
                  <a:srgbClr val="303030"/>
                </a:solidFill>
                <a:latin typeface="+mj-lt"/>
                <a:ea typeface="Codec Pro"/>
                <a:cs typeface="Codec Pro"/>
                <a:sym typeface="Codec Pro"/>
              </a:rPr>
              <a:t>-</a:t>
            </a:r>
            <a:r>
              <a:rPr lang="en-US" sz="3247" dirty="0" err="1">
                <a:solidFill>
                  <a:srgbClr val="303030"/>
                </a:solidFill>
                <a:latin typeface="+mj-lt"/>
                <a:ea typeface="Codec Pro"/>
                <a:cs typeface="Codec Pro"/>
                <a:sym typeface="Codec Pro"/>
              </a:rPr>
              <a:t>Possibilité</a:t>
            </a:r>
            <a:r>
              <a:rPr lang="en-US" sz="3247" dirty="0">
                <a:solidFill>
                  <a:srgbClr val="303030"/>
                </a:solidFill>
                <a:latin typeface="+mj-lt"/>
                <a:ea typeface="Codec Pro"/>
                <a:cs typeface="Codec Pro"/>
                <a:sym typeface="Codec Pro"/>
              </a:rPr>
              <a:t> pour les </a:t>
            </a:r>
            <a:r>
              <a:rPr lang="en-US" sz="3247" dirty="0" err="1">
                <a:solidFill>
                  <a:srgbClr val="303030"/>
                </a:solidFill>
                <a:latin typeface="+mj-lt"/>
                <a:ea typeface="Codec Pro"/>
                <a:cs typeface="Codec Pro"/>
                <a:sym typeface="Codec Pro"/>
              </a:rPr>
              <a:t>utilisateurs</a:t>
            </a:r>
            <a:r>
              <a:rPr lang="en-US" sz="3247" dirty="0">
                <a:solidFill>
                  <a:srgbClr val="303030"/>
                </a:solidFill>
                <a:latin typeface="+mj-lt"/>
                <a:ea typeface="Codec Pro"/>
                <a:cs typeface="Codec Pro"/>
                <a:sym typeface="Codec Pro"/>
              </a:rPr>
              <a:t> de </a:t>
            </a:r>
            <a:r>
              <a:rPr lang="en-US" sz="3247" dirty="0" err="1">
                <a:solidFill>
                  <a:srgbClr val="303030"/>
                </a:solidFill>
                <a:latin typeface="+mj-lt"/>
                <a:ea typeface="Codec Pro"/>
                <a:cs typeface="Codec Pro"/>
                <a:sym typeface="Codec Pro"/>
              </a:rPr>
              <a:t>répondre</a:t>
            </a:r>
            <a:r>
              <a:rPr lang="en-US" sz="3247" dirty="0">
                <a:solidFill>
                  <a:srgbClr val="303030"/>
                </a:solidFill>
                <a:latin typeface="+mj-lt"/>
                <a:ea typeface="Codec Pro"/>
                <a:cs typeface="Codec Pro"/>
                <a:sym typeface="Codec Pro"/>
              </a:rPr>
              <a:t> aux questionnaires </a:t>
            </a:r>
            <a:r>
              <a:rPr lang="en-US" sz="3247" dirty="0" err="1">
                <a:solidFill>
                  <a:srgbClr val="303030"/>
                </a:solidFill>
                <a:latin typeface="+mj-lt"/>
                <a:ea typeface="Codec Pro"/>
                <a:cs typeface="Codec Pro"/>
                <a:sym typeface="Codec Pro"/>
              </a:rPr>
              <a:t>en</a:t>
            </a:r>
            <a:r>
              <a:rPr lang="en-US" sz="3247" dirty="0">
                <a:solidFill>
                  <a:srgbClr val="303030"/>
                </a:solidFill>
                <a:latin typeface="+mj-lt"/>
                <a:ea typeface="Codec Pro"/>
                <a:cs typeface="Codec Pro"/>
                <a:sym typeface="Codec Pro"/>
              </a:rPr>
              <a:t> </a:t>
            </a:r>
            <a:r>
              <a:rPr lang="en-US" sz="3247" dirty="0" err="1">
                <a:solidFill>
                  <a:srgbClr val="303030"/>
                </a:solidFill>
                <a:latin typeface="+mj-lt"/>
                <a:ea typeface="Codec Pro"/>
                <a:cs typeface="Codec Pro"/>
                <a:sym typeface="Codec Pro"/>
              </a:rPr>
              <a:t>ligne</a:t>
            </a:r>
            <a:endParaRPr lang="en-US" sz="3247" dirty="0">
              <a:solidFill>
                <a:srgbClr val="303030"/>
              </a:solidFill>
              <a:latin typeface="+mj-lt"/>
              <a:ea typeface="Codec Pro"/>
              <a:cs typeface="Codec Pro"/>
              <a:sym typeface="Codec Pro"/>
            </a:endParaRPr>
          </a:p>
          <a:p>
            <a:pPr algn="just">
              <a:lnSpc>
                <a:spcPts val="3214"/>
              </a:lnSpc>
            </a:pPr>
            <a:r>
              <a:rPr lang="en-US" sz="3247" dirty="0">
                <a:solidFill>
                  <a:srgbClr val="303030"/>
                </a:solidFill>
                <a:latin typeface="+mj-lt"/>
                <a:ea typeface="Codec Pro"/>
                <a:cs typeface="Codec Pro"/>
                <a:sym typeface="Codec Pro"/>
              </a:rPr>
              <a:t>-</a:t>
            </a:r>
            <a:r>
              <a:rPr lang="en-US" sz="3247" dirty="0" err="1">
                <a:solidFill>
                  <a:srgbClr val="303030"/>
                </a:solidFill>
                <a:latin typeface="+mj-lt"/>
                <a:ea typeface="Codec Pro"/>
                <a:cs typeface="Codec Pro"/>
                <a:sym typeface="Codec Pro"/>
              </a:rPr>
              <a:t>Affichage</a:t>
            </a:r>
            <a:r>
              <a:rPr lang="en-US" sz="3247" dirty="0">
                <a:solidFill>
                  <a:srgbClr val="303030"/>
                </a:solidFill>
                <a:latin typeface="+mj-lt"/>
                <a:ea typeface="Codec Pro"/>
                <a:cs typeface="Codec Pro"/>
                <a:sym typeface="Codec Pro"/>
              </a:rPr>
              <a:t> des </a:t>
            </a:r>
            <a:r>
              <a:rPr lang="en-US" sz="3247" dirty="0" err="1">
                <a:solidFill>
                  <a:srgbClr val="303030"/>
                </a:solidFill>
                <a:latin typeface="+mj-lt"/>
                <a:ea typeface="Codec Pro"/>
                <a:cs typeface="Codec Pro"/>
                <a:sym typeface="Codec Pro"/>
              </a:rPr>
              <a:t>résultats</a:t>
            </a:r>
            <a:r>
              <a:rPr lang="en-US" sz="3247" dirty="0">
                <a:solidFill>
                  <a:srgbClr val="303030"/>
                </a:solidFill>
                <a:latin typeface="+mj-lt"/>
                <a:ea typeface="Codec Pro"/>
                <a:cs typeface="Codec Pro"/>
                <a:sym typeface="Codec Pro"/>
              </a:rPr>
              <a:t> sous </a:t>
            </a:r>
            <a:r>
              <a:rPr lang="en-US" sz="3247" dirty="0" err="1">
                <a:solidFill>
                  <a:srgbClr val="303030"/>
                </a:solidFill>
                <a:latin typeface="+mj-lt"/>
                <a:ea typeface="Codec Pro"/>
                <a:cs typeface="Codec Pro"/>
                <a:sym typeface="Codec Pro"/>
              </a:rPr>
              <a:t>forme</a:t>
            </a:r>
            <a:r>
              <a:rPr lang="en-US" sz="3247" dirty="0">
                <a:solidFill>
                  <a:srgbClr val="303030"/>
                </a:solidFill>
                <a:latin typeface="+mj-lt"/>
                <a:ea typeface="Codec Pro"/>
                <a:cs typeface="Codec Pro"/>
                <a:sym typeface="Codec Pro"/>
              </a:rPr>
              <a:t> de </a:t>
            </a:r>
            <a:r>
              <a:rPr lang="en-US" sz="3247" dirty="0" err="1">
                <a:solidFill>
                  <a:srgbClr val="303030"/>
                </a:solidFill>
                <a:latin typeface="+mj-lt"/>
                <a:ea typeface="Codec Pro"/>
                <a:cs typeface="Codec Pro"/>
                <a:sym typeface="Codec Pro"/>
              </a:rPr>
              <a:t>statistiques</a:t>
            </a:r>
            <a:r>
              <a:rPr lang="en-US" sz="3247" dirty="0">
                <a:solidFill>
                  <a:srgbClr val="303030"/>
                </a:solidFill>
                <a:latin typeface="+mj-lt"/>
                <a:ea typeface="Codec Pro"/>
                <a:cs typeface="Codec Pro"/>
                <a:sym typeface="Codec Pro"/>
              </a:rPr>
              <a:t> </a:t>
            </a:r>
            <a:r>
              <a:rPr lang="en-US" sz="3247" dirty="0" err="1">
                <a:solidFill>
                  <a:srgbClr val="303030"/>
                </a:solidFill>
                <a:latin typeface="+mj-lt"/>
                <a:ea typeface="Codec Pro"/>
                <a:cs typeface="Codec Pro"/>
                <a:sym typeface="Codec Pro"/>
              </a:rPr>
              <a:t>claires</a:t>
            </a:r>
            <a:r>
              <a:rPr lang="en-US" sz="3247" dirty="0">
                <a:solidFill>
                  <a:srgbClr val="303030"/>
                </a:solidFill>
                <a:latin typeface="+mj-lt"/>
                <a:ea typeface="Codec Pro"/>
                <a:cs typeface="Codec Pro"/>
                <a:sym typeface="Codec Pro"/>
              </a:rPr>
              <a:t> et </a:t>
            </a:r>
            <a:r>
              <a:rPr lang="en-US" sz="3247" dirty="0" err="1">
                <a:solidFill>
                  <a:srgbClr val="303030"/>
                </a:solidFill>
                <a:latin typeface="+mj-lt"/>
                <a:ea typeface="Codec Pro"/>
                <a:cs typeface="Codec Pro"/>
                <a:sym typeface="Codec Pro"/>
              </a:rPr>
              <a:t>lisibles</a:t>
            </a:r>
            <a:endParaRPr lang="en-US" sz="3247" dirty="0">
              <a:solidFill>
                <a:srgbClr val="303030"/>
              </a:solidFill>
              <a:latin typeface="+mj-lt"/>
              <a:ea typeface="Codec Pro"/>
              <a:cs typeface="Codec Pro"/>
              <a:sym typeface="Codec Pro"/>
            </a:endParaRPr>
          </a:p>
          <a:p>
            <a:pPr algn="just">
              <a:lnSpc>
                <a:spcPts val="3214"/>
              </a:lnSpc>
            </a:pPr>
            <a:r>
              <a:rPr lang="en-US" sz="3247" dirty="0">
                <a:solidFill>
                  <a:srgbClr val="303030"/>
                </a:solidFill>
                <a:latin typeface="+mj-lt"/>
                <a:ea typeface="Codec Pro"/>
                <a:cs typeface="Codec Pro"/>
                <a:sym typeface="Codec Pro"/>
              </a:rPr>
              <a:t>-Interface </a:t>
            </a:r>
            <a:r>
              <a:rPr lang="en-US" sz="3247" dirty="0" err="1">
                <a:solidFill>
                  <a:srgbClr val="303030"/>
                </a:solidFill>
                <a:latin typeface="+mj-lt"/>
                <a:ea typeface="Codec Pro"/>
                <a:cs typeface="Codec Pro"/>
                <a:sym typeface="Codec Pro"/>
              </a:rPr>
              <a:t>utilisateur</a:t>
            </a:r>
            <a:r>
              <a:rPr lang="en-US" sz="3247" dirty="0">
                <a:solidFill>
                  <a:srgbClr val="303030"/>
                </a:solidFill>
                <a:latin typeface="+mj-lt"/>
                <a:ea typeface="Codec Pro"/>
                <a:cs typeface="Codec Pro"/>
                <a:sym typeface="Codec Pro"/>
              </a:rPr>
              <a:t> </a:t>
            </a:r>
            <a:r>
              <a:rPr lang="en-US" sz="3247" dirty="0" err="1">
                <a:solidFill>
                  <a:srgbClr val="303030"/>
                </a:solidFill>
                <a:latin typeface="+mj-lt"/>
                <a:ea typeface="Codec Pro"/>
                <a:cs typeface="Codec Pro"/>
                <a:sym typeface="Codec Pro"/>
              </a:rPr>
              <a:t>moderne</a:t>
            </a:r>
            <a:r>
              <a:rPr lang="en-US" sz="3247" dirty="0">
                <a:solidFill>
                  <a:srgbClr val="303030"/>
                </a:solidFill>
                <a:latin typeface="+mj-lt"/>
                <a:ea typeface="Codec Pro"/>
                <a:cs typeface="Codec Pro"/>
                <a:sym typeface="Codec Pro"/>
              </a:rPr>
              <a:t> et facile à </a:t>
            </a:r>
            <a:r>
              <a:rPr lang="en-US" sz="3247" dirty="0" err="1">
                <a:solidFill>
                  <a:srgbClr val="303030"/>
                </a:solidFill>
                <a:latin typeface="+mj-lt"/>
                <a:ea typeface="Codec Pro"/>
                <a:cs typeface="Codec Pro"/>
                <a:sym typeface="Codec Pro"/>
              </a:rPr>
              <a:t>utiliser</a:t>
            </a:r>
            <a:endParaRPr lang="en-US" sz="3247" dirty="0">
              <a:solidFill>
                <a:srgbClr val="303030"/>
              </a:solidFill>
              <a:latin typeface="+mj-lt"/>
              <a:ea typeface="Codec Pro"/>
              <a:cs typeface="Codec Pro"/>
              <a:sym typeface="Codec Pro"/>
            </a:endParaRPr>
          </a:p>
          <a:p>
            <a:pPr marL="0" lvl="0" indent="0" algn="just">
              <a:lnSpc>
                <a:spcPts val="3214"/>
              </a:lnSpc>
            </a:pPr>
            <a:r>
              <a:rPr lang="en-US" sz="3247" dirty="0">
                <a:solidFill>
                  <a:srgbClr val="303030"/>
                </a:solidFill>
                <a:latin typeface="+mj-lt"/>
                <a:ea typeface="Codec Pro"/>
                <a:cs typeface="Codec Pro"/>
                <a:sym typeface="Codec Pro"/>
              </a:rPr>
              <a:t>- Système stable </a:t>
            </a:r>
            <a:r>
              <a:rPr lang="en-US" sz="3247" dirty="0" err="1">
                <a:solidFill>
                  <a:srgbClr val="303030"/>
                </a:solidFill>
                <a:latin typeface="+mj-lt"/>
                <a:ea typeface="Codec Pro"/>
                <a:cs typeface="Codec Pro"/>
                <a:sym typeface="Codec Pro"/>
              </a:rPr>
              <a:t>répondant</a:t>
            </a:r>
            <a:r>
              <a:rPr lang="en-US" sz="3247" dirty="0">
                <a:solidFill>
                  <a:srgbClr val="303030"/>
                </a:solidFill>
                <a:latin typeface="+mj-lt"/>
                <a:ea typeface="Codec Pro"/>
                <a:cs typeface="Codec Pro"/>
                <a:sym typeface="Codec Pro"/>
              </a:rPr>
              <a:t> aux </a:t>
            </a:r>
            <a:r>
              <a:rPr lang="en-US" sz="3247" dirty="0" err="1">
                <a:solidFill>
                  <a:srgbClr val="303030"/>
                </a:solidFill>
                <a:latin typeface="+mj-lt"/>
                <a:ea typeface="Codec Pro"/>
                <a:cs typeface="Codec Pro"/>
                <a:sym typeface="Codec Pro"/>
              </a:rPr>
              <a:t>objectifs</a:t>
            </a:r>
            <a:r>
              <a:rPr lang="en-US" sz="3247" dirty="0">
                <a:solidFill>
                  <a:srgbClr val="303030"/>
                </a:solidFill>
                <a:latin typeface="+mj-lt"/>
                <a:ea typeface="Codec Pro"/>
                <a:cs typeface="Codec Pro"/>
                <a:sym typeface="Codec Pro"/>
              </a:rPr>
              <a:t> </a:t>
            </a:r>
            <a:r>
              <a:rPr lang="en-US" sz="3247" dirty="0" err="1">
                <a:solidFill>
                  <a:srgbClr val="303030"/>
                </a:solidFill>
                <a:latin typeface="+mj-lt"/>
                <a:ea typeface="Codec Pro"/>
                <a:cs typeface="Codec Pro"/>
                <a:sym typeface="Codec Pro"/>
              </a:rPr>
              <a:t>définis</a:t>
            </a:r>
            <a:r>
              <a:rPr lang="en-US" sz="3247" dirty="0">
                <a:solidFill>
                  <a:srgbClr val="303030"/>
                </a:solidFill>
                <a:latin typeface="+mj-lt"/>
                <a:ea typeface="Codec Pro"/>
                <a:cs typeface="Codec Pro"/>
                <a:sym typeface="Codec Pro"/>
              </a:rPr>
              <a:t> au début du </a:t>
            </a:r>
            <a:r>
              <a:rPr lang="en-US" sz="3247" dirty="0" err="1">
                <a:solidFill>
                  <a:srgbClr val="303030"/>
                </a:solidFill>
                <a:latin typeface="+mj-lt"/>
                <a:ea typeface="Codec Pro"/>
                <a:cs typeface="Codec Pro"/>
                <a:sym typeface="Codec Pro"/>
              </a:rPr>
              <a:t>projet</a:t>
            </a:r>
            <a:endParaRPr lang="en-US" sz="3247" dirty="0">
              <a:solidFill>
                <a:srgbClr val="303030"/>
              </a:solidFill>
              <a:latin typeface="+mj-lt"/>
              <a:ea typeface="Codec Pro"/>
              <a:cs typeface="Codec Pro"/>
              <a:sym typeface="Codec Pr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28700" y="2149017"/>
            <a:ext cx="16230569" cy="0"/>
          </a:xfrm>
          <a:prstGeom prst="line">
            <a:avLst/>
          </a:prstGeom>
          <a:ln w="28575" cap="flat">
            <a:solidFill>
              <a:srgbClr val="000000"/>
            </a:solidFill>
            <a:prstDash val="solid"/>
            <a:headEnd type="none" w="sm" len="sm"/>
            <a:tailEnd type="none" w="sm" len="sm"/>
          </a:ln>
        </p:spPr>
        <p:txBody>
          <a:bodyPr/>
          <a:lstStyle/>
          <a:p>
            <a:endParaRPr lang="fr-MA"/>
          </a:p>
        </p:txBody>
      </p:sp>
      <p:sp>
        <p:nvSpPr>
          <p:cNvPr id="3" name="Freeform 3"/>
          <p:cNvSpPr/>
          <p:nvPr/>
        </p:nvSpPr>
        <p:spPr>
          <a:xfrm>
            <a:off x="0" y="8877269"/>
            <a:ext cx="18288000" cy="1409731"/>
          </a:xfrm>
          <a:custGeom>
            <a:avLst/>
            <a:gdLst/>
            <a:ahLst/>
            <a:cxnLst/>
            <a:rect l="l" t="t" r="r" b="b"/>
            <a:pathLst>
              <a:path w="18288000" h="1409731">
                <a:moveTo>
                  <a:pt x="0" y="0"/>
                </a:moveTo>
                <a:lnTo>
                  <a:pt x="18288000" y="0"/>
                </a:lnTo>
                <a:lnTo>
                  <a:pt x="18288000" y="1409731"/>
                </a:lnTo>
                <a:lnTo>
                  <a:pt x="0" y="1409731"/>
                </a:lnTo>
                <a:lnTo>
                  <a:pt x="0" y="0"/>
                </a:lnTo>
                <a:close/>
              </a:path>
            </a:pathLst>
          </a:custGeom>
          <a:blipFill>
            <a:blip r:embed="rId2">
              <a:alphaModFix amt="31999"/>
            </a:blip>
            <a:stretch>
              <a:fillRect t="-629713"/>
            </a:stretch>
          </a:blipFill>
        </p:spPr>
        <p:txBody>
          <a:bodyPr/>
          <a:lstStyle/>
          <a:p>
            <a:endParaRPr lang="fr-MA"/>
          </a:p>
        </p:txBody>
      </p:sp>
      <p:grpSp>
        <p:nvGrpSpPr>
          <p:cNvPr id="4" name="Group 4"/>
          <p:cNvGrpSpPr/>
          <p:nvPr/>
        </p:nvGrpSpPr>
        <p:grpSpPr>
          <a:xfrm>
            <a:off x="16389111" y="8496237"/>
            <a:ext cx="870158" cy="762063"/>
            <a:chOff x="0" y="0"/>
            <a:chExt cx="1160210" cy="1016084"/>
          </a:xfrm>
        </p:grpSpPr>
        <p:grpSp>
          <p:nvGrpSpPr>
            <p:cNvPr id="5" name="Group 5"/>
            <p:cNvGrpSpPr/>
            <p:nvPr/>
          </p:nvGrpSpPr>
          <p:grpSpPr>
            <a:xfrm>
              <a:off x="0" y="0"/>
              <a:ext cx="1160210" cy="1016084"/>
              <a:chOff x="0" y="0"/>
              <a:chExt cx="229177" cy="200708"/>
            </a:xfrm>
          </p:grpSpPr>
          <p:sp>
            <p:nvSpPr>
              <p:cNvPr id="6" name="Freeform 6"/>
              <p:cNvSpPr/>
              <p:nvPr/>
            </p:nvSpPr>
            <p:spPr>
              <a:xfrm>
                <a:off x="0" y="0"/>
                <a:ext cx="229177" cy="200708"/>
              </a:xfrm>
              <a:custGeom>
                <a:avLst/>
                <a:gdLst/>
                <a:ahLst/>
                <a:cxnLst/>
                <a:rect l="l" t="t" r="r" b="b"/>
                <a:pathLst>
                  <a:path w="229177" h="200708">
                    <a:moveTo>
                      <a:pt x="0" y="0"/>
                    </a:moveTo>
                    <a:lnTo>
                      <a:pt x="229177" y="0"/>
                    </a:lnTo>
                    <a:lnTo>
                      <a:pt x="229177" y="200708"/>
                    </a:lnTo>
                    <a:lnTo>
                      <a:pt x="0" y="200708"/>
                    </a:lnTo>
                    <a:close/>
                  </a:path>
                </a:pathLst>
              </a:custGeom>
              <a:solidFill>
                <a:srgbClr val="269649"/>
              </a:solidFill>
            </p:spPr>
            <p:txBody>
              <a:bodyPr/>
              <a:lstStyle/>
              <a:p>
                <a:endParaRPr lang="fr-MA"/>
              </a:p>
            </p:txBody>
          </p:sp>
          <p:sp>
            <p:nvSpPr>
              <p:cNvPr id="7" name="TextBox 7"/>
              <p:cNvSpPr txBox="1"/>
              <p:nvPr/>
            </p:nvSpPr>
            <p:spPr>
              <a:xfrm>
                <a:off x="0" y="-66675"/>
                <a:ext cx="229177" cy="267383"/>
              </a:xfrm>
              <a:prstGeom prst="rect">
                <a:avLst/>
              </a:prstGeom>
            </p:spPr>
            <p:txBody>
              <a:bodyPr lIns="50800" tIns="50800" rIns="50800" bIns="50800" rtlCol="0" anchor="ctr"/>
              <a:lstStyle/>
              <a:p>
                <a:pPr algn="ctr">
                  <a:lnSpc>
                    <a:spcPts val="3500"/>
                  </a:lnSpc>
                </a:pPr>
                <a:endParaRPr/>
              </a:p>
            </p:txBody>
          </p:sp>
        </p:grpSp>
        <p:sp>
          <p:nvSpPr>
            <p:cNvPr id="8" name="TextBox 8"/>
            <p:cNvSpPr txBox="1"/>
            <p:nvPr/>
          </p:nvSpPr>
          <p:spPr>
            <a:xfrm>
              <a:off x="0" y="162399"/>
              <a:ext cx="1160210" cy="700811"/>
            </a:xfrm>
            <a:prstGeom prst="rect">
              <a:avLst/>
            </a:prstGeom>
          </p:spPr>
          <p:txBody>
            <a:bodyPr lIns="0" tIns="0" rIns="0" bIns="0" rtlCol="0" anchor="t">
              <a:spAutoFit/>
            </a:bodyPr>
            <a:lstStyle/>
            <a:p>
              <a:pPr marL="0" lvl="0" indent="0" algn="ctr">
                <a:lnSpc>
                  <a:spcPts val="3511"/>
                </a:lnSpc>
              </a:pPr>
              <a:r>
                <a:rPr lang="en-US" sz="3547" b="1">
                  <a:solidFill>
                    <a:srgbClr val="FAFAFA"/>
                  </a:solidFill>
                  <a:latin typeface="Codec Pro Bold"/>
                  <a:ea typeface="Codec Pro Bold"/>
                  <a:cs typeface="Codec Pro Bold"/>
                  <a:sym typeface="Codec Pro Bold"/>
                </a:rPr>
                <a:t>06</a:t>
              </a:r>
            </a:p>
          </p:txBody>
        </p:sp>
      </p:grpSp>
      <p:sp>
        <p:nvSpPr>
          <p:cNvPr id="9" name="TextBox 9"/>
          <p:cNvSpPr txBox="1"/>
          <p:nvPr/>
        </p:nvSpPr>
        <p:spPr>
          <a:xfrm>
            <a:off x="1028700" y="1060404"/>
            <a:ext cx="6663097" cy="966061"/>
          </a:xfrm>
          <a:prstGeom prst="rect">
            <a:avLst/>
          </a:prstGeom>
        </p:spPr>
        <p:txBody>
          <a:bodyPr lIns="0" tIns="0" rIns="0" bIns="0" rtlCol="0" anchor="t">
            <a:spAutoFit/>
          </a:bodyPr>
          <a:lstStyle/>
          <a:p>
            <a:pPr marL="0" lvl="0" indent="0" algn="l">
              <a:lnSpc>
                <a:spcPts val="6452"/>
              </a:lnSpc>
            </a:pPr>
            <a:r>
              <a:rPr lang="en-US" sz="6517" b="1">
                <a:solidFill>
                  <a:srgbClr val="303030"/>
                </a:solidFill>
                <a:latin typeface="Codec Pro Bold"/>
                <a:ea typeface="Codec Pro Bold"/>
                <a:cs typeface="Codec Pro Bold"/>
                <a:sym typeface="Codec Pro Bold"/>
              </a:rPr>
              <a:t>Conclusion</a:t>
            </a:r>
          </a:p>
        </p:txBody>
      </p:sp>
      <p:sp>
        <p:nvSpPr>
          <p:cNvPr id="10" name="TextBox 10"/>
          <p:cNvSpPr txBox="1"/>
          <p:nvPr/>
        </p:nvSpPr>
        <p:spPr>
          <a:xfrm>
            <a:off x="838200" y="2891966"/>
            <a:ext cx="16230569" cy="3700693"/>
          </a:xfrm>
          <a:prstGeom prst="rect">
            <a:avLst/>
          </a:prstGeom>
        </p:spPr>
        <p:txBody>
          <a:bodyPr lIns="0" tIns="0" rIns="0" bIns="0" rtlCol="0" anchor="t">
            <a:spAutoFit/>
          </a:bodyPr>
          <a:lstStyle/>
          <a:p>
            <a:pPr>
              <a:lnSpc>
                <a:spcPts val="3214"/>
              </a:lnSpc>
            </a:pPr>
            <a:r>
              <a:rPr lang="en-US" sz="3247" dirty="0">
                <a:solidFill>
                  <a:srgbClr val="303030"/>
                </a:solidFill>
                <a:latin typeface="+mj-lt"/>
                <a:ea typeface="Codec Pro"/>
                <a:cs typeface="Codec Pro"/>
                <a:sym typeface="Codec Pro"/>
              </a:rPr>
              <a:t>En conclusion, </a:t>
            </a:r>
            <a:r>
              <a:rPr lang="en-US" sz="3247" dirty="0" err="1">
                <a:solidFill>
                  <a:srgbClr val="303030"/>
                </a:solidFill>
                <a:latin typeface="+mj-lt"/>
                <a:ea typeface="Codec Pro"/>
                <a:cs typeface="Codec Pro"/>
                <a:sym typeface="Codec Pro"/>
              </a:rPr>
              <a:t>ce</a:t>
            </a:r>
            <a:r>
              <a:rPr lang="en-US" sz="3247" dirty="0">
                <a:solidFill>
                  <a:srgbClr val="303030"/>
                </a:solidFill>
                <a:latin typeface="+mj-lt"/>
                <a:ea typeface="Codec Pro"/>
                <a:cs typeface="Codec Pro"/>
                <a:sym typeface="Codec Pro"/>
              </a:rPr>
              <a:t> </a:t>
            </a:r>
            <a:r>
              <a:rPr lang="en-US" sz="3247" dirty="0" err="1">
                <a:solidFill>
                  <a:srgbClr val="303030"/>
                </a:solidFill>
                <a:latin typeface="+mj-lt"/>
                <a:ea typeface="Codec Pro"/>
                <a:cs typeface="Codec Pro"/>
                <a:sym typeface="Codec Pro"/>
              </a:rPr>
              <a:t>projet</a:t>
            </a:r>
            <a:r>
              <a:rPr lang="en-US" sz="3247" dirty="0">
                <a:solidFill>
                  <a:srgbClr val="303030"/>
                </a:solidFill>
                <a:latin typeface="+mj-lt"/>
                <a:ea typeface="Codec Pro"/>
                <a:cs typeface="Codec Pro"/>
                <a:sym typeface="Codec Pro"/>
              </a:rPr>
              <a:t> nous a </a:t>
            </a:r>
            <a:r>
              <a:rPr lang="en-US" sz="3247" dirty="0" err="1">
                <a:solidFill>
                  <a:srgbClr val="303030"/>
                </a:solidFill>
                <a:latin typeface="+mj-lt"/>
                <a:ea typeface="Codec Pro"/>
                <a:cs typeface="Codec Pro"/>
                <a:sym typeface="Codec Pro"/>
              </a:rPr>
              <a:t>permis</a:t>
            </a:r>
            <a:r>
              <a:rPr lang="en-US" sz="3247" dirty="0">
                <a:solidFill>
                  <a:srgbClr val="303030"/>
                </a:solidFill>
                <a:latin typeface="+mj-lt"/>
                <a:ea typeface="Codec Pro"/>
                <a:cs typeface="Codec Pro"/>
                <a:sym typeface="Codec Pro"/>
              </a:rPr>
              <a:t> de </a:t>
            </a:r>
            <a:r>
              <a:rPr lang="en-US" sz="3247" dirty="0" err="1">
                <a:solidFill>
                  <a:srgbClr val="303030"/>
                </a:solidFill>
                <a:latin typeface="+mj-lt"/>
                <a:ea typeface="Codec Pro"/>
                <a:cs typeface="Codec Pro"/>
                <a:sym typeface="Codec Pro"/>
              </a:rPr>
              <a:t>développer</a:t>
            </a:r>
            <a:r>
              <a:rPr lang="en-US" sz="3247" dirty="0">
                <a:solidFill>
                  <a:srgbClr val="303030"/>
                </a:solidFill>
                <a:latin typeface="+mj-lt"/>
                <a:ea typeface="Codec Pro"/>
                <a:cs typeface="Codec Pro"/>
                <a:sym typeface="Codec Pro"/>
              </a:rPr>
              <a:t> </a:t>
            </a:r>
            <a:r>
              <a:rPr lang="en-US" sz="3247" dirty="0" err="1">
                <a:solidFill>
                  <a:srgbClr val="303030"/>
                </a:solidFill>
                <a:latin typeface="+mj-lt"/>
                <a:ea typeface="Codec Pro"/>
                <a:cs typeface="Codec Pro"/>
                <a:sym typeface="Codec Pro"/>
              </a:rPr>
              <a:t>une</a:t>
            </a:r>
            <a:r>
              <a:rPr lang="en-US" sz="3247" dirty="0">
                <a:solidFill>
                  <a:srgbClr val="303030"/>
                </a:solidFill>
                <a:latin typeface="+mj-lt"/>
                <a:ea typeface="Codec Pro"/>
                <a:cs typeface="Codec Pro"/>
                <a:sym typeface="Codec Pro"/>
              </a:rPr>
              <a:t> application web de gestion de sondages </a:t>
            </a:r>
            <a:r>
              <a:rPr lang="en-US" sz="3247" dirty="0" err="1">
                <a:solidFill>
                  <a:srgbClr val="303030"/>
                </a:solidFill>
                <a:latin typeface="+mj-lt"/>
                <a:ea typeface="Codec Pro"/>
                <a:cs typeface="Codec Pro"/>
                <a:sym typeface="Codec Pro"/>
              </a:rPr>
              <a:t>performante</a:t>
            </a:r>
            <a:r>
              <a:rPr lang="en-US" sz="3247" dirty="0">
                <a:solidFill>
                  <a:srgbClr val="303030"/>
                </a:solidFill>
                <a:latin typeface="+mj-lt"/>
                <a:ea typeface="Codec Pro"/>
                <a:cs typeface="Codec Pro"/>
                <a:sym typeface="Codec Pro"/>
              </a:rPr>
              <a:t> et intuitive </a:t>
            </a:r>
            <a:r>
              <a:rPr lang="en-US" sz="3247" dirty="0" err="1">
                <a:solidFill>
                  <a:srgbClr val="303030"/>
                </a:solidFill>
                <a:latin typeface="+mj-lt"/>
                <a:ea typeface="Codec Pro"/>
                <a:cs typeface="Codec Pro"/>
                <a:sym typeface="Codec Pro"/>
              </a:rPr>
              <a:t>répondant</a:t>
            </a:r>
            <a:r>
              <a:rPr lang="en-US" sz="3247" dirty="0">
                <a:solidFill>
                  <a:srgbClr val="303030"/>
                </a:solidFill>
                <a:latin typeface="+mj-lt"/>
                <a:ea typeface="Codec Pro"/>
                <a:cs typeface="Codec Pro"/>
                <a:sym typeface="Codec Pro"/>
              </a:rPr>
              <a:t> aux </a:t>
            </a:r>
            <a:r>
              <a:rPr lang="en-US" sz="3247" dirty="0" err="1">
                <a:solidFill>
                  <a:srgbClr val="303030"/>
                </a:solidFill>
                <a:latin typeface="+mj-lt"/>
                <a:ea typeface="Codec Pro"/>
                <a:cs typeface="Codec Pro"/>
                <a:sym typeface="Codec Pro"/>
              </a:rPr>
              <a:t>besoins</a:t>
            </a:r>
            <a:r>
              <a:rPr lang="en-US" sz="3247" dirty="0">
                <a:solidFill>
                  <a:srgbClr val="303030"/>
                </a:solidFill>
                <a:latin typeface="+mj-lt"/>
                <a:ea typeface="Codec Pro"/>
                <a:cs typeface="Codec Pro"/>
                <a:sym typeface="Codec Pro"/>
              </a:rPr>
              <a:t> de </a:t>
            </a:r>
            <a:r>
              <a:rPr lang="en-US" sz="3247" dirty="0" err="1">
                <a:solidFill>
                  <a:srgbClr val="303030"/>
                </a:solidFill>
                <a:latin typeface="+mj-lt"/>
                <a:ea typeface="Codec Pro"/>
                <a:cs typeface="Codec Pro"/>
                <a:sym typeface="Codec Pro"/>
              </a:rPr>
              <a:t>collecte</a:t>
            </a:r>
            <a:r>
              <a:rPr lang="en-US" sz="3247" dirty="0">
                <a:solidFill>
                  <a:srgbClr val="303030"/>
                </a:solidFill>
                <a:latin typeface="+mj-lt"/>
                <a:ea typeface="Codec Pro"/>
                <a:cs typeface="Codec Pro"/>
                <a:sym typeface="Codec Pro"/>
              </a:rPr>
              <a:t> et </a:t>
            </a:r>
            <a:r>
              <a:rPr lang="en-US" sz="3247" dirty="0" err="1">
                <a:solidFill>
                  <a:srgbClr val="303030"/>
                </a:solidFill>
                <a:latin typeface="+mj-lt"/>
                <a:ea typeface="Codec Pro"/>
                <a:cs typeface="Codec Pro"/>
                <a:sym typeface="Codec Pro"/>
              </a:rPr>
              <a:t>d’analyse</a:t>
            </a:r>
            <a:r>
              <a:rPr lang="en-US" sz="3247" dirty="0">
                <a:solidFill>
                  <a:srgbClr val="303030"/>
                </a:solidFill>
                <a:latin typeface="+mj-lt"/>
                <a:ea typeface="Codec Pro"/>
                <a:cs typeface="Codec Pro"/>
                <a:sym typeface="Codec Pro"/>
              </a:rPr>
              <a:t> des données. Grâce à </a:t>
            </a:r>
            <a:r>
              <a:rPr lang="en-US" sz="3247" dirty="0" err="1">
                <a:solidFill>
                  <a:srgbClr val="303030"/>
                </a:solidFill>
                <a:latin typeface="+mj-lt"/>
                <a:ea typeface="Codec Pro"/>
                <a:cs typeface="Codec Pro"/>
                <a:sym typeface="Codec Pro"/>
              </a:rPr>
              <a:t>l’utilisation</a:t>
            </a:r>
            <a:r>
              <a:rPr lang="en-US" sz="3247" dirty="0">
                <a:solidFill>
                  <a:srgbClr val="303030"/>
                </a:solidFill>
                <a:latin typeface="+mj-lt"/>
                <a:ea typeface="Codec Pro"/>
                <a:cs typeface="Codec Pro"/>
                <a:sym typeface="Codec Pro"/>
              </a:rPr>
              <a:t> du framework Django, nous </a:t>
            </a:r>
            <a:r>
              <a:rPr lang="en-US" sz="3247" dirty="0" err="1">
                <a:solidFill>
                  <a:srgbClr val="303030"/>
                </a:solidFill>
                <a:latin typeface="+mj-lt"/>
                <a:ea typeface="Codec Pro"/>
                <a:cs typeface="Codec Pro"/>
                <a:sym typeface="Codec Pro"/>
              </a:rPr>
              <a:t>avons</a:t>
            </a:r>
            <a:r>
              <a:rPr lang="en-US" sz="3247" dirty="0">
                <a:solidFill>
                  <a:srgbClr val="303030"/>
                </a:solidFill>
                <a:latin typeface="+mj-lt"/>
                <a:ea typeface="Codec Pro"/>
                <a:cs typeface="Codec Pro"/>
                <a:sym typeface="Codec Pro"/>
              </a:rPr>
              <a:t> </a:t>
            </a:r>
            <a:r>
              <a:rPr lang="en-US" sz="3247" dirty="0" err="1">
                <a:solidFill>
                  <a:srgbClr val="303030"/>
                </a:solidFill>
                <a:latin typeface="+mj-lt"/>
                <a:ea typeface="Codec Pro"/>
                <a:cs typeface="Codec Pro"/>
                <a:sym typeface="Codec Pro"/>
              </a:rPr>
              <a:t>pu</a:t>
            </a:r>
            <a:r>
              <a:rPr lang="en-US" sz="3247" dirty="0">
                <a:solidFill>
                  <a:srgbClr val="303030"/>
                </a:solidFill>
                <a:latin typeface="+mj-lt"/>
                <a:ea typeface="Codec Pro"/>
                <a:cs typeface="Codec Pro"/>
                <a:sym typeface="Codec Pro"/>
              </a:rPr>
              <a:t> </a:t>
            </a:r>
            <a:r>
              <a:rPr lang="en-US" sz="3247" dirty="0" err="1">
                <a:solidFill>
                  <a:srgbClr val="303030"/>
                </a:solidFill>
                <a:latin typeface="+mj-lt"/>
                <a:ea typeface="Codec Pro"/>
                <a:cs typeface="Codec Pro"/>
                <a:sym typeface="Codec Pro"/>
              </a:rPr>
              <a:t>concevoir</a:t>
            </a:r>
            <a:r>
              <a:rPr lang="en-US" sz="3247" dirty="0">
                <a:solidFill>
                  <a:srgbClr val="303030"/>
                </a:solidFill>
                <a:latin typeface="+mj-lt"/>
                <a:ea typeface="Codec Pro"/>
                <a:cs typeface="Codec Pro"/>
                <a:sym typeface="Codec Pro"/>
              </a:rPr>
              <a:t> </a:t>
            </a:r>
            <a:r>
              <a:rPr lang="en-US" sz="3247" dirty="0" err="1">
                <a:solidFill>
                  <a:srgbClr val="303030"/>
                </a:solidFill>
                <a:latin typeface="+mj-lt"/>
                <a:ea typeface="Codec Pro"/>
                <a:cs typeface="Codec Pro"/>
                <a:sym typeface="Codec Pro"/>
              </a:rPr>
              <a:t>une</a:t>
            </a:r>
            <a:r>
              <a:rPr lang="en-US" sz="3247" dirty="0">
                <a:solidFill>
                  <a:srgbClr val="303030"/>
                </a:solidFill>
                <a:latin typeface="+mj-lt"/>
                <a:ea typeface="Codec Pro"/>
                <a:cs typeface="Codec Pro"/>
                <a:sym typeface="Codec Pro"/>
              </a:rPr>
              <a:t> </a:t>
            </a:r>
            <a:r>
              <a:rPr lang="en-US" sz="3247" dirty="0" err="1">
                <a:solidFill>
                  <a:srgbClr val="303030"/>
                </a:solidFill>
                <a:latin typeface="+mj-lt"/>
                <a:ea typeface="Codec Pro"/>
                <a:cs typeface="Codec Pro"/>
                <a:sym typeface="Codec Pro"/>
              </a:rPr>
              <a:t>plateforme</a:t>
            </a:r>
            <a:r>
              <a:rPr lang="en-US" sz="3247" dirty="0">
                <a:solidFill>
                  <a:srgbClr val="303030"/>
                </a:solidFill>
                <a:latin typeface="+mj-lt"/>
                <a:ea typeface="Codec Pro"/>
                <a:cs typeface="Codec Pro"/>
                <a:sym typeface="Codec Pro"/>
              </a:rPr>
              <a:t> </a:t>
            </a:r>
            <a:r>
              <a:rPr lang="en-US" sz="3247" dirty="0" err="1">
                <a:solidFill>
                  <a:srgbClr val="303030"/>
                </a:solidFill>
                <a:latin typeface="+mj-lt"/>
                <a:ea typeface="Codec Pro"/>
                <a:cs typeface="Codec Pro"/>
                <a:sym typeface="Codec Pro"/>
              </a:rPr>
              <a:t>sécurisée</a:t>
            </a:r>
            <a:r>
              <a:rPr lang="en-US" sz="3247" dirty="0">
                <a:solidFill>
                  <a:srgbClr val="303030"/>
                </a:solidFill>
                <a:latin typeface="+mj-lt"/>
                <a:ea typeface="Codec Pro"/>
                <a:cs typeface="Codec Pro"/>
                <a:sym typeface="Codec Pro"/>
              </a:rPr>
              <a:t> et </a:t>
            </a:r>
            <a:r>
              <a:rPr lang="en-US" sz="3247" dirty="0" err="1">
                <a:solidFill>
                  <a:srgbClr val="303030"/>
                </a:solidFill>
                <a:latin typeface="+mj-lt"/>
                <a:ea typeface="Codec Pro"/>
                <a:cs typeface="Codec Pro"/>
                <a:sym typeface="Codec Pro"/>
              </a:rPr>
              <a:t>dynamique</a:t>
            </a:r>
            <a:r>
              <a:rPr lang="en-US" sz="3247" dirty="0">
                <a:solidFill>
                  <a:srgbClr val="303030"/>
                </a:solidFill>
                <a:latin typeface="+mj-lt"/>
                <a:ea typeface="Codec Pro"/>
                <a:cs typeface="Codec Pro"/>
                <a:sym typeface="Codec Pro"/>
              </a:rPr>
              <a:t> </a:t>
            </a:r>
            <a:r>
              <a:rPr lang="en-US" sz="3247" dirty="0" err="1">
                <a:solidFill>
                  <a:srgbClr val="303030"/>
                </a:solidFill>
                <a:latin typeface="+mj-lt"/>
                <a:ea typeface="Codec Pro"/>
                <a:cs typeface="Codec Pro"/>
                <a:sym typeface="Codec Pro"/>
              </a:rPr>
              <a:t>offrant</a:t>
            </a:r>
            <a:r>
              <a:rPr lang="en-US" sz="3247" dirty="0">
                <a:solidFill>
                  <a:srgbClr val="303030"/>
                </a:solidFill>
                <a:latin typeface="+mj-lt"/>
                <a:ea typeface="Codec Pro"/>
                <a:cs typeface="Codec Pro"/>
                <a:sym typeface="Codec Pro"/>
              </a:rPr>
              <a:t> </a:t>
            </a:r>
            <a:r>
              <a:rPr lang="en-US" sz="3247" dirty="0" err="1">
                <a:solidFill>
                  <a:srgbClr val="303030"/>
                </a:solidFill>
                <a:latin typeface="+mj-lt"/>
                <a:ea typeface="Codec Pro"/>
                <a:cs typeface="Codec Pro"/>
                <a:sym typeface="Codec Pro"/>
              </a:rPr>
              <a:t>plusieurs</a:t>
            </a:r>
            <a:r>
              <a:rPr lang="en-US" sz="3247" dirty="0">
                <a:solidFill>
                  <a:srgbClr val="303030"/>
                </a:solidFill>
                <a:latin typeface="+mj-lt"/>
                <a:ea typeface="Codec Pro"/>
                <a:cs typeface="Codec Pro"/>
                <a:sym typeface="Codec Pro"/>
              </a:rPr>
              <a:t> </a:t>
            </a:r>
            <a:r>
              <a:rPr lang="en-US" sz="3247" dirty="0" err="1">
                <a:solidFill>
                  <a:srgbClr val="303030"/>
                </a:solidFill>
                <a:latin typeface="+mj-lt"/>
                <a:ea typeface="Codec Pro"/>
                <a:cs typeface="Codec Pro"/>
                <a:sym typeface="Codec Pro"/>
              </a:rPr>
              <a:t>fonctionnalités</a:t>
            </a:r>
            <a:r>
              <a:rPr lang="en-US" sz="3247" dirty="0">
                <a:solidFill>
                  <a:srgbClr val="303030"/>
                </a:solidFill>
                <a:latin typeface="+mj-lt"/>
                <a:ea typeface="Codec Pro"/>
                <a:cs typeface="Codec Pro"/>
                <a:sym typeface="Codec Pro"/>
              </a:rPr>
              <a:t> </a:t>
            </a:r>
            <a:r>
              <a:rPr lang="en-US" sz="3247" dirty="0" err="1">
                <a:solidFill>
                  <a:srgbClr val="303030"/>
                </a:solidFill>
                <a:latin typeface="+mj-lt"/>
                <a:ea typeface="Codec Pro"/>
                <a:cs typeface="Codec Pro"/>
                <a:sym typeface="Codec Pro"/>
              </a:rPr>
              <a:t>importantes</a:t>
            </a:r>
            <a:r>
              <a:rPr lang="en-US" sz="3247" dirty="0">
                <a:solidFill>
                  <a:srgbClr val="303030"/>
                </a:solidFill>
                <a:latin typeface="+mj-lt"/>
                <a:ea typeface="Codec Pro"/>
                <a:cs typeface="Codec Pro"/>
                <a:sym typeface="Codec Pro"/>
              </a:rPr>
              <a:t>.</a:t>
            </a:r>
          </a:p>
          <a:p>
            <a:pPr>
              <a:lnSpc>
                <a:spcPts val="3214"/>
              </a:lnSpc>
            </a:pPr>
            <a:endParaRPr lang="en-US" sz="3247" dirty="0">
              <a:solidFill>
                <a:srgbClr val="303030"/>
              </a:solidFill>
              <a:latin typeface="+mj-lt"/>
              <a:ea typeface="Codec Pro"/>
              <a:cs typeface="Codec Pro"/>
              <a:sym typeface="Codec Pro"/>
            </a:endParaRPr>
          </a:p>
          <a:p>
            <a:pPr marL="0" lvl="0" indent="0">
              <a:lnSpc>
                <a:spcPts val="3214"/>
              </a:lnSpc>
            </a:pPr>
            <a:r>
              <a:rPr lang="en-US" sz="3247" dirty="0">
                <a:solidFill>
                  <a:srgbClr val="303030"/>
                </a:solidFill>
                <a:latin typeface="+mj-lt"/>
                <a:ea typeface="Codec Pro"/>
                <a:cs typeface="Codec Pro"/>
                <a:sym typeface="Codec Pro"/>
              </a:rPr>
              <a:t>La </a:t>
            </a:r>
            <a:r>
              <a:rPr lang="en-US" sz="3247" dirty="0" err="1">
                <a:solidFill>
                  <a:srgbClr val="303030"/>
                </a:solidFill>
                <a:latin typeface="+mj-lt"/>
                <a:ea typeface="Codec Pro"/>
                <a:cs typeface="Codec Pro"/>
                <a:sym typeface="Codec Pro"/>
              </a:rPr>
              <a:t>réalisation</a:t>
            </a:r>
            <a:r>
              <a:rPr lang="en-US" sz="3247" dirty="0">
                <a:solidFill>
                  <a:srgbClr val="303030"/>
                </a:solidFill>
                <a:latin typeface="+mj-lt"/>
                <a:ea typeface="Codec Pro"/>
                <a:cs typeface="Codec Pro"/>
                <a:sym typeface="Codec Pro"/>
              </a:rPr>
              <a:t> de </a:t>
            </a:r>
            <a:r>
              <a:rPr lang="en-US" sz="3247" dirty="0" err="1">
                <a:solidFill>
                  <a:srgbClr val="303030"/>
                </a:solidFill>
                <a:latin typeface="+mj-lt"/>
                <a:ea typeface="Codec Pro"/>
                <a:cs typeface="Codec Pro"/>
                <a:sym typeface="Codec Pro"/>
              </a:rPr>
              <a:t>ce</a:t>
            </a:r>
            <a:r>
              <a:rPr lang="en-US" sz="3247" dirty="0">
                <a:solidFill>
                  <a:srgbClr val="303030"/>
                </a:solidFill>
                <a:latin typeface="+mj-lt"/>
                <a:ea typeface="Codec Pro"/>
                <a:cs typeface="Codec Pro"/>
                <a:sym typeface="Codec Pro"/>
              </a:rPr>
              <a:t> </a:t>
            </a:r>
            <a:r>
              <a:rPr lang="en-US" sz="3247" dirty="0" err="1">
                <a:solidFill>
                  <a:srgbClr val="303030"/>
                </a:solidFill>
                <a:latin typeface="+mj-lt"/>
                <a:ea typeface="Codec Pro"/>
                <a:cs typeface="Codec Pro"/>
                <a:sym typeface="Codec Pro"/>
              </a:rPr>
              <a:t>projet</a:t>
            </a:r>
            <a:r>
              <a:rPr lang="en-US" sz="3247" dirty="0">
                <a:solidFill>
                  <a:srgbClr val="303030"/>
                </a:solidFill>
                <a:latin typeface="+mj-lt"/>
                <a:ea typeface="Codec Pro"/>
                <a:cs typeface="Codec Pro"/>
                <a:sym typeface="Codec Pro"/>
              </a:rPr>
              <a:t> nous a </a:t>
            </a:r>
            <a:r>
              <a:rPr lang="en-US" sz="3247" dirty="0" err="1">
                <a:solidFill>
                  <a:srgbClr val="303030"/>
                </a:solidFill>
                <a:latin typeface="+mj-lt"/>
                <a:ea typeface="Codec Pro"/>
                <a:cs typeface="Codec Pro"/>
                <a:sym typeface="Codec Pro"/>
              </a:rPr>
              <a:t>également</a:t>
            </a:r>
            <a:r>
              <a:rPr lang="en-US" sz="3247" dirty="0">
                <a:solidFill>
                  <a:srgbClr val="303030"/>
                </a:solidFill>
                <a:latin typeface="+mj-lt"/>
                <a:ea typeface="Codec Pro"/>
                <a:cs typeface="Codec Pro"/>
                <a:sym typeface="Codec Pro"/>
              </a:rPr>
              <a:t> </a:t>
            </a:r>
            <a:r>
              <a:rPr lang="en-US" sz="3247" dirty="0" err="1">
                <a:solidFill>
                  <a:srgbClr val="303030"/>
                </a:solidFill>
                <a:latin typeface="+mj-lt"/>
                <a:ea typeface="Codec Pro"/>
                <a:cs typeface="Codec Pro"/>
                <a:sym typeface="Codec Pro"/>
              </a:rPr>
              <a:t>permis</a:t>
            </a:r>
            <a:r>
              <a:rPr lang="en-US" sz="3247" dirty="0">
                <a:solidFill>
                  <a:srgbClr val="303030"/>
                </a:solidFill>
                <a:latin typeface="+mj-lt"/>
                <a:ea typeface="Codec Pro"/>
                <a:cs typeface="Codec Pro"/>
                <a:sym typeface="Codec Pro"/>
              </a:rPr>
              <a:t> de </a:t>
            </a:r>
            <a:r>
              <a:rPr lang="en-US" sz="3247" dirty="0" err="1">
                <a:solidFill>
                  <a:srgbClr val="303030"/>
                </a:solidFill>
                <a:latin typeface="+mj-lt"/>
                <a:ea typeface="Codec Pro"/>
                <a:cs typeface="Codec Pro"/>
                <a:sym typeface="Codec Pro"/>
              </a:rPr>
              <a:t>renforcer</a:t>
            </a:r>
            <a:r>
              <a:rPr lang="en-US" sz="3247" dirty="0">
                <a:solidFill>
                  <a:srgbClr val="303030"/>
                </a:solidFill>
                <a:latin typeface="+mj-lt"/>
                <a:ea typeface="Codec Pro"/>
                <a:cs typeface="Codec Pro"/>
                <a:sym typeface="Codec Pro"/>
              </a:rPr>
              <a:t> </a:t>
            </a:r>
            <a:r>
              <a:rPr lang="en-US" sz="3247" dirty="0" err="1">
                <a:solidFill>
                  <a:srgbClr val="303030"/>
                </a:solidFill>
                <a:latin typeface="+mj-lt"/>
                <a:ea typeface="Codec Pro"/>
                <a:cs typeface="Codec Pro"/>
                <a:sym typeface="Codec Pro"/>
              </a:rPr>
              <a:t>nos</a:t>
            </a:r>
            <a:r>
              <a:rPr lang="en-US" sz="3247" dirty="0">
                <a:solidFill>
                  <a:srgbClr val="303030"/>
                </a:solidFill>
                <a:latin typeface="+mj-lt"/>
                <a:ea typeface="Codec Pro"/>
                <a:cs typeface="Codec Pro"/>
                <a:sym typeface="Codec Pro"/>
              </a:rPr>
              <a:t> </a:t>
            </a:r>
            <a:r>
              <a:rPr lang="en-US" sz="3247" dirty="0" err="1">
                <a:solidFill>
                  <a:srgbClr val="303030"/>
                </a:solidFill>
                <a:latin typeface="+mj-lt"/>
                <a:ea typeface="Codec Pro"/>
                <a:cs typeface="Codec Pro"/>
                <a:sym typeface="Codec Pro"/>
              </a:rPr>
              <a:t>compétences</a:t>
            </a:r>
            <a:r>
              <a:rPr lang="en-US" sz="3247" dirty="0">
                <a:solidFill>
                  <a:srgbClr val="303030"/>
                </a:solidFill>
                <a:latin typeface="+mj-lt"/>
                <a:ea typeface="Codec Pro"/>
                <a:cs typeface="Codec Pro"/>
                <a:sym typeface="Codec Pro"/>
              </a:rPr>
              <a:t> techniques </a:t>
            </a:r>
            <a:r>
              <a:rPr lang="en-US" sz="3247" dirty="0" err="1">
                <a:solidFill>
                  <a:srgbClr val="303030"/>
                </a:solidFill>
                <a:latin typeface="+mj-lt"/>
                <a:ea typeface="Codec Pro"/>
                <a:cs typeface="Codec Pro"/>
                <a:sym typeface="Codec Pro"/>
              </a:rPr>
              <a:t>en</a:t>
            </a:r>
            <a:r>
              <a:rPr lang="en-US" sz="3247" dirty="0">
                <a:solidFill>
                  <a:srgbClr val="303030"/>
                </a:solidFill>
                <a:latin typeface="+mj-lt"/>
                <a:ea typeface="Codec Pro"/>
                <a:cs typeface="Codec Pro"/>
                <a:sym typeface="Codec Pro"/>
              </a:rPr>
              <a:t> </a:t>
            </a:r>
            <a:r>
              <a:rPr lang="en-US" sz="3247" dirty="0" err="1">
                <a:solidFill>
                  <a:srgbClr val="303030"/>
                </a:solidFill>
                <a:latin typeface="+mj-lt"/>
                <a:ea typeface="Codec Pro"/>
                <a:cs typeface="Codec Pro"/>
                <a:sym typeface="Codec Pro"/>
              </a:rPr>
              <a:t>développement</a:t>
            </a:r>
            <a:r>
              <a:rPr lang="en-US" sz="3247" dirty="0">
                <a:solidFill>
                  <a:srgbClr val="303030"/>
                </a:solidFill>
                <a:latin typeface="+mj-lt"/>
                <a:ea typeface="Codec Pro"/>
                <a:cs typeface="Codec Pro"/>
                <a:sym typeface="Codec Pro"/>
              </a:rPr>
              <a:t> web, </a:t>
            </a:r>
            <a:r>
              <a:rPr lang="en-US" sz="3247" dirty="0" err="1">
                <a:solidFill>
                  <a:srgbClr val="303030"/>
                </a:solidFill>
                <a:latin typeface="+mj-lt"/>
                <a:ea typeface="Codec Pro"/>
                <a:cs typeface="Codec Pro"/>
                <a:sym typeface="Codec Pro"/>
              </a:rPr>
              <a:t>en</a:t>
            </a:r>
            <a:r>
              <a:rPr lang="en-US" sz="3247" dirty="0">
                <a:solidFill>
                  <a:srgbClr val="303030"/>
                </a:solidFill>
                <a:latin typeface="+mj-lt"/>
                <a:ea typeface="Codec Pro"/>
                <a:cs typeface="Codec Pro"/>
                <a:sym typeface="Codec Pro"/>
              </a:rPr>
              <a:t> gestion de bases de données et </a:t>
            </a:r>
            <a:r>
              <a:rPr lang="en-US" sz="3247" dirty="0" err="1">
                <a:solidFill>
                  <a:srgbClr val="303030"/>
                </a:solidFill>
                <a:latin typeface="+mj-lt"/>
                <a:ea typeface="Codec Pro"/>
                <a:cs typeface="Codec Pro"/>
                <a:sym typeface="Codec Pro"/>
              </a:rPr>
              <a:t>en</a:t>
            </a:r>
            <a:r>
              <a:rPr lang="en-US" sz="3247" dirty="0">
                <a:solidFill>
                  <a:srgbClr val="303030"/>
                </a:solidFill>
                <a:latin typeface="+mj-lt"/>
                <a:ea typeface="Codec Pro"/>
                <a:cs typeface="Codec Pro"/>
                <a:sym typeface="Codec Pro"/>
              </a:rPr>
              <a:t> conception </a:t>
            </a:r>
            <a:r>
              <a:rPr lang="en-US" sz="3247" dirty="0" err="1">
                <a:solidFill>
                  <a:srgbClr val="303030"/>
                </a:solidFill>
                <a:latin typeface="+mj-lt"/>
                <a:ea typeface="Codec Pro"/>
                <a:cs typeface="Codec Pro"/>
                <a:sym typeface="Codec Pro"/>
              </a:rPr>
              <a:t>d’applications</a:t>
            </a:r>
            <a:r>
              <a:rPr lang="en-US" sz="3247" dirty="0">
                <a:solidFill>
                  <a:srgbClr val="303030"/>
                </a:solidFill>
                <a:latin typeface="+mj-lt"/>
                <a:ea typeface="Codec Pro"/>
                <a:cs typeface="Codec Pro"/>
                <a:sym typeface="Codec Pro"/>
              </a:rPr>
              <a:t>. Cette </a:t>
            </a:r>
            <a:r>
              <a:rPr lang="en-US" sz="3247" dirty="0" err="1">
                <a:solidFill>
                  <a:srgbClr val="303030"/>
                </a:solidFill>
                <a:latin typeface="+mj-lt"/>
                <a:ea typeface="Codec Pro"/>
                <a:cs typeface="Codec Pro"/>
                <a:sym typeface="Codec Pro"/>
              </a:rPr>
              <a:t>expérience</a:t>
            </a:r>
            <a:r>
              <a:rPr lang="en-US" sz="3247" dirty="0">
                <a:solidFill>
                  <a:srgbClr val="303030"/>
                </a:solidFill>
                <a:latin typeface="+mj-lt"/>
                <a:ea typeface="Codec Pro"/>
                <a:cs typeface="Codec Pro"/>
                <a:sym typeface="Codec Pro"/>
              </a:rPr>
              <a:t> a </a:t>
            </a:r>
            <a:r>
              <a:rPr lang="en-US" sz="3247" dirty="0" err="1">
                <a:solidFill>
                  <a:srgbClr val="303030"/>
                </a:solidFill>
                <a:latin typeface="+mj-lt"/>
                <a:ea typeface="Codec Pro"/>
                <a:cs typeface="Codec Pro"/>
                <a:sym typeface="Codec Pro"/>
              </a:rPr>
              <a:t>été</a:t>
            </a:r>
            <a:r>
              <a:rPr lang="en-US" sz="3247" dirty="0">
                <a:solidFill>
                  <a:srgbClr val="303030"/>
                </a:solidFill>
                <a:latin typeface="+mj-lt"/>
                <a:ea typeface="Codec Pro"/>
                <a:cs typeface="Codec Pro"/>
                <a:sym typeface="Codec Pro"/>
              </a:rPr>
              <a:t> très </a:t>
            </a:r>
            <a:r>
              <a:rPr lang="en-US" sz="3247" dirty="0" err="1">
                <a:solidFill>
                  <a:srgbClr val="303030"/>
                </a:solidFill>
                <a:latin typeface="+mj-lt"/>
                <a:ea typeface="Codec Pro"/>
                <a:cs typeface="Codec Pro"/>
                <a:sym typeface="Codec Pro"/>
              </a:rPr>
              <a:t>enrichissante</a:t>
            </a:r>
            <a:r>
              <a:rPr lang="en-US" sz="3247" dirty="0">
                <a:solidFill>
                  <a:srgbClr val="303030"/>
                </a:solidFill>
                <a:latin typeface="+mj-lt"/>
                <a:ea typeface="Codec Pro"/>
                <a:cs typeface="Codec Pro"/>
                <a:sym typeface="Codec Pro"/>
              </a:rPr>
              <a:t> </a:t>
            </a:r>
            <a:r>
              <a:rPr lang="en-US" sz="3247" dirty="0" err="1">
                <a:solidFill>
                  <a:srgbClr val="303030"/>
                </a:solidFill>
                <a:latin typeface="+mj-lt"/>
                <a:ea typeface="Codec Pro"/>
                <a:cs typeface="Codec Pro"/>
                <a:sym typeface="Codec Pro"/>
              </a:rPr>
              <a:t>aussi</a:t>
            </a:r>
            <a:r>
              <a:rPr lang="en-US" sz="3247" dirty="0">
                <a:solidFill>
                  <a:srgbClr val="303030"/>
                </a:solidFill>
                <a:latin typeface="+mj-lt"/>
                <a:ea typeface="Codec Pro"/>
                <a:cs typeface="Codec Pro"/>
                <a:sym typeface="Codec Pro"/>
              </a:rPr>
              <a:t> bien sur le plan technique </a:t>
            </a:r>
            <a:r>
              <a:rPr lang="en-US" sz="3247" dirty="0" err="1">
                <a:solidFill>
                  <a:srgbClr val="303030"/>
                </a:solidFill>
                <a:latin typeface="+mj-lt"/>
                <a:ea typeface="Codec Pro"/>
                <a:cs typeface="Codec Pro"/>
                <a:sym typeface="Codec Pro"/>
              </a:rPr>
              <a:t>que</a:t>
            </a:r>
            <a:r>
              <a:rPr lang="en-US" sz="3247" dirty="0">
                <a:solidFill>
                  <a:srgbClr val="303030"/>
                </a:solidFill>
                <a:latin typeface="+mj-lt"/>
                <a:ea typeface="Codec Pro"/>
                <a:cs typeface="Codec Pro"/>
                <a:sym typeface="Codec Pro"/>
              </a:rPr>
              <a:t> sur le plan </a:t>
            </a:r>
            <a:r>
              <a:rPr lang="en-US" sz="3247" dirty="0" err="1">
                <a:solidFill>
                  <a:srgbClr val="303030"/>
                </a:solidFill>
                <a:latin typeface="+mj-lt"/>
                <a:ea typeface="Codec Pro"/>
                <a:cs typeface="Codec Pro"/>
                <a:sym typeface="Codec Pro"/>
              </a:rPr>
              <a:t>organisationnel</a:t>
            </a:r>
            <a:r>
              <a:rPr lang="en-US" sz="3247" dirty="0">
                <a:solidFill>
                  <a:srgbClr val="303030"/>
                </a:solidFill>
                <a:latin typeface="+mj-lt"/>
                <a:ea typeface="Codec Pro"/>
                <a:cs typeface="Codec Pro"/>
                <a:sym typeface="Codec Pro"/>
              </a:rPr>
              <a:t>.</a:t>
            </a:r>
          </a:p>
        </p:txBody>
      </p:sp>
      <p:sp>
        <p:nvSpPr>
          <p:cNvPr id="13" name="TextBox 13"/>
          <p:cNvSpPr txBox="1"/>
          <p:nvPr/>
        </p:nvSpPr>
        <p:spPr>
          <a:xfrm>
            <a:off x="1725462"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Open Sans"/>
                <a:ea typeface="Open Sans"/>
                <a:cs typeface="Open Sans"/>
                <a:sym typeface="Open Sans"/>
              </a:rPr>
              <a:t>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fr-MA"/>
          </a:p>
        </p:txBody>
      </p:sp>
      <p:sp>
        <p:nvSpPr>
          <p:cNvPr id="3" name="AutoShape 3"/>
          <p:cNvSpPr/>
          <p:nvPr/>
        </p:nvSpPr>
        <p:spPr>
          <a:xfrm>
            <a:off x="1028731" y="6337208"/>
            <a:ext cx="16230569" cy="0"/>
          </a:xfrm>
          <a:prstGeom prst="line">
            <a:avLst/>
          </a:prstGeom>
          <a:ln w="28575" cap="flat">
            <a:solidFill>
              <a:srgbClr val="000000"/>
            </a:solidFill>
            <a:prstDash val="solid"/>
            <a:headEnd type="none" w="sm" len="sm"/>
            <a:tailEnd type="none" w="sm" len="sm"/>
          </a:ln>
        </p:spPr>
        <p:txBody>
          <a:bodyPr/>
          <a:lstStyle/>
          <a:p>
            <a:endParaRPr lang="fr-MA"/>
          </a:p>
        </p:txBody>
      </p:sp>
      <p:grpSp>
        <p:nvGrpSpPr>
          <p:cNvPr id="4" name="Group 4"/>
          <p:cNvGrpSpPr/>
          <p:nvPr/>
        </p:nvGrpSpPr>
        <p:grpSpPr>
          <a:xfrm>
            <a:off x="1028731" y="2447559"/>
            <a:ext cx="3950858" cy="1015219"/>
            <a:chOff x="0" y="-337542"/>
            <a:chExt cx="5267811" cy="1353626"/>
          </a:xfrm>
        </p:grpSpPr>
        <p:sp>
          <p:nvSpPr>
            <p:cNvPr id="7" name="TextBox 7"/>
            <p:cNvSpPr txBox="1"/>
            <p:nvPr/>
          </p:nvSpPr>
          <p:spPr>
            <a:xfrm>
              <a:off x="0" y="-337542"/>
              <a:ext cx="5267811" cy="1353626"/>
            </a:xfrm>
            <a:prstGeom prst="rect">
              <a:avLst/>
            </a:prstGeom>
          </p:spPr>
          <p:txBody>
            <a:bodyPr lIns="50800" tIns="50800" rIns="50800" bIns="50800" rtlCol="0" anchor="ctr"/>
            <a:lstStyle/>
            <a:p>
              <a:pPr algn="ctr">
                <a:lnSpc>
                  <a:spcPts val="3500"/>
                </a:lnSpc>
              </a:pPr>
              <a:endParaRPr/>
            </a:p>
          </p:txBody>
        </p:sp>
        <p:sp>
          <p:nvSpPr>
            <p:cNvPr id="8" name="TextBox 8"/>
            <p:cNvSpPr txBox="1"/>
            <p:nvPr/>
          </p:nvSpPr>
          <p:spPr>
            <a:xfrm>
              <a:off x="0" y="162399"/>
              <a:ext cx="5267811" cy="607089"/>
            </a:xfrm>
            <a:prstGeom prst="rect">
              <a:avLst/>
            </a:prstGeom>
          </p:spPr>
          <p:txBody>
            <a:bodyPr lIns="0" tIns="0" rIns="0" bIns="0" rtlCol="0" anchor="t">
              <a:spAutoFit/>
            </a:bodyPr>
            <a:lstStyle/>
            <a:p>
              <a:pPr marL="0" lvl="0" indent="0" algn="ctr">
                <a:lnSpc>
                  <a:spcPts val="3511"/>
                </a:lnSpc>
              </a:pPr>
              <a:endParaRPr lang="en-US" sz="3547" b="1" dirty="0">
                <a:solidFill>
                  <a:srgbClr val="FAFAFA"/>
                </a:solidFill>
                <a:latin typeface="Codec Pro Bold"/>
                <a:ea typeface="Codec Pro Bold"/>
                <a:cs typeface="Codec Pro Bold"/>
                <a:sym typeface="Codec Pro Bold"/>
              </a:endParaRPr>
            </a:p>
          </p:txBody>
        </p:sp>
      </p:grpSp>
      <p:sp>
        <p:nvSpPr>
          <p:cNvPr id="9" name="TextBox 9"/>
          <p:cNvSpPr txBox="1"/>
          <p:nvPr/>
        </p:nvSpPr>
        <p:spPr>
          <a:xfrm>
            <a:off x="1028700" y="3767578"/>
            <a:ext cx="12240363" cy="2534388"/>
          </a:xfrm>
          <a:prstGeom prst="rect">
            <a:avLst/>
          </a:prstGeom>
        </p:spPr>
        <p:txBody>
          <a:bodyPr lIns="0" tIns="0" rIns="0" bIns="0" rtlCol="0" anchor="t">
            <a:spAutoFit/>
          </a:bodyPr>
          <a:lstStyle/>
          <a:p>
            <a:pPr algn="l">
              <a:lnSpc>
                <a:spcPts val="9237"/>
              </a:lnSpc>
            </a:pPr>
            <a:r>
              <a:rPr lang="en-US" sz="9331" b="1">
                <a:solidFill>
                  <a:srgbClr val="303030"/>
                </a:solidFill>
                <a:latin typeface="Codec Pro Bold"/>
                <a:ea typeface="Codec Pro Bold"/>
                <a:cs typeface="Codec Pro Bold"/>
                <a:sym typeface="Codec Pro Bold"/>
              </a:rPr>
              <a:t>Merci</a:t>
            </a:r>
          </a:p>
          <a:p>
            <a:pPr marL="0" lvl="0" indent="0" algn="l">
              <a:lnSpc>
                <a:spcPts val="9237"/>
              </a:lnSpc>
            </a:pPr>
            <a:r>
              <a:rPr lang="en-US" sz="9331" b="1">
                <a:solidFill>
                  <a:srgbClr val="303030"/>
                </a:solidFill>
                <a:latin typeface="Codec Pro Bold"/>
                <a:ea typeface="Codec Pro Bold"/>
                <a:cs typeface="Codec Pro Bold"/>
                <a:sym typeface="Codec Pro Bold"/>
              </a:rPr>
              <a:t>pour votre attention</a:t>
            </a:r>
          </a:p>
        </p:txBody>
      </p:sp>
      <p:sp>
        <p:nvSpPr>
          <p:cNvPr id="10" name="TextBox 10"/>
          <p:cNvSpPr txBox="1"/>
          <p:nvPr/>
        </p:nvSpPr>
        <p:spPr>
          <a:xfrm>
            <a:off x="7239870" y="6676676"/>
            <a:ext cx="5595460" cy="364523"/>
          </a:xfrm>
          <a:prstGeom prst="rect">
            <a:avLst/>
          </a:prstGeom>
        </p:spPr>
        <p:txBody>
          <a:bodyPr lIns="0" tIns="0" rIns="0" bIns="0" rtlCol="0" anchor="t">
            <a:spAutoFit/>
          </a:bodyPr>
          <a:lstStyle/>
          <a:p>
            <a:pPr algn="just">
              <a:lnSpc>
                <a:spcPts val="2818"/>
              </a:lnSpc>
            </a:pPr>
            <a:r>
              <a:rPr lang="en-US" sz="2847" spc="-56" dirty="0">
                <a:solidFill>
                  <a:srgbClr val="303030"/>
                </a:solidFill>
                <a:latin typeface="Codec Pro"/>
                <a:ea typeface="Codec Pro"/>
                <a:cs typeface="Codec Pro"/>
                <a:sym typeface="Codec Pro"/>
              </a:rPr>
              <a:t>Dr. ABOUABID HAMZA</a:t>
            </a:r>
          </a:p>
        </p:txBody>
      </p:sp>
      <p:sp>
        <p:nvSpPr>
          <p:cNvPr id="11" name="TextBox 11"/>
          <p:cNvSpPr txBox="1"/>
          <p:nvPr/>
        </p:nvSpPr>
        <p:spPr>
          <a:xfrm>
            <a:off x="1028700" y="6619526"/>
            <a:ext cx="5595460" cy="961377"/>
          </a:xfrm>
          <a:prstGeom prst="rect">
            <a:avLst/>
          </a:prstGeom>
        </p:spPr>
        <p:txBody>
          <a:bodyPr lIns="0" tIns="0" rIns="0" bIns="0" rtlCol="0" anchor="t">
            <a:spAutoFit/>
          </a:bodyPr>
          <a:lstStyle/>
          <a:p>
            <a:pPr marL="0" lvl="0" indent="0" algn="l">
              <a:lnSpc>
                <a:spcPts val="3511"/>
              </a:lnSpc>
            </a:pPr>
            <a:r>
              <a:rPr lang="en-US" sz="3547" b="1">
                <a:solidFill>
                  <a:srgbClr val="303030"/>
                </a:solidFill>
                <a:latin typeface="Codec Pro Bold"/>
                <a:ea typeface="Codec Pro Bold"/>
                <a:cs typeface="Codec Pro Bold"/>
                <a:sym typeface="Codec Pro Bold"/>
              </a:rPr>
              <a:t>Et un remerciement particulier 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TotalTime>
  <Words>1217</Words>
  <Application>Microsoft Office PowerPoint</Application>
  <PresentationFormat>Personnalisé</PresentationFormat>
  <Paragraphs>121</Paragraphs>
  <Slides>15</Slides>
  <Notes>0</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15</vt:i4>
      </vt:variant>
    </vt:vector>
  </HeadingPairs>
  <TitlesOfParts>
    <vt:vector size="25" baseType="lpstr">
      <vt:lpstr>Codec Pro Bold</vt:lpstr>
      <vt:lpstr>Open Sans</vt:lpstr>
      <vt:lpstr>Playfair Display</vt:lpstr>
      <vt:lpstr>Codec Pro</vt:lpstr>
      <vt:lpstr>Arial</vt:lpstr>
      <vt:lpstr>Bebas Neue Bold</vt:lpstr>
      <vt:lpstr>Inter Bold</vt:lpstr>
      <vt:lpstr>Inter</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soutenance de mémoire minimaliste vert</dc:title>
  <dc:creator>Ilhame Ed-dahouz</dc:creator>
  <cp:lastModifiedBy>Ilhame Ed-dahouz</cp:lastModifiedBy>
  <cp:revision>2</cp:revision>
  <dcterms:created xsi:type="dcterms:W3CDTF">2006-08-16T00:00:00Z</dcterms:created>
  <dcterms:modified xsi:type="dcterms:W3CDTF">2026-05-14T20:08:57Z</dcterms:modified>
  <dc:identifier>DAHJpwpKOfw</dc:identifier>
</cp:coreProperties>
</file>